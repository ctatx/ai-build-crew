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57f82a54bd4363" /><Relationship Type="http://schemas.openxmlformats.org/officeDocument/2006/relationships/extended-properties" Target="/docProps/app.xml" Id="R7dbc99fc080442cd" /><Relationship Type="http://schemas.openxmlformats.org/officeDocument/2006/relationships/officeDocument" Target="/ppt/presentation.xml" Id="R71d7cfd43fa141d1" /></Relationships>
</file>

<file path=ppt/presentation.xml><?xml version="1.0" encoding="utf-8"?>
<p:presentation xmlns:p="http://schemas.openxmlformats.org/presentationml/2006/main">
  <p:sldMasterIdLst>
    <p:sldMasterId xmlns:r="http://schemas.openxmlformats.org/officeDocument/2006/relationships" id="2147483648" r:id="R0dbf89d702e84697"/>
  </p:sldMasterIdLst>
  <p:notesMasterIdLst>
    <p:notesMasterId xmlns:r="http://schemas.openxmlformats.org/officeDocument/2006/relationships" r:id="R0ccfb24263334d26"/>
  </p:notesMasterIdLst>
  <p:sldIdLst>
    <p:sldId xmlns:r="http://schemas.openxmlformats.org/officeDocument/2006/relationships" id="256" r:id="R5d8d3ec7a986444a"/>
    <p:sldId xmlns:r="http://schemas.openxmlformats.org/officeDocument/2006/relationships" id="257" r:id="R6adb5c2113854b0b"/>
    <p:sldId xmlns:r="http://schemas.openxmlformats.org/officeDocument/2006/relationships" id="258" r:id="R4781dc3035e14b8d"/>
    <p:sldId xmlns:r="http://schemas.openxmlformats.org/officeDocument/2006/relationships" id="259" r:id="Rd7a34f714822490d"/>
    <p:sldId xmlns:r="http://schemas.openxmlformats.org/officeDocument/2006/relationships" id="260" r:id="Rb5027c57c1a04217"/>
    <p:sldId xmlns:r="http://schemas.openxmlformats.org/officeDocument/2006/relationships" id="261" r:id="Rb458509aa2d94d34"/>
    <p:sldId xmlns:r="http://schemas.openxmlformats.org/officeDocument/2006/relationships" id="262" r:id="Rb789cfdf956847e6"/>
    <p:sldId xmlns:r="http://schemas.openxmlformats.org/officeDocument/2006/relationships" id="263" r:id="Rb326b6b2d1c543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44a68f695d4d52" /><Relationship Type="http://schemas.openxmlformats.org/officeDocument/2006/relationships/slideMaster" Target="/ppt/slideMasters/slideMaster1.xml" Id="R0dbf89d702e84697" /><Relationship Type="http://schemas.openxmlformats.org/officeDocument/2006/relationships/notesMaster" Target="/ppt/notesMasters/notesMaster1.xml" Id="R0ccfb24263334d26" /><Relationship Type="http://schemas.openxmlformats.org/officeDocument/2006/relationships/presProps" Target="/ppt/presProps.xml" Id="R420434d0a8f6414f" /><Relationship Type="http://schemas.openxmlformats.org/officeDocument/2006/relationships/tableStyles" Target="/ppt/tableStyles.xml" Id="R35b0dc7312404365" /><Relationship Type="http://schemas.openxmlformats.org/officeDocument/2006/relationships/slide" Target="/ppt/slides/slide1.xml" Id="R5d8d3ec7a986444a" /><Relationship Type="http://schemas.openxmlformats.org/officeDocument/2006/relationships/slide" Target="/ppt/slides/slide2.xml" Id="R6adb5c2113854b0b" /><Relationship Type="http://schemas.openxmlformats.org/officeDocument/2006/relationships/slide" Target="/ppt/slides/slide3.xml" Id="R4781dc3035e14b8d" /><Relationship Type="http://schemas.openxmlformats.org/officeDocument/2006/relationships/slide" Target="/ppt/slides/slide4.xml" Id="Rd7a34f714822490d" /><Relationship Type="http://schemas.openxmlformats.org/officeDocument/2006/relationships/slide" Target="/ppt/slides/slide5.xml" Id="Rb5027c57c1a04217" /><Relationship Type="http://schemas.openxmlformats.org/officeDocument/2006/relationships/slide" Target="/ppt/slides/slide6.xml" Id="Rb458509aa2d94d34" /><Relationship Type="http://schemas.openxmlformats.org/officeDocument/2006/relationships/slide" Target="/ppt/slides/slide7.xml" Id="Rb789cfdf956847e6" /><Relationship Type="http://schemas.openxmlformats.org/officeDocument/2006/relationships/slide" Target="/ppt/slides/slide8.xml" Id="Rb326b6b2d1c543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aa6c9ef57143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adbcd1fde8467a" /><Relationship Type="http://schemas.openxmlformats.org/officeDocument/2006/relationships/notesMaster" Target="/ppt/notesMasters/notesMaster1.xml" Id="R52e04cc2d9db41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e0d0b9f07e40c3" /><Relationship Type="http://schemas.openxmlformats.org/officeDocument/2006/relationships/notesMaster" Target="/ppt/notesMasters/notesMaster1.xml" Id="R4fe88c5131c74e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ef95e49f7c405b" /><Relationship Type="http://schemas.openxmlformats.org/officeDocument/2006/relationships/notesMaster" Target="/ppt/notesMasters/notesMaster1.xml" Id="Rf8e33c494b1e45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bb484804ff4f10" /><Relationship Type="http://schemas.openxmlformats.org/officeDocument/2006/relationships/notesMaster" Target="/ppt/notesMasters/notesMaster1.xml" Id="R1d35c47b07df41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ee6433fe764866" /><Relationship Type="http://schemas.openxmlformats.org/officeDocument/2006/relationships/notesMaster" Target="/ppt/notesMasters/notesMaster1.xml" Id="Raa64cfd8866e49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371f7314e8491b" /><Relationship Type="http://schemas.openxmlformats.org/officeDocument/2006/relationships/notesMaster" Target="/ppt/notesMasters/notesMaster1.xml" Id="R4094614f07c843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c9af2824fb425d" /><Relationship Type="http://schemas.openxmlformats.org/officeDocument/2006/relationships/notesMaster" Target="/ppt/notesMasters/notesMaster1.xml" Id="Ra81f592e01a940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679c092324464b" /><Relationship Type="http://schemas.openxmlformats.org/officeDocument/2006/relationships/notesMaster" Target="/ppt/notesMasters/notesMaster1.xml" Id="Ra91cc9cd47094c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model choice sounds simple until someone has to defend it. AI Build Crew is built around two promises: pick the right model and know the cost. A builder starts with an idea in everyday language. The corrected product turns that idea into a low, likely, and high cost-per-completed-task range and a defensible starting point before engineering time or API budget is committed.</a:t>
            </a:r>
          </a:p>
          <a:p xmlns:a="http://schemas.openxmlformats.org/drawingml/2006/main">
            <a:r>
              <a:t/>
            </a:r>
          </a:p>
          <a:p xmlns:a="http://schemas.openxmlformats.org/drawingml/2006/main">
            <a:r>
              <a:t>[Sources]</a:t>
            </a:r>
          </a:p>
          <a:p xmlns:a="http://schemas.openxmlformats.org/drawingml/2006/main">
            <a:r>
              <a:t>- AI Build Crew Agentic AI PRD, cost-contract correction, August 9, 2026</a:t>
            </a:r>
          </a:p>
          <a:p xmlns:a="http://schemas.openxmlformats.org/drawingml/2006/main">
            <a:r>
              <a:t>- AI Build Crew Cost Estimation Rules v1.0.0</a:t>
            </a:r>
          </a:p>
          <a:p xmlns:a="http://schemas.openxmlformats.org/drawingml/2006/main">
            <a:r>
              <a:t>- Generated AI Build Crew brand master, OpenAI ImageGen, August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breaks before the math. Builders begin with a product question, but pricing is fragmented and generation behavior is variable. A single user-entered output number and one call per request can make a cheap model look cheaper than the completed workflow. AI Build Crew makes that uncertainty visible instead of hiding it in one monthly number.</a:t>
            </a:r>
          </a:p>
          <a:p xmlns:a="http://schemas.openxmlformats.org/drawingml/2006/main">
            <a:r>
              <a:t/>
            </a:r>
          </a:p>
          <a:p xmlns:a="http://schemas.openxmlformats.org/drawingml/2006/main">
            <a:r>
              <a:t>[Sources]</a:t>
            </a:r>
          </a:p>
          <a:p xmlns:a="http://schemas.openxmlformats.org/drawingml/2006/main">
            <a:r>
              <a:t>- AI Build Crew Agentic AI PRD, Discovery and Evaluation rows, August 9, 2026</a:t>
            </a:r>
          </a:p>
          <a:p xmlns:a="http://schemas.openxmlformats.org/drawingml/2006/main">
            <a:r>
              <a:t>- AI Build Crew Feedback and Control Register, August 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persona is not the problem statement. The persona is a product builder who owns a go or no-go decision without dedicated AI architecture or FinOps support. The JTBD is situational: when deciding whether and how to build an AI product, help confirm the workload, model starting point, and cost distribution, so the builder can prototype, budget, test, or stop before committing. That separates who we serve, what breaks, and what progress they hire the product to make.</a:t>
            </a:r>
          </a:p>
          <a:p xmlns:a="http://schemas.openxmlformats.org/drawingml/2006/main">
            <a:r>
              <a:t/>
            </a:r>
          </a:p>
          <a:p xmlns:a="http://schemas.openxmlformats.org/drawingml/2006/main">
            <a:r>
              <a:t>[Sources]</a:t>
            </a:r>
          </a:p>
          <a:p xmlns:a="http://schemas.openxmlformats.org/drawingml/2006/main">
            <a:r>
              <a:t>- AI Build Crew Agentic AI PRD, specific-user, problem, and JTBD rows, August 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experience starts with the idea, then asks the minimum questions required by the cost contract. Format is multi-select because a single task may require text plus images or other combinations. The builder never enters output tokens. If they do not know the number of AI steps, a deterministic Workflow Architect rule proposes primary and checker steps based on job, consequence, data boundary, and regulation; that suggestion remains visible and editable. The optional ceiling is a constraint only, never an assumed maximum cost.</a:t>
            </a:r>
          </a:p>
          <a:p xmlns:a="http://schemas.openxmlformats.org/drawingml/2006/main">
            <a:r>
              <a:t/>
            </a:r>
          </a:p>
          <a:p xmlns:a="http://schemas.openxmlformats.org/drawingml/2006/main">
            <a:r>
              <a:t>[Sources]</a:t>
            </a:r>
          </a:p>
          <a:p xmlns:a="http://schemas.openxmlformats.org/drawingml/2006/main">
            <a:r>
              <a:t>- AI Build Crew Agentic AI PRD, workflow, context, and output rows, August 9, 2026</a:t>
            </a:r>
          </a:p>
          <a:p xmlns:a="http://schemas.openxmlformats.org/drawingml/2006/main">
            <a:r>
              <a:t>- AI Build Crew application source, decision engine v1.4.0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product-analysis example uses one thousand completed tasks per day, twenty-four hundred input tokens, a detailed result, and the visible recommendation of two primary steps plus one checker. The user never enters output tokens. Terra's profile produces six hundred, twelve hundred, and twenty-two hundred fifty output tokens per primary call, with retry multipliers from one to one point five. The chart reports 3.71, 6.72, and 14.36 cents per completed task. Terra wins because Product Analysis plus Medium consequence requires tier two; Classification plus Low tests Luna, while Complex Reasoning or High consequence tests Sol. Volume changes cost, not the required quality tier.</a:t>
            </a:r>
          </a:p>
          <a:p xmlns:a="http://schemas.openxmlformats.org/drawingml/2006/main">
            <a:r>
              <a:t/>
            </a:r>
          </a:p>
          <a:p xmlns:a="http://schemas.openxmlformats.org/drawingml/2006/main">
            <a:r>
              <a:t>[Sources]</a:t>
            </a:r>
          </a:p>
          <a:p xmlns:a="http://schemas.openxmlformats.org/drawingml/2006/main">
            <a:r>
              <a:t>- https://developers.openai.com/api/docs/models/compare</a:t>
            </a:r>
          </a:p>
          <a:p xmlns:a="http://schemas.openxmlformats.org/drawingml/2006/main">
            <a:r>
              <a:t>- AI Build Crew model catalog, source date August 9, 2026</a:t>
            </a:r>
          </a:p>
          <a:p xmlns:a="http://schemas.openxmlformats.org/drawingml/2006/main">
            <a:r>
              <a:t>- AI Build Crew Cost Estimation Rules v1.0.0</a:t>
            </a:r>
          </a:p>
          <a:p xmlns:a="http://schemas.openxmlformats.org/drawingml/2006/main">
            <a:r>
              <a:t>- AI Build Crew decision engine v1.4.0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prototype is one governed Decision Orchestrator with deterministic specialist stages. It is agentic because it observes structured context, selects a path, produces a frozen action artifact, checks that artifact, and hands an accountable decision to a person. It is not several autonomous LLM agents. Intake confirms facts and formats. Estimation freezes the distribution. The Cost Evaluation Specialist independently recomputes the ledger without calling the estimator formula. Eligibility, audit, and governance cannot mutate or waive prior evidence. No model token is spent to run this path.</a:t>
            </a:r>
          </a:p>
          <a:p xmlns:a="http://schemas.openxmlformats.org/drawingml/2006/main">
            <a:r>
              <a:t/>
            </a:r>
          </a:p>
          <a:p xmlns:a="http://schemas.openxmlformats.org/drawingml/2006/main">
            <a:r>
              <a:t>[Sources]</a:t>
            </a:r>
          </a:p>
          <a:p xmlns:a="http://schemas.openxmlformats.org/drawingml/2006/main">
            <a:r>
              <a:t>- AI Build Crew TeamOS v1.0</a:t>
            </a:r>
          </a:p>
          <a:p xmlns:a="http://schemas.openxmlformats.org/drawingml/2006/main">
            <a:r>
              <a:t>- AI Build Crew Cost Evaluation Specialist, cost-contract-1.0.0</a:t>
            </a:r>
          </a:p>
          <a:p xmlns:a="http://schemas.openxmlformats.org/drawingml/2006/main">
            <a:r>
              <a:t>- AI Build Crew Governance and Evaluation, August 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Eighteen automated checks pass. They cover COST-001 through COST-006, model-owned output profiles, retry and checker inclusion, deliberate ledger corruption, governance failure propagation, multi-format requirements, unknown-step workflow recommendations, Luna/Terra/Sol tier changes, deterministic output, fail-closed safety, stable ranking, and rendered-page smoke. Build and lint pass. Zero generative calls can change the decision path. This proves the decision contract—not measured model quality or first-time-user comprehension.</a:t>
            </a:r>
          </a:p>
          <a:p xmlns:a="http://schemas.openxmlformats.org/drawingml/2006/main">
            <a:r>
              <a:t/>
            </a:r>
          </a:p>
          <a:p xmlns:a="http://schemas.openxmlformats.org/drawingml/2006/main">
            <a:r>
              <a:t>[Sources]</a:t>
            </a:r>
          </a:p>
          <a:p xmlns:a="http://schemas.openxmlformats.org/drawingml/2006/main">
            <a:r>
              <a:t>- AI Build Crew automated test suite, decision engine v1.4.0</a:t>
            </a:r>
          </a:p>
          <a:p xmlns:a="http://schemas.openxmlformats.org/drawingml/2006/main">
            <a:r>
              <a:t>- AI Build Crew Evaluation report, August 9, 2026</a:t>
            </a:r>
          </a:p>
          <a:p xmlns:a="http://schemas.openxmlformats.org/drawingml/2006/main">
            <a:r>
              <a:t>- AI Build Crew Cost Estimation Rules v1.0.0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Making the next claim real requires a controlled evidence pipeline. First rerun moderated first-user tests on the corrected flow. Freeze synthetic workloads and task-success rubrics by job family. Add protected OpenAI, Gemini, and Anthropic adapters with per-run budget and concurrency caps. Run at least thirty repeats per task-model cell and capture completed-task success, p10, p50, and p90 output, retries, checker calls, latency, provider usage, and actual charge. Use blinded scoring plus a human calibration sample. Promote a heuristic profile only when the minimum sample, confidence interval, evaluator agreement, price freshness, and governance gates pass. Preserve the old profile and evidence version. Final model decisions remain human-owned.</a:t>
            </a:r>
          </a:p>
          <a:p xmlns:a="http://schemas.openxmlformats.org/drawingml/2006/main">
            <a:r>
              <a:t/>
            </a:r>
          </a:p>
          <a:p xmlns:a="http://schemas.openxmlformats.org/drawingml/2006/main">
            <a:r>
              <a:t>[Sources]</a:t>
            </a:r>
          </a:p>
          <a:p xmlns:a="http://schemas.openxmlformats.org/drawingml/2006/main">
            <a:r>
              <a:t>- AI Build Crew Agentic AI PRD, evaluation, limitations, and rollout rows, August 9, 2026</a:t>
            </a:r>
          </a:p>
          <a:p xmlns:a="http://schemas.openxmlformats.org/drawingml/2006/main">
            <a:r>
              <a:t>- AI Build Crew Backlog, shared live evaluation</a:t>
            </a:r>
          </a:p>
          <a:p xmlns:a="http://schemas.openxmlformats.org/drawingml/2006/main">
            <a:r>
              <a:t>- Generated AI Build Crew brand master, OpenAI ImageGen, August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789cefa1ec47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3630a7c09a4780" /><Relationship Type="http://schemas.openxmlformats.org/officeDocument/2006/relationships/slideLayout" Target="/ppt/slideLayouts/slideLayout1.xml" Id="R332737bda61047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2737bda61047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06e8e87d82452d" /><Relationship Type="http://schemas.openxmlformats.org/officeDocument/2006/relationships/image" Target="/ppt/media/image.png" Id="Re83c4070864d4792" /><Relationship Type="http://schemas.openxmlformats.org/officeDocument/2006/relationships/notesSlide" Target="/ppt/notesSlides/notesSlide1.xml" Id="Re10c7c503f0c48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c315932aaf4986" /><Relationship Type="http://schemas.openxmlformats.org/officeDocument/2006/relationships/notesSlide" Target="/ppt/notesSlides/notesSlide2.xml" Id="R689a3081aac74b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da7fcb6c6b47be" /><Relationship Type="http://schemas.openxmlformats.org/officeDocument/2006/relationships/notesSlide" Target="/ppt/notesSlides/notesSlide3.xml" Id="R2b0be51df4844e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598deffcd7433e" /><Relationship Type="http://schemas.openxmlformats.org/officeDocument/2006/relationships/notesSlide" Target="/ppt/notesSlides/notesSlide4.xml" Id="Rf9bcbb0590004c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0543c03d2146a6" /><Relationship Type="http://schemas.openxmlformats.org/officeDocument/2006/relationships/chart" Target="/ppt/slides/charts/chart1.xml" Id="Rad4ac44828e04006" /><Relationship Type="http://schemas.openxmlformats.org/officeDocument/2006/relationships/notesSlide" Target="/ppt/notesSlides/notesSlide5.xml" Id="Rd53581b77ce448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13e52cf77e4017" /><Relationship Type="http://schemas.openxmlformats.org/officeDocument/2006/relationships/notesSlide" Target="/ppt/notesSlides/notesSlide6.xml" Id="R39f125e0fba248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be731632c641ec" /><Relationship Type="http://schemas.openxmlformats.org/officeDocument/2006/relationships/notesSlide" Target="/ppt/notesSlides/notesSlide7.xml" Id="Re1bd1d1c71c94c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2fbc0e6ab54b2b" /><Relationship Type="http://schemas.openxmlformats.org/officeDocument/2006/relationships/image" Target="/ppt/media/image2.png" Id="R88a9ffeee49c4f9d" /><Relationship Type="http://schemas.openxmlformats.org/officeDocument/2006/relationships/notesSlide" Target="/ppt/notesSlides/notesSlide8.xml" Id="R96ecede784314e11" /></Relationships>
</file>

<file path=ppt/slides/charts/chart1.xml><?xml version="1.0" encoding="utf-8"?>
<c:chartSpace xmlns:c="http://schemas.openxmlformats.org/drawingml/2006/chart">
  <c:lang val="en-US"/>
  <c:chart>
    <c:plotArea>
      <c:barChart>
        <c:barDir val="col"/>
        <c:varyColors val="0"/>
        <c:ser>
          <c:idx val="0"/>
          <c:order val="0"/>
          <c:tx>
            <c:v>Cents per completed task</c:v>
          </c:tx>
          <c:spPr>
            <a:solidFill xmlns:a="http://schemas.openxmlformats.org/drawingml/2006/main">
              <a:srgbClr val="8F7BFF"/>
            </a:solidFill>
          </c:spPr>
          <c:cat>
            <c:strLit>
              <c:ptCount val="3"/>
              <c:pt idx="0">
                <c:v>Low</c:v>
              </c:pt>
              <c:pt idx="1">
                <c:v>Likely</c:v>
              </c:pt>
              <c:pt idx="2">
                <c:v>High</c:v>
              </c:pt>
            </c:strLit>
          </c:cat>
          <c:val>
            <c:numLit>
              <c:formatCode>0.00</c:formatCode>
              <c:ptCount val="3"/>
              <c:pt idx="0">
                <c:v>3.714</c:v>
              </c:pt>
              <c:pt idx="1">
                <c:v>6.7206</c:v>
              </c:pt>
              <c:pt idx="2">
                <c:v>14.35725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majorGridlines>
          <c:spPr>
            <a:ln xmlns:a="http://schemas.openxmlformats.org/drawingml/2006/main" w="9525">
              <a:solidFill>
                <a:srgbClr val="CDD0C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83c4070864d479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2CC496-2ACE-4D54-9FC4-610FA3979382}"/>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F3EFE5">
              <a:alpha val="9098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963646-EFA4-4DE8-AB98-10A6092F9390}"/>
              </a:ext>
            </a:extLst>
          </p:cNvPr>
          <p:cNvSpPr>
            <a:spLocks xmlns:a="http://schemas.openxmlformats.org/drawingml/2006/main" noGrp="1"/>
          </p:cNvSpPr>
          <p:nvPr/>
        </p:nvSpPr>
        <p:spPr>
          <a:xfrm xmlns:a="http://schemas.openxmlformats.org/drawingml/2006/main">
            <a:off x="685800" y="5905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F7BFF"/>
                </a:solidFill>
              </a:defRPr>
            </a:pPr>
            <a:r>
              <a:rPr sz="975" b="1">
                <a:solidFill>
                  <a:srgbClr val="8F7BFF"/>
                </a:solidFill>
              </a:rPr>
              <a:t>PRODUCT REVIEW · VALIDATED PROTOTYPE</a:t>
            </a:r>
          </a:p>
        </p:txBody>
      </p:sp>
      <p:sp>
        <p:nvSpPr>
          <p:cNvPr id="4" name="">
            <a:extLst xmlns:a="http://schemas.openxmlformats.org/drawingml/2006/main">
              <a:ext uri="{FF2B5EF4-FFF2-40B4-BE49-F238E27FC236}">
                <a16:creationId xmlns:a16="http://schemas.microsoft.com/office/drawing/2014/main" id="{02EA604F-D592-4E75-964A-C3A66AD881CA}"/>
              </a:ext>
            </a:extLst>
          </p:cNvPr>
          <p:cNvSpPr>
            <a:spLocks xmlns:a="http://schemas.openxmlformats.org/drawingml/2006/main" noGrp="1"/>
          </p:cNvSpPr>
          <p:nvPr/>
        </p:nvSpPr>
        <p:spPr>
          <a:xfrm xmlns:a="http://schemas.openxmlformats.org/drawingml/2006/main">
            <a:off x="685800" y="1381125"/>
            <a:ext cx="4476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5400" b="1">
                <a:solidFill>
                  <a:srgbClr val="152015"/>
                </a:solidFill>
              </a:defRPr>
            </a:pPr>
            <a:r>
              <a:rPr sz="5400" b="1">
                <a:solidFill>
                  <a:srgbClr val="152015"/>
                </a:solidFill>
              </a:rPr>
              <a:t>AI Build</a:t>
            </a:r>
          </a:p>
          <a:p xmlns:a="http://schemas.openxmlformats.org/drawingml/2006/main">
            <a:pPr algn="l">
              <a:buNone/>
              <a:defRPr sz="5400" b="1">
                <a:solidFill>
                  <a:srgbClr val="152015"/>
                </a:solidFill>
              </a:defRPr>
            </a:pPr>
            <a:r>
              <a:rPr sz="5400" b="1">
                <a:solidFill>
                  <a:srgbClr val="152015"/>
                </a:solidFill>
              </a:rPr>
              <a:t>Crew</a:t>
            </a:r>
          </a:p>
        </p:txBody>
      </p:sp>
      <p:sp>
        <p:nvSpPr>
          <p:cNvPr id="5" name="">
            <a:extLst xmlns:a="http://schemas.openxmlformats.org/drawingml/2006/main">
              <a:ext uri="{FF2B5EF4-FFF2-40B4-BE49-F238E27FC236}">
                <a16:creationId xmlns:a16="http://schemas.microsoft.com/office/drawing/2014/main" id="{9624EAE0-1D67-420C-8578-987F1E99F251}"/>
              </a:ext>
            </a:extLst>
          </p:cNvPr>
          <p:cNvSpPr>
            <a:spLocks xmlns:a="http://schemas.openxmlformats.org/drawingml/2006/main" noGrp="1"/>
          </p:cNvSpPr>
          <p:nvPr/>
        </p:nvSpPr>
        <p:spPr>
          <a:xfrm xmlns:a="http://schemas.openxmlformats.org/drawingml/2006/main">
            <a:off x="685800" y="3305175"/>
            <a:ext cx="895350" cy="66675"/>
          </a:xfrm>
          <a:prstGeom xmlns:a="http://schemas.openxmlformats.org/drawingml/2006/main" prst="rect">
            <a:avLst/>
          </a:prstGeom>
          <a:solidFill xmlns:a="http://schemas.openxmlformats.org/drawingml/2006/main">
            <a:srgbClr val="D8FF5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0186DE-8C53-4B02-AEFC-8C7F7ACDF595}"/>
              </a:ext>
            </a:extLst>
          </p:cNvPr>
          <p:cNvSpPr>
            <a:spLocks xmlns:a="http://schemas.openxmlformats.org/drawingml/2006/main" noGrp="1"/>
          </p:cNvSpPr>
          <p:nvPr/>
        </p:nvSpPr>
        <p:spPr>
          <a:xfrm xmlns:a="http://schemas.openxmlformats.org/drawingml/2006/main">
            <a:off x="685800" y="3619500"/>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152015"/>
                </a:solidFill>
              </a:defRPr>
            </a:pPr>
            <a:r>
              <a:rPr sz="2100" b="0">
                <a:solidFill>
                  <a:srgbClr val="152015"/>
                </a:solidFill>
              </a:rPr>
              <a:t>Pick the right model.</a:t>
            </a:r>
          </a:p>
          <a:p xmlns:a="http://schemas.openxmlformats.org/drawingml/2006/main">
            <a:pPr algn="l">
              <a:buNone/>
              <a:defRPr sz="2100" b="0">
                <a:solidFill>
                  <a:srgbClr val="152015"/>
                </a:solidFill>
              </a:defRPr>
            </a:pPr>
            <a:r>
              <a:rPr sz="2100" b="0">
                <a:solidFill>
                  <a:srgbClr val="152015"/>
                </a:solidFill>
              </a:rPr>
              <a:t>Know the cost.</a:t>
            </a:r>
          </a:p>
          <a:p xmlns:a="http://schemas.openxmlformats.org/drawingml/2006/main">
            <a:pPr algn="l">
              <a:buNone/>
              <a:defRPr sz="2100" b="0">
                <a:solidFill>
                  <a:srgbClr val="152015"/>
                </a:solidFill>
              </a:defRPr>
            </a:pPr>
            <a:r>
              <a:rPr sz="2100" b="0">
                <a:solidFill>
                  <a:srgbClr val="152015"/>
                </a:solidFill>
              </a:rPr>
              <a:t>Start with an idea.</a:t>
            </a:r>
          </a:p>
        </p:txBody>
      </p:sp>
      <p:sp>
        <p:nvSpPr>
          <p:cNvPr id="7" name="">
            <a:extLst xmlns:a="http://schemas.openxmlformats.org/drawingml/2006/main">
              <a:ext uri="{FF2B5EF4-FFF2-40B4-BE49-F238E27FC236}">
                <a16:creationId xmlns:a16="http://schemas.microsoft.com/office/drawing/2014/main" id="{27A2C4C4-8054-486E-A4DA-B459736F2917}"/>
              </a:ext>
            </a:extLst>
          </p:cNvPr>
          <p:cNvSpPr>
            <a:spLocks xmlns:a="http://schemas.openxmlformats.org/drawingml/2006/main" noGrp="1"/>
          </p:cNvSpPr>
          <p:nvPr/>
        </p:nvSpPr>
        <p:spPr>
          <a:xfrm xmlns:a="http://schemas.openxmlformats.org/drawingml/2006/main">
            <a:off x="685800" y="5953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87068"/>
                </a:solidFill>
              </a:defRPr>
            </a:pPr>
            <a:r>
              <a:rPr sz="1050" b="1">
                <a:solidFill>
                  <a:srgbClr val="687068"/>
                </a:solidFill>
              </a:rPr>
              <a:t>Human-owned decisions · Reproducible math · Provider-neutral path</a:t>
            </a:r>
          </a:p>
        </p:txBody>
      </p:sp>
    </p:spTree>
    <p:extLst>
      <p:ext uri="{BB962C8B-B14F-4D97-AF65-F5344CB8AC3E}">
        <p14:creationId xmlns:p14="http://schemas.microsoft.com/office/powerpoint/2010/main" val="826955634"/>
      </p:ext>
    </p:extLst>
  </p:cSld>
</p:sld>
</file>

<file path=ppt/slides/slide2.xml><?xml version="1.0" encoding="utf-8"?>
<p:sld xmlns:p="http://schemas.openxmlformats.org/presentationml/2006/main">
  <p:cSld>
    <p:bg>
      <p:bgPr>
        <a:solidFill xmlns:a="http://schemas.openxmlformats.org/drawingml/2006/main">
          <a:srgbClr val="15201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34CB4F-60D9-4D2A-AD31-BD426BA2229D}"/>
              </a:ext>
            </a:extLst>
          </p:cNvPr>
          <p:cNvSpPr>
            <a:spLocks xmlns:a="http://schemas.openxmlformats.org/drawingml/2006/main" noGrp="1"/>
          </p:cNvSpPr>
          <p:nvPr/>
        </p:nvSpPr>
        <p:spPr>
          <a:xfrm xmlns:a="http://schemas.openxmlformats.org/drawingml/2006/main">
            <a:off x="685800" y="457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01</a:t>
            </a:r>
          </a:p>
        </p:txBody>
      </p:sp>
      <p:sp>
        <p:nvSpPr>
          <p:cNvPr id="2" name="">
            <a:extLst xmlns:a="http://schemas.openxmlformats.org/drawingml/2006/main">
              <a:ext uri="{FF2B5EF4-FFF2-40B4-BE49-F238E27FC236}">
                <a16:creationId xmlns:a16="http://schemas.microsoft.com/office/drawing/2014/main" id="{C08E2C08-1A14-4432-8B89-E86BBFECDD0B}"/>
              </a:ext>
            </a:extLst>
          </p:cNvPr>
          <p:cNvSpPr>
            <a:spLocks xmlns:a="http://schemas.openxmlformats.org/drawingml/2006/main" noGrp="1"/>
          </p:cNvSpPr>
          <p:nvPr/>
        </p:nvSpPr>
        <p:spPr>
          <a:xfrm xmlns:a="http://schemas.openxmlformats.org/drawingml/2006/main">
            <a:off x="12192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FFFFFF"/>
                </a:solidFill>
              </a:defRPr>
            </a:pPr>
            <a:r>
              <a:rPr sz="975" b="1">
                <a:solidFill>
                  <a:srgbClr val="FFFFFF"/>
                </a:solidFill>
              </a:rPr>
              <a:t>THE PROBLEM</a:t>
            </a:r>
          </a:p>
        </p:txBody>
      </p:sp>
      <p:sp>
        <p:nvSpPr>
          <p:cNvPr id="3" name="">
            <a:extLst xmlns:a="http://schemas.openxmlformats.org/drawingml/2006/main">
              <a:ext uri="{FF2B5EF4-FFF2-40B4-BE49-F238E27FC236}">
                <a16:creationId xmlns:a16="http://schemas.microsoft.com/office/drawing/2014/main" id="{CB0598B4-E74D-4ABE-B35F-EF073184D6CF}"/>
              </a:ext>
            </a:extLst>
          </p:cNvPr>
          <p:cNvSpPr>
            <a:spLocks xmlns:a="http://schemas.openxmlformats.org/drawingml/2006/main" noGrp="1"/>
          </p:cNvSpPr>
          <p:nvPr/>
        </p:nvSpPr>
        <p:spPr>
          <a:xfrm xmlns:a="http://schemas.openxmlformats.org/drawingml/2006/main">
            <a:off x="685800" y="781050"/>
            <a:ext cx="10820400" cy="19050"/>
          </a:xfrm>
          <a:prstGeom xmlns:a="http://schemas.openxmlformats.org/drawingml/2006/main" prst="rect">
            <a:avLst/>
          </a:prstGeom>
          <a:solidFill xmlns:a="http://schemas.openxmlformats.org/drawingml/2006/main">
            <a:srgbClr val="40504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ACCA7E-1B52-4F4E-89C6-94D13228C085}"/>
              </a:ext>
            </a:extLst>
          </p:cNvPr>
          <p:cNvSpPr>
            <a:spLocks xmlns:a="http://schemas.openxmlformats.org/drawingml/2006/main" noGrp="1"/>
          </p:cNvSpPr>
          <p:nvPr/>
        </p:nvSpPr>
        <p:spPr>
          <a:xfrm xmlns:a="http://schemas.openxmlformats.org/drawingml/2006/main">
            <a:off x="685800" y="114300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450" b="1">
                <a:solidFill>
                  <a:srgbClr val="FFFFFF"/>
                </a:solidFill>
              </a:defRPr>
            </a:pPr>
            <a:r>
              <a:rPr sz="3450" b="1">
                <a:solidFill>
                  <a:srgbClr val="FFFFFF"/>
                </a:solidFill>
              </a:rPr>
              <a:t>Model choice breaks</a:t>
            </a:r>
          </a:p>
          <a:p xmlns:a="http://schemas.openxmlformats.org/drawingml/2006/main">
            <a:pPr algn="l">
              <a:buNone/>
              <a:defRPr sz="3450" b="1">
                <a:solidFill>
                  <a:srgbClr val="FFFFFF"/>
                </a:solidFill>
              </a:defRPr>
            </a:pPr>
            <a:r>
              <a:rPr sz="3450" b="1">
                <a:solidFill>
                  <a:srgbClr val="FFFFFF"/>
                </a:solidFill>
              </a:rPr>
              <a:t>before the first calculation.</a:t>
            </a:r>
          </a:p>
        </p:txBody>
      </p:sp>
      <p:sp>
        <p:nvSpPr>
          <p:cNvPr id="5" name="">
            <a:extLst xmlns:a="http://schemas.openxmlformats.org/drawingml/2006/main">
              <a:ext uri="{FF2B5EF4-FFF2-40B4-BE49-F238E27FC236}">
                <a16:creationId xmlns:a16="http://schemas.microsoft.com/office/drawing/2014/main" id="{1824CE29-0195-4195-9685-A0AC9E066317}"/>
              </a:ext>
            </a:extLst>
          </p:cNvPr>
          <p:cNvSpPr>
            <a:spLocks xmlns:a="http://schemas.openxmlformats.org/drawingml/2006/main" noGrp="1"/>
          </p:cNvSpPr>
          <p:nvPr/>
        </p:nvSpPr>
        <p:spPr>
          <a:xfrm xmlns:a="http://schemas.openxmlformats.org/drawingml/2006/main">
            <a:off x="685800" y="30480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D8FF55"/>
                </a:solidFill>
              </a:defRPr>
            </a:pPr>
            <a:r>
              <a:rPr sz="2100" b="1">
                <a:solidFill>
                  <a:srgbClr val="D8FF55"/>
                </a:solidFill>
              </a:rPr>
              <a:t>IDEA</a:t>
            </a:r>
          </a:p>
        </p:txBody>
      </p:sp>
      <p:sp>
        <p:nvSpPr>
          <p:cNvPr id="6" name="">
            <a:extLst xmlns:a="http://schemas.openxmlformats.org/drawingml/2006/main">
              <a:ext uri="{FF2B5EF4-FFF2-40B4-BE49-F238E27FC236}">
                <a16:creationId xmlns:a16="http://schemas.microsoft.com/office/drawing/2014/main" id="{013C0A84-F6D3-4958-8C93-9B4E1923C2DE}"/>
              </a:ext>
            </a:extLst>
          </p:cNvPr>
          <p:cNvSpPr>
            <a:spLocks xmlns:a="http://schemas.openxmlformats.org/drawingml/2006/main" noGrp="1"/>
          </p:cNvSpPr>
          <p:nvPr/>
        </p:nvSpPr>
        <p:spPr>
          <a:xfrm xmlns:a="http://schemas.openxmlformats.org/drawingml/2006/main">
            <a:off x="685800" y="3543300"/>
            <a:ext cx="3048000" cy="19050"/>
          </a:xfrm>
          <a:prstGeom xmlns:a="http://schemas.openxmlformats.org/drawingml/2006/main" prst="rect">
            <a:avLst/>
          </a:prstGeom>
          <a:solidFill xmlns:a="http://schemas.openxmlformats.org/drawingml/2006/main">
            <a:srgbClr val="52605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7BB3A9-196C-432F-9899-DAADC3268B03}"/>
              </a:ext>
            </a:extLst>
          </p:cNvPr>
          <p:cNvSpPr>
            <a:spLocks xmlns:a="http://schemas.openxmlformats.org/drawingml/2006/main" noGrp="1"/>
          </p:cNvSpPr>
          <p:nvPr/>
        </p:nvSpPr>
        <p:spPr>
          <a:xfrm xmlns:a="http://schemas.openxmlformats.org/drawingml/2006/main">
            <a:off x="685800" y="3829050"/>
            <a:ext cx="3000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Builders begin with a product question—not a token forecast.</a:t>
            </a:r>
          </a:p>
        </p:txBody>
      </p:sp>
      <p:sp>
        <p:nvSpPr>
          <p:cNvPr id="8" name="">
            <a:extLst xmlns:a="http://schemas.openxmlformats.org/drawingml/2006/main">
              <a:ext uri="{FF2B5EF4-FFF2-40B4-BE49-F238E27FC236}">
                <a16:creationId xmlns:a16="http://schemas.microsoft.com/office/drawing/2014/main" id="{B13045EF-AC5E-4574-AB61-F96B772B96E3}"/>
              </a:ext>
            </a:extLst>
          </p:cNvPr>
          <p:cNvSpPr>
            <a:spLocks xmlns:a="http://schemas.openxmlformats.org/drawingml/2006/main" noGrp="1"/>
          </p:cNvSpPr>
          <p:nvPr/>
        </p:nvSpPr>
        <p:spPr>
          <a:xfrm xmlns:a="http://schemas.openxmlformats.org/drawingml/2006/main">
            <a:off x="4276725" y="30480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8F7BFF"/>
                </a:solidFill>
              </a:defRPr>
            </a:pPr>
            <a:r>
              <a:rPr sz="2100" b="1">
                <a:solidFill>
                  <a:srgbClr val="8F7BFF"/>
                </a:solidFill>
              </a:rPr>
              <a:t>PRICE</a:t>
            </a:r>
          </a:p>
        </p:txBody>
      </p:sp>
      <p:sp>
        <p:nvSpPr>
          <p:cNvPr id="9" name="">
            <a:extLst xmlns:a="http://schemas.openxmlformats.org/drawingml/2006/main">
              <a:ext uri="{FF2B5EF4-FFF2-40B4-BE49-F238E27FC236}">
                <a16:creationId xmlns:a16="http://schemas.microsoft.com/office/drawing/2014/main" id="{C4F35A5B-254B-4CC8-865E-019CC9367913}"/>
              </a:ext>
            </a:extLst>
          </p:cNvPr>
          <p:cNvSpPr>
            <a:spLocks xmlns:a="http://schemas.openxmlformats.org/drawingml/2006/main" noGrp="1"/>
          </p:cNvSpPr>
          <p:nvPr/>
        </p:nvSpPr>
        <p:spPr>
          <a:xfrm xmlns:a="http://schemas.openxmlformats.org/drawingml/2006/main">
            <a:off x="4276725" y="3543300"/>
            <a:ext cx="3048000" cy="19050"/>
          </a:xfrm>
          <a:prstGeom xmlns:a="http://schemas.openxmlformats.org/drawingml/2006/main" prst="rect">
            <a:avLst/>
          </a:prstGeom>
          <a:solidFill xmlns:a="http://schemas.openxmlformats.org/drawingml/2006/main">
            <a:srgbClr val="52605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6FB1C2-BD3E-43CC-8970-2C98B2C4D69E}"/>
              </a:ext>
            </a:extLst>
          </p:cNvPr>
          <p:cNvSpPr>
            <a:spLocks xmlns:a="http://schemas.openxmlformats.org/drawingml/2006/main" noGrp="1"/>
          </p:cNvSpPr>
          <p:nvPr/>
        </p:nvSpPr>
        <p:spPr>
          <a:xfrm xmlns:a="http://schemas.openxmlformats.org/drawingml/2006/main">
            <a:off x="4276725" y="3829050"/>
            <a:ext cx="3000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Provider prices, units, and fees are fragmented and change.</a:t>
            </a:r>
          </a:p>
        </p:txBody>
      </p:sp>
      <p:sp>
        <p:nvSpPr>
          <p:cNvPr id="11" name="">
            <a:extLst xmlns:a="http://schemas.openxmlformats.org/drawingml/2006/main">
              <a:ext uri="{FF2B5EF4-FFF2-40B4-BE49-F238E27FC236}">
                <a16:creationId xmlns:a16="http://schemas.microsoft.com/office/drawing/2014/main" id="{A1082695-D7E4-4FC4-AB79-F37923AC6C5A}"/>
              </a:ext>
            </a:extLst>
          </p:cNvPr>
          <p:cNvSpPr>
            <a:spLocks xmlns:a="http://schemas.openxmlformats.org/drawingml/2006/main" noGrp="1"/>
          </p:cNvSpPr>
          <p:nvPr/>
        </p:nvSpPr>
        <p:spPr>
          <a:xfrm xmlns:a="http://schemas.openxmlformats.org/drawingml/2006/main">
            <a:off x="7867650" y="304800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FF8159"/>
                </a:solidFill>
              </a:defRPr>
            </a:pPr>
            <a:r>
              <a:rPr sz="2100" b="1">
                <a:solidFill>
                  <a:srgbClr val="FF8159"/>
                </a:solidFill>
              </a:rPr>
              <a:t>RISK</a:t>
            </a:r>
          </a:p>
        </p:txBody>
      </p:sp>
      <p:sp>
        <p:nvSpPr>
          <p:cNvPr id="12" name="">
            <a:extLst xmlns:a="http://schemas.openxmlformats.org/drawingml/2006/main">
              <a:ext uri="{FF2B5EF4-FFF2-40B4-BE49-F238E27FC236}">
                <a16:creationId xmlns:a16="http://schemas.microsoft.com/office/drawing/2014/main" id="{24935BAB-6608-4EAD-9DF9-CF9537FA7FF6}"/>
              </a:ext>
            </a:extLst>
          </p:cNvPr>
          <p:cNvSpPr>
            <a:spLocks xmlns:a="http://schemas.openxmlformats.org/drawingml/2006/main" noGrp="1"/>
          </p:cNvSpPr>
          <p:nvPr/>
        </p:nvSpPr>
        <p:spPr>
          <a:xfrm xmlns:a="http://schemas.openxmlformats.org/drawingml/2006/main">
            <a:off x="7867650" y="3543300"/>
            <a:ext cx="3048000" cy="19050"/>
          </a:xfrm>
          <a:prstGeom xmlns:a="http://schemas.openxmlformats.org/drawingml/2006/main" prst="rect">
            <a:avLst/>
          </a:prstGeom>
          <a:solidFill xmlns:a="http://schemas.openxmlformats.org/drawingml/2006/main">
            <a:srgbClr val="5260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D7054D-6128-4308-A53F-3BCE14FB32F4}"/>
              </a:ext>
            </a:extLst>
          </p:cNvPr>
          <p:cNvSpPr>
            <a:spLocks xmlns:a="http://schemas.openxmlformats.org/drawingml/2006/main" noGrp="1"/>
          </p:cNvSpPr>
          <p:nvPr/>
        </p:nvSpPr>
        <p:spPr>
          <a:xfrm xmlns:a="http://schemas.openxmlformats.org/drawingml/2006/main">
            <a:off x="7867650" y="3829050"/>
            <a:ext cx="3000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FFFFFF"/>
                </a:solidFill>
              </a:defRPr>
            </a:pPr>
            <a:r>
              <a:rPr sz="1575" b="0">
                <a:solidFill>
                  <a:srgbClr val="FFFFFF"/>
                </a:solidFill>
              </a:rPr>
              <a:t>The cheapest model may be unsafe; the premium default may waste budget.</a:t>
            </a:r>
          </a:p>
        </p:txBody>
      </p:sp>
      <p:sp>
        <p:nvSpPr>
          <p:cNvPr id="14" name="">
            <a:extLst xmlns:a="http://schemas.openxmlformats.org/drawingml/2006/main">
              <a:ext uri="{FF2B5EF4-FFF2-40B4-BE49-F238E27FC236}">
                <a16:creationId xmlns:a16="http://schemas.microsoft.com/office/drawing/2014/main" id="{A9E57890-DEA8-4741-AE7F-F23527FF4C2C}"/>
              </a:ext>
            </a:extLst>
          </p:cNvPr>
          <p:cNvSpPr>
            <a:spLocks xmlns:a="http://schemas.openxmlformats.org/drawingml/2006/main" noGrp="1"/>
          </p:cNvSpPr>
          <p:nvPr/>
        </p:nvSpPr>
        <p:spPr>
          <a:xfrm xmlns:a="http://schemas.openxmlformats.org/drawingml/2006/main">
            <a:off x="685800" y="557212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D8FF55"/>
                </a:solidFill>
              </a:defRPr>
            </a:pPr>
            <a:r>
              <a:rPr sz="2250" b="1">
                <a:solidFill>
                  <a:srgbClr val="D8FF55"/>
                </a:solidFill>
              </a:rPr>
              <a:t>False precision is the real first cost.</a:t>
            </a:r>
          </a:p>
        </p:txBody>
      </p:sp>
      <p:sp>
        <p:nvSpPr>
          <p:cNvPr id="15" name="">
            <a:extLst xmlns:a="http://schemas.openxmlformats.org/drawingml/2006/main">
              <a:ext uri="{FF2B5EF4-FFF2-40B4-BE49-F238E27FC236}">
                <a16:creationId xmlns:a16="http://schemas.microsoft.com/office/drawing/2014/main" id="{01DFE82F-B914-47D3-BE54-D27FC7629283}"/>
              </a:ext>
            </a:extLst>
          </p:cNvPr>
          <p:cNvSpPr>
            <a:spLocks xmlns:a="http://schemas.openxmlformats.org/drawingml/2006/main" noGrp="1"/>
          </p:cNvSpPr>
          <p:nvPr/>
        </p:nvSpPr>
        <p:spPr>
          <a:xfrm xmlns:a="http://schemas.openxmlformats.org/drawingml/2006/main">
            <a:off x="6858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B7C0B7"/>
                </a:solidFill>
              </a:defRPr>
            </a:pPr>
            <a:r>
              <a:rPr sz="825" b="1">
                <a:solidFill>
                  <a:srgbClr val="B7C0B7"/>
                </a:solidFill>
              </a:rPr>
              <a:t>AI BUILD CREW · BADLABZ.COM</a:t>
            </a:r>
          </a:p>
        </p:txBody>
      </p:sp>
      <p:sp>
        <p:nvSpPr>
          <p:cNvPr id="16" name="">
            <a:extLst xmlns:a="http://schemas.openxmlformats.org/drawingml/2006/main">
              <a:ext uri="{FF2B5EF4-FFF2-40B4-BE49-F238E27FC236}">
                <a16:creationId xmlns:a16="http://schemas.microsoft.com/office/drawing/2014/main" id="{74E0951C-DAEC-4BBF-AE86-3E125F429382}"/>
              </a:ext>
            </a:extLst>
          </p:cNvPr>
          <p:cNvSpPr>
            <a:spLocks xmlns:a="http://schemas.openxmlformats.org/drawingml/2006/main" noGrp="1"/>
          </p:cNvSpPr>
          <p:nvPr/>
        </p:nvSpPr>
        <p:spPr>
          <a:xfrm xmlns:a="http://schemas.openxmlformats.org/drawingml/2006/main">
            <a:off x="10858500" y="6496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D8FF55"/>
                </a:solidFill>
              </a:defRPr>
            </a:pPr>
            <a:r>
              <a:rPr sz="825" b="1">
                <a:solidFill>
                  <a:srgbClr val="D8FF55"/>
                </a:solidFill>
              </a:rPr>
              <a:t>02</a:t>
            </a:r>
          </a:p>
        </p:txBody>
      </p:sp>
    </p:spTree>
    <p:extLst>
      <p:ext uri="{BB962C8B-B14F-4D97-AF65-F5344CB8AC3E}">
        <p14:creationId xmlns:p14="http://schemas.microsoft.com/office/powerpoint/2010/main" val="2034995705"/>
      </p:ext>
    </p:extLst>
  </p:cSld>
</p:sld>
</file>

<file path=ppt/slides/slide3.xml><?xml version="1.0" encoding="utf-8"?>
<p:sld xmlns:p="http://schemas.openxmlformats.org/presentationml/2006/main">
  <p:cSld>
    <p:bg>
      <p:bgPr>
        <a:solidFill xmlns:a="http://schemas.openxmlformats.org/drawingml/2006/main">
          <a:srgbClr val="F3EFE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FB0C0E-97AD-45C1-802B-CD871616144D}"/>
              </a:ext>
            </a:extLst>
          </p:cNvPr>
          <p:cNvSpPr>
            <a:spLocks xmlns:a="http://schemas.openxmlformats.org/drawingml/2006/main" noGrp="1"/>
          </p:cNvSpPr>
          <p:nvPr/>
        </p:nvSpPr>
        <p:spPr>
          <a:xfrm xmlns:a="http://schemas.openxmlformats.org/drawingml/2006/main">
            <a:off x="685800" y="457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F7BFF"/>
                </a:solidFill>
              </a:defRPr>
            </a:pPr>
            <a:r>
              <a:rPr sz="975" b="1">
                <a:solidFill>
                  <a:srgbClr val="8F7BFF"/>
                </a:solidFill>
              </a:rPr>
              <a:t>02</a:t>
            </a:r>
          </a:p>
        </p:txBody>
      </p:sp>
      <p:sp>
        <p:nvSpPr>
          <p:cNvPr id="2" name="">
            <a:extLst xmlns:a="http://schemas.openxmlformats.org/drawingml/2006/main">
              <a:ext uri="{FF2B5EF4-FFF2-40B4-BE49-F238E27FC236}">
                <a16:creationId xmlns:a16="http://schemas.microsoft.com/office/drawing/2014/main" id="{C8E24F56-CF1D-4412-AC24-C6F93A33F0C9}"/>
              </a:ext>
            </a:extLst>
          </p:cNvPr>
          <p:cNvSpPr>
            <a:spLocks xmlns:a="http://schemas.openxmlformats.org/drawingml/2006/main" noGrp="1"/>
          </p:cNvSpPr>
          <p:nvPr/>
        </p:nvSpPr>
        <p:spPr>
          <a:xfrm xmlns:a="http://schemas.openxmlformats.org/drawingml/2006/main">
            <a:off x="12192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52015"/>
                </a:solidFill>
              </a:defRPr>
            </a:pPr>
            <a:r>
              <a:rPr sz="975" b="1">
                <a:solidFill>
                  <a:srgbClr val="152015"/>
                </a:solidFill>
              </a:rPr>
              <a:t>PERSONA + JOB TO BE DONE</a:t>
            </a:r>
          </a:p>
        </p:txBody>
      </p:sp>
      <p:sp>
        <p:nvSpPr>
          <p:cNvPr id="3" name="">
            <a:extLst xmlns:a="http://schemas.openxmlformats.org/drawingml/2006/main">
              <a:ext uri="{FF2B5EF4-FFF2-40B4-BE49-F238E27FC236}">
                <a16:creationId xmlns:a16="http://schemas.microsoft.com/office/drawing/2014/main" id="{471E9BA6-8E56-48C2-A0DD-8E1C2540A158}"/>
              </a:ext>
            </a:extLst>
          </p:cNvPr>
          <p:cNvSpPr>
            <a:spLocks xmlns:a="http://schemas.openxmlformats.org/drawingml/2006/main" noGrp="1"/>
          </p:cNvSpPr>
          <p:nvPr/>
        </p:nvSpPr>
        <p:spPr>
          <a:xfrm xmlns:a="http://schemas.openxmlformats.org/drawingml/2006/main">
            <a:off x="685800" y="781050"/>
            <a:ext cx="10820400" cy="19050"/>
          </a:xfrm>
          <a:prstGeom xmlns:a="http://schemas.openxmlformats.org/drawingml/2006/main" prst="rect">
            <a:avLst/>
          </a:prstGeom>
          <a:solidFill xmlns:a="http://schemas.openxmlformats.org/drawingml/2006/main">
            <a:srgbClr val="CDD0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4880AD-35CE-41EE-8ACC-B2089BAECF72}"/>
              </a:ext>
            </a:extLst>
          </p:cNvPr>
          <p:cNvSpPr>
            <a:spLocks xmlns:a="http://schemas.openxmlformats.org/drawingml/2006/main" noGrp="1"/>
          </p:cNvSpPr>
          <p:nvPr/>
        </p:nvSpPr>
        <p:spPr>
          <a:xfrm xmlns:a="http://schemas.openxmlformats.org/drawingml/2006/main">
            <a:off x="685800" y="1162050"/>
            <a:ext cx="619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450" b="1">
                <a:solidFill>
                  <a:srgbClr val="152015"/>
                </a:solidFill>
              </a:defRPr>
            </a:pPr>
            <a:r>
              <a:rPr sz="3450" b="1">
                <a:solidFill>
                  <a:srgbClr val="152015"/>
                </a:solidFill>
              </a:rPr>
              <a:t>A product builder owns the</a:t>
            </a:r>
          </a:p>
          <a:p xmlns:a="http://schemas.openxmlformats.org/drawingml/2006/main">
            <a:pPr algn="l">
              <a:buNone/>
              <a:defRPr sz="3450" b="1">
                <a:solidFill>
                  <a:srgbClr val="152015"/>
                </a:solidFill>
              </a:defRPr>
            </a:pPr>
            <a:r>
              <a:rPr sz="3450" b="1">
                <a:solidFill>
                  <a:srgbClr val="152015"/>
                </a:solidFill>
              </a:rPr>
              <a:t>go / no-go decision.</a:t>
            </a:r>
          </a:p>
        </p:txBody>
      </p:sp>
      <p:sp>
        <p:nvSpPr>
          <p:cNvPr id="5" name="">
            <a:extLst xmlns:a="http://schemas.openxmlformats.org/drawingml/2006/main">
              <a:ext uri="{FF2B5EF4-FFF2-40B4-BE49-F238E27FC236}">
                <a16:creationId xmlns:a16="http://schemas.microsoft.com/office/drawing/2014/main" id="{8604728B-1E4C-45B3-A884-D74DF2A0D784}"/>
              </a:ext>
            </a:extLst>
          </p:cNvPr>
          <p:cNvSpPr>
            <a:spLocks xmlns:a="http://schemas.openxmlformats.org/drawingml/2006/main" noGrp="1"/>
          </p:cNvSpPr>
          <p:nvPr/>
        </p:nvSpPr>
        <p:spPr>
          <a:xfrm xmlns:a="http://schemas.openxmlformats.org/drawingml/2006/main">
            <a:off x="685800" y="2571750"/>
            <a:ext cx="5619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687068"/>
                </a:solidFill>
              </a:defRPr>
            </a:pPr>
            <a:r>
              <a:rPr sz="1650" b="0">
                <a:solidFill>
                  <a:srgbClr val="687068"/>
                </a:solidFill>
              </a:rPr>
              <a:t>They know the product problem—but may have no AI architect or FinOps partner. They should not need a model name, token count, or workflow design to begin.</a:t>
            </a:r>
          </a:p>
        </p:txBody>
      </p:sp>
      <p:sp>
        <p:nvSpPr>
          <p:cNvPr id="6" name="">
            <a:extLst xmlns:a="http://schemas.openxmlformats.org/drawingml/2006/main">
              <a:ext uri="{FF2B5EF4-FFF2-40B4-BE49-F238E27FC236}">
                <a16:creationId xmlns:a16="http://schemas.microsoft.com/office/drawing/2014/main" id="{3FF655A0-B9C8-460A-85A8-D89B437FFE82}"/>
              </a:ext>
            </a:extLst>
          </p:cNvPr>
          <p:cNvSpPr>
            <a:spLocks xmlns:a="http://schemas.openxmlformats.org/drawingml/2006/main" noGrp="1"/>
          </p:cNvSpPr>
          <p:nvPr/>
        </p:nvSpPr>
        <p:spPr>
          <a:xfrm xmlns:a="http://schemas.openxmlformats.org/drawingml/2006/main">
            <a:off x="7000875" y="1219200"/>
            <a:ext cx="4505325" cy="4191000"/>
          </a:xfrm>
          <a:prstGeom xmlns:a="http://schemas.openxmlformats.org/drawingml/2006/main" prst="roundRect">
            <a:avLst>
              <a:gd name="adj" fmla="val 5455"/>
            </a:avLst>
          </a:prstGeom>
          <a:solidFill xmlns:a="http://schemas.openxmlformats.org/drawingml/2006/main">
            <a:srgbClr val="15201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4701E2-9FC2-4052-93EB-3EF7ED75CDB1}"/>
              </a:ext>
            </a:extLst>
          </p:cNvPr>
          <p:cNvSpPr>
            <a:spLocks xmlns:a="http://schemas.openxmlformats.org/drawingml/2006/main" noGrp="1"/>
          </p:cNvSpPr>
          <p:nvPr/>
        </p:nvSpPr>
        <p:spPr>
          <a:xfrm xmlns:a="http://schemas.openxmlformats.org/drawingml/2006/main">
            <a:off x="7419975" y="16764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JOB TO BE DONE</a:t>
            </a:r>
          </a:p>
        </p:txBody>
      </p:sp>
      <p:sp>
        <p:nvSpPr>
          <p:cNvPr id="8" name="">
            <a:extLst xmlns:a="http://schemas.openxmlformats.org/drawingml/2006/main">
              <a:ext uri="{FF2B5EF4-FFF2-40B4-BE49-F238E27FC236}">
                <a16:creationId xmlns:a16="http://schemas.microsoft.com/office/drawing/2014/main" id="{A4A23DFC-A15F-4429-9C12-4D92549FCDA1}"/>
              </a:ext>
            </a:extLst>
          </p:cNvPr>
          <p:cNvSpPr>
            <a:spLocks xmlns:a="http://schemas.openxmlformats.org/drawingml/2006/main" noGrp="1"/>
          </p:cNvSpPr>
          <p:nvPr/>
        </p:nvSpPr>
        <p:spPr>
          <a:xfrm xmlns:a="http://schemas.openxmlformats.org/drawingml/2006/main">
            <a:off x="7419975" y="2266950"/>
            <a:ext cx="33718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a:solidFill>
                  <a:srgbClr val="FFFFFF"/>
                </a:solidFill>
              </a:defRPr>
            </a:pPr>
            <a:r>
              <a:rPr sz="2325" b="1">
                <a:solidFill>
                  <a:srgbClr val="FFFFFF"/>
                </a:solidFill>
              </a:rPr>
              <a:t>“WHEN the build choice is unclear,
HELP ME confirm model + cost,
SO I CAN commit—or stop.”</a:t>
            </a:r>
          </a:p>
        </p:txBody>
      </p:sp>
      <p:sp>
        <p:nvSpPr>
          <p:cNvPr id="9" name="">
            <a:extLst xmlns:a="http://schemas.openxmlformats.org/drawingml/2006/main">
              <a:ext uri="{FF2B5EF4-FFF2-40B4-BE49-F238E27FC236}">
                <a16:creationId xmlns:a16="http://schemas.microsoft.com/office/drawing/2014/main" id="{4FD27E3E-A95B-4400-85FA-98E427659406}"/>
              </a:ext>
            </a:extLst>
          </p:cNvPr>
          <p:cNvSpPr>
            <a:spLocks xmlns:a="http://schemas.openxmlformats.org/drawingml/2006/main" noGrp="1"/>
          </p:cNvSpPr>
          <p:nvPr/>
        </p:nvSpPr>
        <p:spPr>
          <a:xfrm xmlns:a="http://schemas.openxmlformats.org/drawingml/2006/main">
            <a:off x="7419975" y="4591050"/>
            <a:ext cx="3143250" cy="19050"/>
          </a:xfrm>
          <a:prstGeom xmlns:a="http://schemas.openxmlformats.org/drawingml/2006/main" prst="rect">
            <a:avLst/>
          </a:prstGeom>
          <a:solidFill xmlns:a="http://schemas.openxmlformats.org/drawingml/2006/main">
            <a:srgbClr val="52605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8B465F-A2F0-4B95-B8DB-FFE078E92691}"/>
              </a:ext>
            </a:extLst>
          </p:cNvPr>
          <p:cNvSpPr>
            <a:spLocks xmlns:a="http://schemas.openxmlformats.org/drawingml/2006/main" noGrp="1"/>
          </p:cNvSpPr>
          <p:nvPr/>
        </p:nvSpPr>
        <p:spPr>
          <a:xfrm xmlns:a="http://schemas.openxmlformats.org/drawingml/2006/main">
            <a:off x="7419975" y="4762500"/>
            <a:ext cx="335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C8D1C8"/>
                </a:solidFill>
              </a:defRPr>
            </a:pPr>
            <a:r>
              <a:rPr sz="1200" b="0">
                <a:solidFill>
                  <a:srgbClr val="C8D1C8"/>
                </a:solidFill>
              </a:rPr>
              <a:t>Outcome: a reproducible build decision—not a pricing-table guess.</a:t>
            </a:r>
          </a:p>
        </p:txBody>
      </p:sp>
      <p:sp>
        <p:nvSpPr>
          <p:cNvPr id="11" name="">
            <a:extLst xmlns:a="http://schemas.openxmlformats.org/drawingml/2006/main">
              <a:ext uri="{FF2B5EF4-FFF2-40B4-BE49-F238E27FC236}">
                <a16:creationId xmlns:a16="http://schemas.microsoft.com/office/drawing/2014/main" id="{4C4631E9-E617-419A-B1DA-716A46BC8929}"/>
              </a:ext>
            </a:extLst>
          </p:cNvPr>
          <p:cNvSpPr>
            <a:spLocks xmlns:a="http://schemas.openxmlformats.org/drawingml/2006/main" noGrp="1"/>
          </p:cNvSpPr>
          <p:nvPr/>
        </p:nvSpPr>
        <p:spPr>
          <a:xfrm xmlns:a="http://schemas.openxmlformats.org/drawingml/2006/main">
            <a:off x="6858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687068"/>
                </a:solidFill>
              </a:defRPr>
            </a:pPr>
            <a:r>
              <a:rPr sz="825" b="1">
                <a:solidFill>
                  <a:srgbClr val="687068"/>
                </a:solidFill>
              </a:rPr>
              <a:t>AI BUILD CREW · BADLABZ.COM</a:t>
            </a:r>
          </a:p>
        </p:txBody>
      </p:sp>
      <p:sp>
        <p:nvSpPr>
          <p:cNvPr id="12" name="">
            <a:extLst xmlns:a="http://schemas.openxmlformats.org/drawingml/2006/main">
              <a:ext uri="{FF2B5EF4-FFF2-40B4-BE49-F238E27FC236}">
                <a16:creationId xmlns:a16="http://schemas.microsoft.com/office/drawing/2014/main" id="{C2241FC9-6D18-428D-8B22-982E583392BA}"/>
              </a:ext>
            </a:extLst>
          </p:cNvPr>
          <p:cNvSpPr>
            <a:spLocks xmlns:a="http://schemas.openxmlformats.org/drawingml/2006/main" noGrp="1"/>
          </p:cNvSpPr>
          <p:nvPr/>
        </p:nvSpPr>
        <p:spPr>
          <a:xfrm xmlns:a="http://schemas.openxmlformats.org/drawingml/2006/main">
            <a:off x="10858500" y="6496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F7BFF"/>
                </a:solidFill>
              </a:defRPr>
            </a:pPr>
            <a:r>
              <a:rPr sz="825" b="1">
                <a:solidFill>
                  <a:srgbClr val="8F7BFF"/>
                </a:solidFill>
              </a:rPr>
              <a:t>03</a:t>
            </a:r>
          </a:p>
        </p:txBody>
      </p:sp>
    </p:spTree>
    <p:extLst>
      <p:ext uri="{BB962C8B-B14F-4D97-AF65-F5344CB8AC3E}">
        <p14:creationId xmlns:p14="http://schemas.microsoft.com/office/powerpoint/2010/main" val="1314072076"/>
      </p:ext>
    </p:extLst>
  </p:cSld>
</p:sld>
</file>

<file path=ppt/slides/slide4.xml><?xml version="1.0" encoding="utf-8"?>
<p:sld xmlns:p="http://schemas.openxmlformats.org/presentationml/2006/main">
  <p:cSld>
    <p:bg>
      <p:bgPr>
        <a:solidFill xmlns:a="http://schemas.openxmlformats.org/drawingml/2006/main">
          <a:srgbClr val="F3EFE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595416C-835D-435F-BC12-610E6A00EEB6}"/>
              </a:ext>
            </a:extLst>
          </p:cNvPr>
          <p:cNvSpPr>
            <a:spLocks xmlns:a="http://schemas.openxmlformats.org/drawingml/2006/main" noGrp="1"/>
          </p:cNvSpPr>
          <p:nvPr/>
        </p:nvSpPr>
        <p:spPr>
          <a:xfrm xmlns:a="http://schemas.openxmlformats.org/drawingml/2006/main">
            <a:off x="685800" y="457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F7BFF"/>
                </a:solidFill>
              </a:defRPr>
            </a:pPr>
            <a:r>
              <a:rPr sz="975" b="1">
                <a:solidFill>
                  <a:srgbClr val="8F7BFF"/>
                </a:solidFill>
              </a:rPr>
              <a:t>03</a:t>
            </a:r>
          </a:p>
        </p:txBody>
      </p:sp>
      <p:sp>
        <p:nvSpPr>
          <p:cNvPr id="2" name="">
            <a:extLst xmlns:a="http://schemas.openxmlformats.org/drawingml/2006/main">
              <a:ext uri="{FF2B5EF4-FFF2-40B4-BE49-F238E27FC236}">
                <a16:creationId xmlns:a16="http://schemas.microsoft.com/office/drawing/2014/main" id="{D1C0A470-81CC-4128-A843-C3A698DE5035}"/>
              </a:ext>
            </a:extLst>
          </p:cNvPr>
          <p:cNvSpPr>
            <a:spLocks xmlns:a="http://schemas.openxmlformats.org/drawingml/2006/main" noGrp="1"/>
          </p:cNvSpPr>
          <p:nvPr/>
        </p:nvSpPr>
        <p:spPr>
          <a:xfrm xmlns:a="http://schemas.openxmlformats.org/drawingml/2006/main">
            <a:off x="12192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52015"/>
                </a:solidFill>
              </a:defRPr>
            </a:pPr>
            <a:r>
              <a:rPr sz="975" b="1">
                <a:solidFill>
                  <a:srgbClr val="152015"/>
                </a:solidFill>
              </a:rPr>
              <a:t>THE PRODUCT EXPERIENCE</a:t>
            </a:r>
          </a:p>
        </p:txBody>
      </p:sp>
      <p:sp>
        <p:nvSpPr>
          <p:cNvPr id="3" name="">
            <a:extLst xmlns:a="http://schemas.openxmlformats.org/drawingml/2006/main">
              <a:ext uri="{FF2B5EF4-FFF2-40B4-BE49-F238E27FC236}">
                <a16:creationId xmlns:a16="http://schemas.microsoft.com/office/drawing/2014/main" id="{55822932-EF21-468D-8B02-B71F4C482449}"/>
              </a:ext>
            </a:extLst>
          </p:cNvPr>
          <p:cNvSpPr>
            <a:spLocks xmlns:a="http://schemas.openxmlformats.org/drawingml/2006/main" noGrp="1"/>
          </p:cNvSpPr>
          <p:nvPr/>
        </p:nvSpPr>
        <p:spPr>
          <a:xfrm xmlns:a="http://schemas.openxmlformats.org/drawingml/2006/main">
            <a:off x="685800" y="781050"/>
            <a:ext cx="10820400" cy="19050"/>
          </a:xfrm>
          <a:prstGeom xmlns:a="http://schemas.openxmlformats.org/drawingml/2006/main" prst="rect">
            <a:avLst/>
          </a:prstGeom>
          <a:solidFill xmlns:a="http://schemas.openxmlformats.org/drawingml/2006/main">
            <a:srgbClr val="CDD0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5A30F2-A980-4F8E-901F-F23233E02BEF}"/>
              </a:ext>
            </a:extLst>
          </p:cNvPr>
          <p:cNvSpPr>
            <a:spLocks xmlns:a="http://schemas.openxmlformats.org/drawingml/2006/main" noGrp="1"/>
          </p:cNvSpPr>
          <p:nvPr/>
        </p:nvSpPr>
        <p:spPr>
          <a:xfrm xmlns:a="http://schemas.openxmlformats.org/drawingml/2006/main">
            <a:off x="685800" y="1123950"/>
            <a:ext cx="7429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00" b="1">
                <a:solidFill>
                  <a:srgbClr val="152015"/>
                </a:solidFill>
              </a:defRPr>
            </a:pPr>
            <a:r>
              <a:rPr sz="3300" b="1">
                <a:solidFill>
                  <a:srgbClr val="152015"/>
                </a:solidFill>
              </a:rPr>
              <a:t>The idea comes first.</a:t>
            </a:r>
          </a:p>
          <a:p xmlns:a="http://schemas.openxmlformats.org/drawingml/2006/main">
            <a:pPr algn="l">
              <a:buNone/>
              <a:defRPr sz="3300" b="1">
                <a:solidFill>
                  <a:srgbClr val="152015"/>
                </a:solidFill>
              </a:defRPr>
            </a:pPr>
            <a:r>
              <a:rPr sz="3300" b="1">
                <a:solidFill>
                  <a:srgbClr val="152015"/>
                </a:solidFill>
              </a:rPr>
              <a:t>Technical assumptions come second.</a:t>
            </a:r>
          </a:p>
        </p:txBody>
      </p:sp>
      <p:sp>
        <p:nvSpPr>
          <p:cNvPr id="5" name="">
            <a:extLst xmlns:a="http://schemas.openxmlformats.org/drawingml/2006/main">
              <a:ext uri="{FF2B5EF4-FFF2-40B4-BE49-F238E27FC236}">
                <a16:creationId xmlns:a16="http://schemas.microsoft.com/office/drawing/2014/main" id="{C76F5C34-5E74-4C1C-8437-2F1389791FA5}"/>
              </a:ext>
            </a:extLst>
          </p:cNvPr>
          <p:cNvSpPr>
            <a:spLocks xmlns:a="http://schemas.openxmlformats.org/drawingml/2006/main" noGrp="1"/>
          </p:cNvSpPr>
          <p:nvPr/>
        </p:nvSpPr>
        <p:spPr>
          <a:xfrm xmlns:a="http://schemas.openxmlformats.org/drawingml/2006/main">
            <a:off x="685800" y="2857500"/>
            <a:ext cx="3048000" cy="2266950"/>
          </a:xfrm>
          <a:prstGeom xmlns:a="http://schemas.openxmlformats.org/drawingml/2006/main" prst="roundRect">
            <a:avLst>
              <a:gd name="adj" fmla="val 8403"/>
            </a:avLst>
          </a:prstGeom>
          <a:solidFill xmlns:a="http://schemas.openxmlformats.org/drawingml/2006/main">
            <a:srgbClr val="FFFFFF"/>
          </a:solidFill>
          <a:ln xmlns:a="http://schemas.openxmlformats.org/drawingml/2006/main" w="9525">
            <a:solidFill>
              <a:srgbClr val="CDD0C8"/>
            </a:solidFill>
            <a:prstDash val="solid"/>
          </a:ln>
        </p:spPr>
      </p:sp>
      <p:sp>
        <p:nvSpPr>
          <p:cNvPr id="6" name="">
            <a:extLst xmlns:a="http://schemas.openxmlformats.org/drawingml/2006/main">
              <a:ext uri="{FF2B5EF4-FFF2-40B4-BE49-F238E27FC236}">
                <a16:creationId xmlns:a16="http://schemas.microsoft.com/office/drawing/2014/main" id="{FA4374CB-4474-4B5A-AC33-B973B5BD8692}"/>
              </a:ext>
            </a:extLst>
          </p:cNvPr>
          <p:cNvSpPr>
            <a:spLocks xmlns:a="http://schemas.openxmlformats.org/drawingml/2006/main" noGrp="1"/>
          </p:cNvSpPr>
          <p:nvPr/>
        </p:nvSpPr>
        <p:spPr>
          <a:xfrm xmlns:a="http://schemas.openxmlformats.org/drawingml/2006/main">
            <a:off x="914400" y="3095625"/>
            <a:ext cx="438150" cy="438150"/>
          </a:xfrm>
          <a:prstGeom xmlns:a="http://schemas.openxmlformats.org/drawingml/2006/main" prst="roundRect">
            <a:avLst>
              <a:gd name="adj" fmla="val 50000"/>
            </a:avLst>
          </a:prstGeom>
          <a:solidFill xmlns:a="http://schemas.openxmlformats.org/drawingml/2006/main">
            <a:srgbClr val="D8FF5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ECE422-DC44-47CC-8F1A-D4DA4C4D48A0}"/>
              </a:ext>
            </a:extLst>
          </p:cNvPr>
          <p:cNvSpPr>
            <a:spLocks xmlns:a="http://schemas.openxmlformats.org/drawingml/2006/main" noGrp="1"/>
          </p:cNvSpPr>
          <p:nvPr/>
        </p:nvSpPr>
        <p:spPr>
          <a:xfrm xmlns:a="http://schemas.openxmlformats.org/drawingml/2006/main">
            <a:off x="914400" y="31718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52015"/>
                </a:solidFill>
              </a:defRPr>
            </a:pPr>
            <a:r>
              <a:rPr sz="1200" b="1">
                <a:solidFill>
                  <a:srgbClr val="152015"/>
                </a:solidFill>
              </a:rPr>
              <a:t>1</a:t>
            </a:r>
          </a:p>
        </p:txBody>
      </p:sp>
      <p:sp>
        <p:nvSpPr>
          <p:cNvPr id="8" name="">
            <a:extLst xmlns:a="http://schemas.openxmlformats.org/drawingml/2006/main">
              <a:ext uri="{FF2B5EF4-FFF2-40B4-BE49-F238E27FC236}">
                <a16:creationId xmlns:a16="http://schemas.microsoft.com/office/drawing/2014/main" id="{3167DCDE-8D59-4BEB-B3AB-6992467AFC2A}"/>
              </a:ext>
            </a:extLst>
          </p:cNvPr>
          <p:cNvSpPr>
            <a:spLocks xmlns:a="http://schemas.openxmlformats.org/drawingml/2006/main" noGrp="1"/>
          </p:cNvSpPr>
          <p:nvPr/>
        </p:nvSpPr>
        <p:spPr>
          <a:xfrm xmlns:a="http://schemas.openxmlformats.org/drawingml/2006/main">
            <a:off x="914400" y="37814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8F7BFF"/>
                </a:solidFill>
              </a:defRPr>
            </a:pPr>
            <a:r>
              <a:rPr sz="1125" b="1">
                <a:solidFill>
                  <a:srgbClr val="8F7BFF"/>
                </a:solidFill>
              </a:rPr>
              <a:t>DESCRIBE</a:t>
            </a:r>
          </a:p>
        </p:txBody>
      </p:sp>
      <p:sp>
        <p:nvSpPr>
          <p:cNvPr id="9" name="">
            <a:extLst xmlns:a="http://schemas.openxmlformats.org/drawingml/2006/main">
              <a:ext uri="{FF2B5EF4-FFF2-40B4-BE49-F238E27FC236}">
                <a16:creationId xmlns:a16="http://schemas.microsoft.com/office/drawing/2014/main" id="{81CF3EF3-74C5-4C07-A253-896873C4989E}"/>
              </a:ext>
            </a:extLst>
          </p:cNvPr>
          <p:cNvSpPr>
            <a:spLocks xmlns:a="http://schemas.openxmlformats.org/drawingml/2006/main" noGrp="1"/>
          </p:cNvSpPr>
          <p:nvPr/>
        </p:nvSpPr>
        <p:spPr>
          <a:xfrm xmlns:a="http://schemas.openxmlformats.org/drawingml/2006/main">
            <a:off x="914400" y="4238625"/>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52015"/>
                </a:solidFill>
              </a:defRPr>
            </a:pPr>
            <a:r>
              <a:rPr sz="1425" b="0">
                <a:solidFill>
                  <a:srgbClr val="152015"/>
                </a:solidFill>
              </a:rPr>
              <a:t>Write what you want to build in everyday language.</a:t>
            </a:r>
          </a:p>
        </p:txBody>
      </p:sp>
      <p:sp>
        <p:nvSpPr>
          <p:cNvPr id="10" name="">
            <a:extLst xmlns:a="http://schemas.openxmlformats.org/drawingml/2006/main">
              <a:ext uri="{FF2B5EF4-FFF2-40B4-BE49-F238E27FC236}">
                <a16:creationId xmlns:a16="http://schemas.microsoft.com/office/drawing/2014/main" id="{9675C56A-026E-439E-93C7-3AC237103AAA}"/>
              </a:ext>
            </a:extLst>
          </p:cNvPr>
          <p:cNvSpPr>
            <a:spLocks xmlns:a="http://schemas.openxmlformats.org/drawingml/2006/main" noGrp="1"/>
          </p:cNvSpPr>
          <p:nvPr/>
        </p:nvSpPr>
        <p:spPr>
          <a:xfrm xmlns:a="http://schemas.openxmlformats.org/drawingml/2006/main">
            <a:off x="4276725" y="2857500"/>
            <a:ext cx="3048000" cy="2266950"/>
          </a:xfrm>
          <a:prstGeom xmlns:a="http://schemas.openxmlformats.org/drawingml/2006/main" prst="roundRect">
            <a:avLst>
              <a:gd name="adj" fmla="val 8403"/>
            </a:avLst>
          </a:prstGeom>
          <a:solidFill xmlns:a="http://schemas.openxmlformats.org/drawingml/2006/main">
            <a:srgbClr val="15201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1E67260-98F0-4F3C-80A5-3D31811DDCFD}"/>
              </a:ext>
            </a:extLst>
          </p:cNvPr>
          <p:cNvSpPr>
            <a:spLocks xmlns:a="http://schemas.openxmlformats.org/drawingml/2006/main" noGrp="1"/>
          </p:cNvSpPr>
          <p:nvPr/>
        </p:nvSpPr>
        <p:spPr>
          <a:xfrm xmlns:a="http://schemas.openxmlformats.org/drawingml/2006/main">
            <a:off x="4505325" y="3095625"/>
            <a:ext cx="438150" cy="438150"/>
          </a:xfrm>
          <a:prstGeom xmlns:a="http://schemas.openxmlformats.org/drawingml/2006/main" prst="roundRect">
            <a:avLst>
              <a:gd name="adj" fmla="val 50000"/>
            </a:avLst>
          </a:prstGeom>
          <a:solidFill xmlns:a="http://schemas.openxmlformats.org/drawingml/2006/main">
            <a:srgbClr val="8F7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6A3942-AAD4-48E2-9026-A29FC8EF509D}"/>
              </a:ext>
            </a:extLst>
          </p:cNvPr>
          <p:cNvSpPr>
            <a:spLocks xmlns:a="http://schemas.openxmlformats.org/drawingml/2006/main" noGrp="1"/>
          </p:cNvSpPr>
          <p:nvPr/>
        </p:nvSpPr>
        <p:spPr>
          <a:xfrm xmlns:a="http://schemas.openxmlformats.org/drawingml/2006/main">
            <a:off x="4505325" y="31718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52015"/>
                </a:solidFill>
              </a:defRPr>
            </a:pPr>
            <a:r>
              <a:rPr sz="1200" b="1">
                <a:solidFill>
                  <a:srgbClr val="152015"/>
                </a:solidFill>
              </a:rPr>
              <a:t>2</a:t>
            </a:r>
          </a:p>
        </p:txBody>
      </p:sp>
      <p:sp>
        <p:nvSpPr>
          <p:cNvPr id="13" name="">
            <a:extLst xmlns:a="http://schemas.openxmlformats.org/drawingml/2006/main">
              <a:ext uri="{FF2B5EF4-FFF2-40B4-BE49-F238E27FC236}">
                <a16:creationId xmlns:a16="http://schemas.microsoft.com/office/drawing/2014/main" id="{D6C8AC39-F317-42D8-A4D9-4108B789B5B7}"/>
              </a:ext>
            </a:extLst>
          </p:cNvPr>
          <p:cNvSpPr>
            <a:spLocks xmlns:a="http://schemas.openxmlformats.org/drawingml/2006/main" noGrp="1"/>
          </p:cNvSpPr>
          <p:nvPr/>
        </p:nvSpPr>
        <p:spPr>
          <a:xfrm xmlns:a="http://schemas.openxmlformats.org/drawingml/2006/main">
            <a:off x="4505325" y="37814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D8FF55"/>
                </a:solidFill>
              </a:defRPr>
            </a:pPr>
            <a:r>
              <a:rPr sz="1125" b="1">
                <a:solidFill>
                  <a:srgbClr val="D8FF55"/>
                </a:solidFill>
              </a:rPr>
              <a:t>SHAPE</a:t>
            </a:r>
          </a:p>
        </p:txBody>
      </p:sp>
      <p:sp>
        <p:nvSpPr>
          <p:cNvPr id="14" name="">
            <a:extLst xmlns:a="http://schemas.openxmlformats.org/drawingml/2006/main">
              <a:ext uri="{FF2B5EF4-FFF2-40B4-BE49-F238E27FC236}">
                <a16:creationId xmlns:a16="http://schemas.microsoft.com/office/drawing/2014/main" id="{65D36F35-26C8-447A-B870-E786D4BC8409}"/>
              </a:ext>
            </a:extLst>
          </p:cNvPr>
          <p:cNvSpPr>
            <a:spLocks xmlns:a="http://schemas.openxmlformats.org/drawingml/2006/main" noGrp="1"/>
          </p:cNvSpPr>
          <p:nvPr/>
        </p:nvSpPr>
        <p:spPr>
          <a:xfrm xmlns:a="http://schemas.openxmlformats.org/drawingml/2006/main">
            <a:off x="4505325" y="4238625"/>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Choose job, risk, data, every required format, and a stage. Unknown steps get a visible recommendation.</a:t>
            </a:r>
          </a:p>
        </p:txBody>
      </p:sp>
      <p:sp>
        <p:nvSpPr>
          <p:cNvPr id="15" name="">
            <a:extLst xmlns:a="http://schemas.openxmlformats.org/drawingml/2006/main">
              <a:ext uri="{FF2B5EF4-FFF2-40B4-BE49-F238E27FC236}">
                <a16:creationId xmlns:a16="http://schemas.microsoft.com/office/drawing/2014/main" id="{D99E029B-5297-4AE3-82DA-6975A2A91EB1}"/>
              </a:ext>
            </a:extLst>
          </p:cNvPr>
          <p:cNvSpPr>
            <a:spLocks xmlns:a="http://schemas.openxmlformats.org/drawingml/2006/main" noGrp="1"/>
          </p:cNvSpPr>
          <p:nvPr/>
        </p:nvSpPr>
        <p:spPr>
          <a:xfrm xmlns:a="http://schemas.openxmlformats.org/drawingml/2006/main">
            <a:off x="7867650" y="2857500"/>
            <a:ext cx="3048000" cy="2266950"/>
          </a:xfrm>
          <a:prstGeom xmlns:a="http://schemas.openxmlformats.org/drawingml/2006/main" prst="roundRect">
            <a:avLst>
              <a:gd name="adj" fmla="val 8403"/>
            </a:avLst>
          </a:prstGeom>
          <a:solidFill xmlns:a="http://schemas.openxmlformats.org/drawingml/2006/main">
            <a:srgbClr val="FFFFFF"/>
          </a:solidFill>
          <a:ln xmlns:a="http://schemas.openxmlformats.org/drawingml/2006/main" w="9525">
            <a:solidFill>
              <a:srgbClr val="CDD0C8"/>
            </a:solidFill>
            <a:prstDash val="solid"/>
          </a:ln>
        </p:spPr>
      </p:sp>
      <p:sp>
        <p:nvSpPr>
          <p:cNvPr id="16" name="">
            <a:extLst xmlns:a="http://schemas.openxmlformats.org/drawingml/2006/main">
              <a:ext uri="{FF2B5EF4-FFF2-40B4-BE49-F238E27FC236}">
                <a16:creationId xmlns:a16="http://schemas.microsoft.com/office/drawing/2014/main" id="{8C241CF8-2770-4B71-9566-A38260E96F28}"/>
              </a:ext>
            </a:extLst>
          </p:cNvPr>
          <p:cNvSpPr>
            <a:spLocks xmlns:a="http://schemas.openxmlformats.org/drawingml/2006/main" noGrp="1"/>
          </p:cNvSpPr>
          <p:nvPr/>
        </p:nvSpPr>
        <p:spPr>
          <a:xfrm xmlns:a="http://schemas.openxmlformats.org/drawingml/2006/main">
            <a:off x="8096250" y="3095625"/>
            <a:ext cx="438150" cy="438150"/>
          </a:xfrm>
          <a:prstGeom xmlns:a="http://schemas.openxmlformats.org/drawingml/2006/main" prst="roundRect">
            <a:avLst>
              <a:gd name="adj" fmla="val 50000"/>
            </a:avLst>
          </a:prstGeom>
          <a:solidFill xmlns:a="http://schemas.openxmlformats.org/drawingml/2006/main">
            <a:srgbClr val="FF81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FAB3E40-36FD-4532-A9F4-A2ACBDB3D262}"/>
              </a:ext>
            </a:extLst>
          </p:cNvPr>
          <p:cNvSpPr>
            <a:spLocks xmlns:a="http://schemas.openxmlformats.org/drawingml/2006/main" noGrp="1"/>
          </p:cNvSpPr>
          <p:nvPr/>
        </p:nvSpPr>
        <p:spPr>
          <a:xfrm xmlns:a="http://schemas.openxmlformats.org/drawingml/2006/main">
            <a:off x="8096250" y="31718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52015"/>
                </a:solidFill>
              </a:defRPr>
            </a:pPr>
            <a:r>
              <a:rPr sz="1200" b="1">
                <a:solidFill>
                  <a:srgbClr val="152015"/>
                </a:solidFill>
              </a:rPr>
              <a:t>3</a:t>
            </a:r>
          </a:p>
        </p:txBody>
      </p:sp>
      <p:sp>
        <p:nvSpPr>
          <p:cNvPr id="18" name="">
            <a:extLst xmlns:a="http://schemas.openxmlformats.org/drawingml/2006/main">
              <a:ext uri="{FF2B5EF4-FFF2-40B4-BE49-F238E27FC236}">
                <a16:creationId xmlns:a16="http://schemas.microsoft.com/office/drawing/2014/main" id="{0A220EAC-9F7A-42E1-B85A-70646B175116}"/>
              </a:ext>
            </a:extLst>
          </p:cNvPr>
          <p:cNvSpPr>
            <a:spLocks xmlns:a="http://schemas.openxmlformats.org/drawingml/2006/main" noGrp="1"/>
          </p:cNvSpPr>
          <p:nvPr/>
        </p:nvSpPr>
        <p:spPr>
          <a:xfrm xmlns:a="http://schemas.openxmlformats.org/drawingml/2006/main">
            <a:off x="8096250" y="37814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8F7BFF"/>
                </a:solidFill>
              </a:defRPr>
            </a:pPr>
            <a:r>
              <a:rPr sz="1125" b="1">
                <a:solidFill>
                  <a:srgbClr val="8F7BFF"/>
                </a:solidFill>
              </a:rPr>
              <a:t>CONFIRM</a:t>
            </a:r>
          </a:p>
        </p:txBody>
      </p:sp>
      <p:sp>
        <p:nvSpPr>
          <p:cNvPr id="19" name="">
            <a:extLst xmlns:a="http://schemas.openxmlformats.org/drawingml/2006/main">
              <a:ext uri="{FF2B5EF4-FFF2-40B4-BE49-F238E27FC236}">
                <a16:creationId xmlns:a16="http://schemas.microsoft.com/office/drawing/2014/main" id="{1EAE9D48-9B74-4383-9D45-B7361AF48861}"/>
              </a:ext>
            </a:extLst>
          </p:cNvPr>
          <p:cNvSpPr>
            <a:spLocks xmlns:a="http://schemas.openxmlformats.org/drawingml/2006/main" noGrp="1"/>
          </p:cNvSpPr>
          <p:nvPr/>
        </p:nvSpPr>
        <p:spPr>
          <a:xfrm xmlns:a="http://schemas.openxmlformats.org/drawingml/2006/main">
            <a:off x="8096250" y="4238625"/>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52015"/>
                </a:solidFill>
              </a:defRPr>
            </a:pPr>
            <a:r>
              <a:rPr sz="1425" b="0">
                <a:solidFill>
                  <a:srgbClr val="152015"/>
                </a:solidFill>
              </a:rPr>
              <a:t>Confirm suggested steps and assumptions. An optional ceiling filters; it never invents the cost.</a:t>
            </a:r>
          </a:p>
        </p:txBody>
      </p:sp>
      <p:sp>
        <p:nvSpPr>
          <p:cNvPr id="20" name="">
            <a:extLst xmlns:a="http://schemas.openxmlformats.org/drawingml/2006/main">
              <a:ext uri="{FF2B5EF4-FFF2-40B4-BE49-F238E27FC236}">
                <a16:creationId xmlns:a16="http://schemas.microsoft.com/office/drawing/2014/main" id="{5027562A-2C6A-4CB9-9D99-BE48BB8FDDBC}"/>
              </a:ext>
            </a:extLst>
          </p:cNvPr>
          <p:cNvSpPr>
            <a:spLocks xmlns:a="http://schemas.openxmlformats.org/drawingml/2006/main" noGrp="1"/>
          </p:cNvSpPr>
          <p:nvPr/>
        </p:nvSpPr>
        <p:spPr>
          <a:xfrm xmlns:a="http://schemas.openxmlformats.org/drawingml/2006/main">
            <a:off x="685800" y="558165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8F7BFF"/>
                </a:solidFill>
              </a:defRPr>
            </a:pPr>
            <a:r>
              <a:rPr sz="1800" b="1">
                <a:solidFill>
                  <a:srgbClr val="8F7BFF"/>
                </a:solidFill>
              </a:rPr>
              <a:t>“I don’t know” remains valid. “Estimate now” remains available.</a:t>
            </a:r>
          </a:p>
        </p:txBody>
      </p:sp>
      <p:sp>
        <p:nvSpPr>
          <p:cNvPr id="21" name="">
            <a:extLst xmlns:a="http://schemas.openxmlformats.org/drawingml/2006/main">
              <a:ext uri="{FF2B5EF4-FFF2-40B4-BE49-F238E27FC236}">
                <a16:creationId xmlns:a16="http://schemas.microsoft.com/office/drawing/2014/main" id="{1EFBFCAD-AC5E-4D43-8F56-8311CE364574}"/>
              </a:ext>
            </a:extLst>
          </p:cNvPr>
          <p:cNvSpPr>
            <a:spLocks xmlns:a="http://schemas.openxmlformats.org/drawingml/2006/main" noGrp="1"/>
          </p:cNvSpPr>
          <p:nvPr/>
        </p:nvSpPr>
        <p:spPr>
          <a:xfrm xmlns:a="http://schemas.openxmlformats.org/drawingml/2006/main">
            <a:off x="6858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687068"/>
                </a:solidFill>
              </a:defRPr>
            </a:pPr>
            <a:r>
              <a:rPr sz="825" b="1">
                <a:solidFill>
                  <a:srgbClr val="687068"/>
                </a:solidFill>
              </a:rPr>
              <a:t>AI BUILD CREW · BADLABZ.COM</a:t>
            </a:r>
          </a:p>
        </p:txBody>
      </p:sp>
      <p:sp>
        <p:nvSpPr>
          <p:cNvPr id="22" name="">
            <a:extLst xmlns:a="http://schemas.openxmlformats.org/drawingml/2006/main">
              <a:ext uri="{FF2B5EF4-FFF2-40B4-BE49-F238E27FC236}">
                <a16:creationId xmlns:a16="http://schemas.microsoft.com/office/drawing/2014/main" id="{0E78C71B-E1E9-4CCE-AD87-856072D44A76}"/>
              </a:ext>
            </a:extLst>
          </p:cNvPr>
          <p:cNvSpPr>
            <a:spLocks xmlns:a="http://schemas.openxmlformats.org/drawingml/2006/main" noGrp="1"/>
          </p:cNvSpPr>
          <p:nvPr/>
        </p:nvSpPr>
        <p:spPr>
          <a:xfrm xmlns:a="http://schemas.openxmlformats.org/drawingml/2006/main">
            <a:off x="10858500" y="6496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F7BFF"/>
                </a:solidFill>
              </a:defRPr>
            </a:pPr>
            <a:r>
              <a:rPr sz="825" b="1">
                <a:solidFill>
                  <a:srgbClr val="8F7BFF"/>
                </a:solidFill>
              </a:rPr>
              <a:t>04</a:t>
            </a:r>
          </a:p>
        </p:txBody>
      </p:sp>
    </p:spTree>
    <p:extLst>
      <p:ext uri="{BB962C8B-B14F-4D97-AF65-F5344CB8AC3E}">
        <p14:creationId xmlns:p14="http://schemas.microsoft.com/office/powerpoint/2010/main" val="1488857310"/>
      </p:ext>
    </p:extLst>
  </p:cSld>
</p:sld>
</file>

<file path=ppt/slides/slide5.xml><?xml version="1.0" encoding="utf-8"?>
<p:sld xmlns:p="http://schemas.openxmlformats.org/presentationml/2006/main">
  <p:cSld>
    <p:bg>
      <p:bgPr>
        <a:solidFill xmlns:a="http://schemas.openxmlformats.org/drawingml/2006/main">
          <a:srgbClr val="F3EFE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E58A29B-6924-4101-B3F2-782EAD932FA2}"/>
              </a:ext>
            </a:extLst>
          </p:cNvPr>
          <p:cNvSpPr>
            <a:spLocks xmlns:a="http://schemas.openxmlformats.org/drawingml/2006/main" noGrp="1"/>
          </p:cNvSpPr>
          <p:nvPr/>
        </p:nvSpPr>
        <p:spPr>
          <a:xfrm xmlns:a="http://schemas.openxmlformats.org/drawingml/2006/main">
            <a:off x="685800" y="457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F7BFF"/>
                </a:solidFill>
              </a:defRPr>
            </a:pPr>
            <a:r>
              <a:rPr sz="975" b="1">
                <a:solidFill>
                  <a:srgbClr val="8F7BFF"/>
                </a:solidFill>
              </a:rPr>
              <a:t>04</a:t>
            </a:r>
          </a:p>
        </p:txBody>
      </p:sp>
      <p:sp>
        <p:nvSpPr>
          <p:cNvPr id="2" name="">
            <a:extLst xmlns:a="http://schemas.openxmlformats.org/drawingml/2006/main">
              <a:ext uri="{FF2B5EF4-FFF2-40B4-BE49-F238E27FC236}">
                <a16:creationId xmlns:a16="http://schemas.microsoft.com/office/drawing/2014/main" id="{29845B15-E571-4EDE-977F-D2A48B487926}"/>
              </a:ext>
            </a:extLst>
          </p:cNvPr>
          <p:cNvSpPr>
            <a:spLocks xmlns:a="http://schemas.openxmlformats.org/drawingml/2006/main" noGrp="1"/>
          </p:cNvSpPr>
          <p:nvPr/>
        </p:nvSpPr>
        <p:spPr>
          <a:xfrm xmlns:a="http://schemas.openxmlformats.org/drawingml/2006/main">
            <a:off x="12192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52015"/>
                </a:solidFill>
              </a:defRPr>
            </a:pPr>
            <a:r>
              <a:rPr sz="975" b="1">
                <a:solidFill>
                  <a:srgbClr val="152015"/>
                </a:solidFill>
              </a:rPr>
              <a:t>COST PER COMPLETED TASK</a:t>
            </a:r>
          </a:p>
        </p:txBody>
      </p:sp>
      <p:sp>
        <p:nvSpPr>
          <p:cNvPr id="3" name="">
            <a:extLst xmlns:a="http://schemas.openxmlformats.org/drawingml/2006/main">
              <a:ext uri="{FF2B5EF4-FFF2-40B4-BE49-F238E27FC236}">
                <a16:creationId xmlns:a16="http://schemas.microsoft.com/office/drawing/2014/main" id="{0AB7DD0D-C229-471E-9A78-EA76DF27C899}"/>
              </a:ext>
            </a:extLst>
          </p:cNvPr>
          <p:cNvSpPr>
            <a:spLocks xmlns:a="http://schemas.openxmlformats.org/drawingml/2006/main" noGrp="1"/>
          </p:cNvSpPr>
          <p:nvPr/>
        </p:nvSpPr>
        <p:spPr>
          <a:xfrm xmlns:a="http://schemas.openxmlformats.org/drawingml/2006/main">
            <a:off x="685800" y="781050"/>
            <a:ext cx="10820400" cy="19050"/>
          </a:xfrm>
          <a:prstGeom xmlns:a="http://schemas.openxmlformats.org/drawingml/2006/main" prst="rect">
            <a:avLst/>
          </a:prstGeom>
          <a:solidFill xmlns:a="http://schemas.openxmlformats.org/drawingml/2006/main">
            <a:srgbClr val="CDD0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C412D4-0AF7-44B6-8A54-872A07902E8F}"/>
              </a:ext>
            </a:extLst>
          </p:cNvPr>
          <p:cNvSpPr>
            <a:spLocks xmlns:a="http://schemas.openxmlformats.org/drawingml/2006/main" noGrp="1"/>
          </p:cNvSpPr>
          <p:nvPr/>
        </p:nvSpPr>
        <p:spPr>
          <a:xfrm xmlns:a="http://schemas.openxmlformats.org/drawingml/2006/main">
            <a:off x="685800" y="1066800"/>
            <a:ext cx="6762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52015"/>
                </a:solidFill>
              </a:defRPr>
            </a:pPr>
            <a:r>
              <a:rPr sz="2850" b="1">
                <a:solidFill>
                  <a:srgbClr val="152015"/>
                </a:solidFill>
              </a:rPr>
              <a:t>One frozen workflow creates</a:t>
            </a:r>
          </a:p>
          <a:p xmlns:a="http://schemas.openxmlformats.org/drawingml/2006/main">
            <a:pPr algn="l">
              <a:buNone/>
              <a:defRPr sz="2850" b="1">
                <a:solidFill>
                  <a:srgbClr val="152015"/>
                </a:solidFill>
              </a:defRPr>
            </a:pPr>
            <a:r>
              <a:rPr sz="2850" b="1">
                <a:solidFill>
                  <a:srgbClr val="152015"/>
                </a:solidFill>
              </a:rPr>
              <a:t>a spread—not a promised number.</a:t>
            </a:r>
          </a:p>
        </p:txBody>
      </p:sp>
      <p:sp>
        <p:nvSpPr>
          <p:cNvPr id="5" name="">
            <a:extLst xmlns:a="http://schemas.openxmlformats.org/drawingml/2006/main">
              <a:ext uri="{FF2B5EF4-FFF2-40B4-BE49-F238E27FC236}">
                <a16:creationId xmlns:a16="http://schemas.microsoft.com/office/drawing/2014/main" id="{49C60688-E5CB-4387-8FE7-4E288D202030}"/>
              </a:ext>
            </a:extLst>
          </p:cNvPr>
          <p:cNvSpPr>
            <a:spLocks xmlns:a="http://schemas.openxmlformats.org/drawingml/2006/main" noGrp="1"/>
          </p:cNvSpPr>
          <p:nvPr/>
        </p:nvSpPr>
        <p:spPr>
          <a:xfrm xmlns:a="http://schemas.openxmlformats.org/drawingml/2006/main">
            <a:off x="685800" y="25717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687068"/>
                </a:solidFill>
              </a:defRPr>
            </a:pPr>
            <a:r>
              <a:rPr sz="1125" b="0">
                <a:solidFill>
                  <a:srgbClr val="687068"/>
                </a:solidFill>
              </a:rPr>
              <a:t>Product-analysis profile · 1,000 tasks/day · 2,400 tokens in · detailed result · recommended 2 primary + 1 checker</a:t>
            </a:r>
          </a:p>
        </p:txBody>
      </p:sp>
      <p:graphicFrame>
        <p:nvGraphicFramePr>
          <p:cNvPr id="22" name="Chart"/>
          <p:cNvGraphicFramePr/>
          <p:nvPr/>
        </p:nvGraphicFramePr>
        <p:xfrm>
          <a:off xmlns:a="http://schemas.openxmlformats.org/drawingml/2006/main" x="685800" y="3143250"/>
          <a:ext xmlns:a="http://schemas.openxmlformats.org/drawingml/2006/main" cx="6191250" cy="2238375"/>
        </p:xfrm>
        <a:graphic xmlns:a="http://schemas.openxmlformats.org/drawingml/2006/main">
          <a:graphicData uri="http://schemas.openxmlformats.org/drawingml/2006/chart">
            <c:chart xmlns:r="http://schemas.openxmlformats.org/officeDocument/2006/relationships" xmlns:c="http://schemas.openxmlformats.org/drawingml/2006/chart" r:id="Rad4ac44828e04006"/>
          </a:graphicData>
        </a:graphic>
      </p:graphicFrame>
      <p:sp>
        <p:nvSpPr>
          <p:cNvPr id="7" name="">
            <a:extLst xmlns:a="http://schemas.openxmlformats.org/drawingml/2006/main">
              <a:ext uri="{FF2B5EF4-FFF2-40B4-BE49-F238E27FC236}">
                <a16:creationId xmlns:a16="http://schemas.microsoft.com/office/drawing/2014/main" id="{7E0023A4-85B8-4BF1-8462-53833DB27FBC}"/>
              </a:ext>
            </a:extLst>
          </p:cNvPr>
          <p:cNvSpPr>
            <a:spLocks xmlns:a="http://schemas.openxmlformats.org/drawingml/2006/main" noGrp="1"/>
          </p:cNvSpPr>
          <p:nvPr/>
        </p:nvSpPr>
        <p:spPr>
          <a:xfrm xmlns:a="http://schemas.openxmlformats.org/drawingml/2006/main">
            <a:off x="7477125" y="3000375"/>
            <a:ext cx="4029075" cy="2628900"/>
          </a:xfrm>
          <a:prstGeom xmlns:a="http://schemas.openxmlformats.org/drawingml/2006/main" prst="roundRect">
            <a:avLst>
              <a:gd name="adj" fmla="val 7971"/>
            </a:avLst>
          </a:prstGeom>
          <a:solidFill xmlns:a="http://schemas.openxmlformats.org/drawingml/2006/main">
            <a:srgbClr val="15201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64F6CC-030C-48D8-9119-4045EEA432BD}"/>
              </a:ext>
            </a:extLst>
          </p:cNvPr>
          <p:cNvSpPr>
            <a:spLocks xmlns:a="http://schemas.openxmlformats.org/drawingml/2006/main" noGrp="1"/>
          </p:cNvSpPr>
          <p:nvPr/>
        </p:nvSpPr>
        <p:spPr>
          <a:xfrm xmlns:a="http://schemas.openxmlformats.org/drawingml/2006/main">
            <a:off x="7839075" y="33147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BEST STARTING POINT</a:t>
            </a:r>
          </a:p>
        </p:txBody>
      </p:sp>
      <p:sp>
        <p:nvSpPr>
          <p:cNvPr id="9" name="">
            <a:extLst xmlns:a="http://schemas.openxmlformats.org/drawingml/2006/main">
              <a:ext uri="{FF2B5EF4-FFF2-40B4-BE49-F238E27FC236}">
                <a16:creationId xmlns:a16="http://schemas.microsoft.com/office/drawing/2014/main" id="{0CBD3733-D717-48D3-B001-0860B0F145B1}"/>
              </a:ext>
            </a:extLst>
          </p:cNvPr>
          <p:cNvSpPr>
            <a:spLocks xmlns:a="http://schemas.openxmlformats.org/drawingml/2006/main" noGrp="1"/>
          </p:cNvSpPr>
          <p:nvPr/>
        </p:nvSpPr>
        <p:spPr>
          <a:xfrm xmlns:a="http://schemas.openxmlformats.org/drawingml/2006/main">
            <a:off x="7839075" y="37814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FFFFFF"/>
                </a:solidFill>
              </a:defRPr>
            </a:pPr>
            <a:r>
              <a:rPr sz="2400" b="1">
                <a:solidFill>
                  <a:srgbClr val="FFFFFF"/>
                </a:solidFill>
              </a:rPr>
              <a:t>GPT-5.6 Terra</a:t>
            </a:r>
          </a:p>
        </p:txBody>
      </p:sp>
      <p:sp>
        <p:nvSpPr>
          <p:cNvPr id="10" name="">
            <a:extLst xmlns:a="http://schemas.openxmlformats.org/drawingml/2006/main">
              <a:ext uri="{FF2B5EF4-FFF2-40B4-BE49-F238E27FC236}">
                <a16:creationId xmlns:a16="http://schemas.microsoft.com/office/drawing/2014/main" id="{49A2FD65-76F8-45A1-83E5-3E0674360DAA}"/>
              </a:ext>
            </a:extLst>
          </p:cNvPr>
          <p:cNvSpPr>
            <a:spLocks xmlns:a="http://schemas.openxmlformats.org/drawingml/2006/main" noGrp="1"/>
          </p:cNvSpPr>
          <p:nvPr/>
        </p:nvSpPr>
        <p:spPr>
          <a:xfrm xmlns:a="http://schemas.openxmlformats.org/drawingml/2006/main">
            <a:off x="7839075" y="44100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8F7BFF"/>
                </a:solidFill>
              </a:defRPr>
            </a:pPr>
            <a:r>
              <a:rPr sz="2700" b="1">
                <a:solidFill>
                  <a:srgbClr val="8F7BFF"/>
                </a:solidFill>
              </a:rPr>
              <a:t>$0.0672 / task</a:t>
            </a:r>
          </a:p>
        </p:txBody>
      </p:sp>
      <p:sp>
        <p:nvSpPr>
          <p:cNvPr id="11" name="">
            <a:extLst xmlns:a="http://schemas.openxmlformats.org/drawingml/2006/main">
              <a:ext uri="{FF2B5EF4-FFF2-40B4-BE49-F238E27FC236}">
                <a16:creationId xmlns:a16="http://schemas.microsoft.com/office/drawing/2014/main" id="{0E3BB36C-7C6F-4E11-B3F9-1441D95BF8C7}"/>
              </a:ext>
            </a:extLst>
          </p:cNvPr>
          <p:cNvSpPr>
            <a:spLocks xmlns:a="http://schemas.openxmlformats.org/drawingml/2006/main" noGrp="1"/>
          </p:cNvSpPr>
          <p:nvPr/>
        </p:nvSpPr>
        <p:spPr>
          <a:xfrm xmlns:a="http://schemas.openxmlformats.org/drawingml/2006/main">
            <a:off x="7839075" y="50196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C8D1C8"/>
                </a:solidFill>
              </a:defRPr>
            </a:pPr>
            <a:r>
              <a:rPr sz="1200" b="0">
                <a:solidFill>
                  <a:srgbClr val="C8D1C8"/>
                </a:solidFill>
              </a:rPr>
              <a:t>Next eligible: GPT-5.6 Sol</a:t>
            </a:r>
          </a:p>
          <a:p xmlns:a="http://schemas.openxmlformats.org/drawingml/2006/main">
            <a:pPr algn="l">
              <a:buNone/>
              <a:defRPr sz="1200" b="0">
                <a:solidFill>
                  <a:srgbClr val="C8D1C8"/>
                </a:solidFill>
              </a:defRPr>
            </a:pPr>
            <a:r>
              <a:rPr sz="1200" b="0">
                <a:solidFill>
                  <a:srgbClr val="C8D1C8"/>
                </a:solidFill>
              </a:rPr>
              <a:t>+$0.1141 / task</a:t>
            </a:r>
          </a:p>
        </p:txBody>
      </p:sp>
      <p:sp>
        <p:nvSpPr>
          <p:cNvPr id="12" name="">
            <a:extLst xmlns:a="http://schemas.openxmlformats.org/drawingml/2006/main">
              <a:ext uri="{FF2B5EF4-FFF2-40B4-BE49-F238E27FC236}">
                <a16:creationId xmlns:a16="http://schemas.microsoft.com/office/drawing/2014/main" id="{7B66A534-5804-4D8F-88C9-1D5CC77C835D}"/>
              </a:ext>
            </a:extLst>
          </p:cNvPr>
          <p:cNvSpPr>
            <a:spLocks xmlns:a="http://schemas.openxmlformats.org/drawingml/2006/main" noGrp="1"/>
          </p:cNvSpPr>
          <p:nvPr/>
        </p:nvSpPr>
        <p:spPr>
          <a:xfrm xmlns:a="http://schemas.openxmlformats.org/drawingml/2006/main">
            <a:off x="685800" y="581025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0">
                <a:solidFill>
                  <a:srgbClr val="687068"/>
                </a:solidFill>
              </a:defRPr>
            </a:pPr>
            <a:r>
              <a:rPr sz="900" b="0">
                <a:solidFill>
                  <a:srgbClr val="687068"/>
                </a:solidFill>
              </a:rPr>
              <a:t>Chart shows cents per completed task. Prices are published facts; output and retry profiles are planning heuristics.</a:t>
            </a:r>
          </a:p>
        </p:txBody>
      </p:sp>
      <p:sp>
        <p:nvSpPr>
          <p:cNvPr id="13" name="">
            <a:extLst xmlns:a="http://schemas.openxmlformats.org/drawingml/2006/main">
              <a:ext uri="{FF2B5EF4-FFF2-40B4-BE49-F238E27FC236}">
                <a16:creationId xmlns:a16="http://schemas.microsoft.com/office/drawing/2014/main" id="{96258D09-935E-467E-AAC5-A0CBCFC83D85}"/>
              </a:ext>
            </a:extLst>
          </p:cNvPr>
          <p:cNvSpPr>
            <a:spLocks xmlns:a="http://schemas.openxmlformats.org/drawingml/2006/main" noGrp="1"/>
          </p:cNvSpPr>
          <p:nvPr/>
        </p:nvSpPr>
        <p:spPr>
          <a:xfrm xmlns:a="http://schemas.openxmlformats.org/drawingml/2006/main">
            <a:off x="6858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687068"/>
                </a:solidFill>
              </a:defRPr>
            </a:pPr>
            <a:r>
              <a:rPr sz="825" b="1">
                <a:solidFill>
                  <a:srgbClr val="687068"/>
                </a:solidFill>
              </a:rPr>
              <a:t>AI BUILD CREW · BADLABZ.COM</a:t>
            </a:r>
          </a:p>
        </p:txBody>
      </p:sp>
      <p:sp>
        <p:nvSpPr>
          <p:cNvPr id="14" name="">
            <a:extLst xmlns:a="http://schemas.openxmlformats.org/drawingml/2006/main">
              <a:ext uri="{FF2B5EF4-FFF2-40B4-BE49-F238E27FC236}">
                <a16:creationId xmlns:a16="http://schemas.microsoft.com/office/drawing/2014/main" id="{AB2C5B3F-B75C-4DDB-970E-DA5670E9C665}"/>
              </a:ext>
            </a:extLst>
          </p:cNvPr>
          <p:cNvSpPr>
            <a:spLocks xmlns:a="http://schemas.openxmlformats.org/drawingml/2006/main" noGrp="1"/>
          </p:cNvSpPr>
          <p:nvPr/>
        </p:nvSpPr>
        <p:spPr>
          <a:xfrm xmlns:a="http://schemas.openxmlformats.org/drawingml/2006/main">
            <a:off x="10858500" y="6496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F7BFF"/>
                </a:solidFill>
              </a:defRPr>
            </a:pPr>
            <a:r>
              <a:rPr sz="825" b="1">
                <a:solidFill>
                  <a:srgbClr val="8F7BFF"/>
                </a:solidFill>
              </a:rPr>
              <a:t>05</a:t>
            </a:r>
          </a:p>
        </p:txBody>
      </p:sp>
    </p:spTree>
    <p:extLst>
      <p:ext uri="{BB962C8B-B14F-4D97-AF65-F5344CB8AC3E}">
        <p14:creationId xmlns:p14="http://schemas.microsoft.com/office/powerpoint/2010/main" val="1013574740"/>
      </p:ext>
    </p:extLst>
  </p:cSld>
</p:sld>
</file>

<file path=ppt/slides/slide6.xml><?xml version="1.0" encoding="utf-8"?>
<p:sld xmlns:p="http://schemas.openxmlformats.org/presentationml/2006/main">
  <p:cSld>
    <p:bg>
      <p:bgPr>
        <a:solidFill xmlns:a="http://schemas.openxmlformats.org/drawingml/2006/main">
          <a:srgbClr val="15201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C553D6B-F6E1-4C23-94F8-0C2E979C37E8}"/>
              </a:ext>
            </a:extLst>
          </p:cNvPr>
          <p:cNvSpPr>
            <a:spLocks xmlns:a="http://schemas.openxmlformats.org/drawingml/2006/main" noGrp="1"/>
          </p:cNvSpPr>
          <p:nvPr/>
        </p:nvSpPr>
        <p:spPr>
          <a:xfrm xmlns:a="http://schemas.openxmlformats.org/drawingml/2006/main">
            <a:off x="685800" y="457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05</a:t>
            </a:r>
          </a:p>
        </p:txBody>
      </p:sp>
      <p:sp>
        <p:nvSpPr>
          <p:cNvPr id="2" name="">
            <a:extLst xmlns:a="http://schemas.openxmlformats.org/drawingml/2006/main">
              <a:ext uri="{FF2B5EF4-FFF2-40B4-BE49-F238E27FC236}">
                <a16:creationId xmlns:a16="http://schemas.microsoft.com/office/drawing/2014/main" id="{8A548264-5D78-4063-AE84-D74A11F20831}"/>
              </a:ext>
            </a:extLst>
          </p:cNvPr>
          <p:cNvSpPr>
            <a:spLocks xmlns:a="http://schemas.openxmlformats.org/drawingml/2006/main" noGrp="1"/>
          </p:cNvSpPr>
          <p:nvPr/>
        </p:nvSpPr>
        <p:spPr>
          <a:xfrm xmlns:a="http://schemas.openxmlformats.org/drawingml/2006/main">
            <a:off x="12192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FFFFFF"/>
                </a:solidFill>
              </a:defRPr>
            </a:pPr>
            <a:r>
              <a:rPr sz="975" b="1">
                <a:solidFill>
                  <a:srgbClr val="FFFFFF"/>
                </a:solidFill>
              </a:rPr>
              <a:t>AGENTIC WORKFLOW · HONEST BOUNDARY</a:t>
            </a:r>
          </a:p>
        </p:txBody>
      </p:sp>
      <p:sp>
        <p:nvSpPr>
          <p:cNvPr id="3" name="">
            <a:extLst xmlns:a="http://schemas.openxmlformats.org/drawingml/2006/main">
              <a:ext uri="{FF2B5EF4-FFF2-40B4-BE49-F238E27FC236}">
                <a16:creationId xmlns:a16="http://schemas.microsoft.com/office/drawing/2014/main" id="{EA4DD615-451E-4118-B330-1B17291F0392}"/>
              </a:ext>
            </a:extLst>
          </p:cNvPr>
          <p:cNvSpPr>
            <a:spLocks xmlns:a="http://schemas.openxmlformats.org/drawingml/2006/main" noGrp="1"/>
          </p:cNvSpPr>
          <p:nvPr/>
        </p:nvSpPr>
        <p:spPr>
          <a:xfrm xmlns:a="http://schemas.openxmlformats.org/drawingml/2006/main">
            <a:off x="685800" y="781050"/>
            <a:ext cx="10820400" cy="19050"/>
          </a:xfrm>
          <a:prstGeom xmlns:a="http://schemas.openxmlformats.org/drawingml/2006/main" prst="rect">
            <a:avLst/>
          </a:prstGeom>
          <a:solidFill xmlns:a="http://schemas.openxmlformats.org/drawingml/2006/main">
            <a:srgbClr val="40504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CBBBB8-4104-412D-B784-5FC1F100316D}"/>
              </a:ext>
            </a:extLst>
          </p:cNvPr>
          <p:cNvSpPr>
            <a:spLocks xmlns:a="http://schemas.openxmlformats.org/drawingml/2006/main" noGrp="1"/>
          </p:cNvSpPr>
          <p:nvPr/>
        </p:nvSpPr>
        <p:spPr>
          <a:xfrm xmlns:a="http://schemas.openxmlformats.org/drawingml/2006/main">
            <a:off x="685800" y="1095375"/>
            <a:ext cx="619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450" b="1">
                <a:solidFill>
                  <a:srgbClr val="FFFFFF"/>
                </a:solidFill>
              </a:defRPr>
            </a:pPr>
            <a:r>
              <a:rPr sz="3450" b="1">
                <a:solidFill>
                  <a:srgbClr val="FFFFFF"/>
                </a:solidFill>
              </a:rPr>
              <a:t>One Decision Orchestrator.</a:t>
            </a:r>
          </a:p>
          <a:p xmlns:a="http://schemas.openxmlformats.org/drawingml/2006/main">
            <a:pPr algn="l">
              <a:buNone/>
              <a:defRPr sz="3450" b="1">
                <a:solidFill>
                  <a:srgbClr val="FFFFFF"/>
                </a:solidFill>
              </a:defRPr>
            </a:pPr>
            <a:r>
              <a:rPr sz="3450" b="1">
                <a:solidFill>
                  <a:srgbClr val="FFFFFF"/>
                </a:solidFill>
              </a:rPr>
              <a:t>Hard-bordered specialist stages.</a:t>
            </a:r>
          </a:p>
        </p:txBody>
      </p:sp>
      <p:sp>
        <p:nvSpPr>
          <p:cNvPr id="5" name="">
            <a:extLst xmlns:a="http://schemas.openxmlformats.org/drawingml/2006/main">
              <a:ext uri="{FF2B5EF4-FFF2-40B4-BE49-F238E27FC236}">
                <a16:creationId xmlns:a16="http://schemas.microsoft.com/office/drawing/2014/main" id="{96F1FD02-CAA2-4996-94C1-9C8C87D775C4}"/>
              </a:ext>
            </a:extLst>
          </p:cNvPr>
          <p:cNvSpPr>
            <a:spLocks xmlns:a="http://schemas.openxmlformats.org/drawingml/2006/main" noGrp="1"/>
          </p:cNvSpPr>
          <p:nvPr/>
        </p:nvSpPr>
        <p:spPr>
          <a:xfrm xmlns:a="http://schemas.openxmlformats.org/drawingml/2006/main">
            <a:off x="685800" y="3048000"/>
            <a:ext cx="1524000" cy="1666875"/>
          </a:xfrm>
          <a:prstGeom xmlns:a="http://schemas.openxmlformats.org/drawingml/2006/main" prst="roundRect">
            <a:avLst>
              <a:gd name="adj" fmla="val 11250"/>
            </a:avLst>
          </a:prstGeom>
          <a:solidFill xmlns:a="http://schemas.openxmlformats.org/drawingml/2006/main">
            <a:srgbClr val="223022"/>
          </a:solidFill>
          <a:ln xmlns:a="http://schemas.openxmlformats.org/drawingml/2006/main" w="9525">
            <a:solidFill>
              <a:srgbClr val="455345"/>
            </a:solidFill>
            <a:prstDash val="solid"/>
          </a:ln>
        </p:spPr>
      </p:sp>
      <p:sp>
        <p:nvSpPr>
          <p:cNvPr id="6" name="">
            <a:extLst xmlns:a="http://schemas.openxmlformats.org/drawingml/2006/main">
              <a:ext uri="{FF2B5EF4-FFF2-40B4-BE49-F238E27FC236}">
                <a16:creationId xmlns:a16="http://schemas.microsoft.com/office/drawing/2014/main" id="{137F0DB5-FA6F-46E7-A72D-A461AD5B31A5}"/>
              </a:ext>
            </a:extLst>
          </p:cNvPr>
          <p:cNvSpPr>
            <a:spLocks xmlns:a="http://schemas.openxmlformats.org/drawingml/2006/main" noGrp="1"/>
          </p:cNvSpPr>
          <p:nvPr/>
        </p:nvSpPr>
        <p:spPr>
          <a:xfrm xmlns:a="http://schemas.openxmlformats.org/drawingml/2006/main">
            <a:off x="857250" y="3238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D8FF55"/>
                </a:solidFill>
              </a:defRPr>
            </a:pPr>
            <a:r>
              <a:rPr sz="900" b="1">
                <a:solidFill>
                  <a:srgbClr val="D8FF55"/>
                </a:solidFill>
              </a:rPr>
              <a:t>01</a:t>
            </a:r>
          </a:p>
        </p:txBody>
      </p:sp>
      <p:sp>
        <p:nvSpPr>
          <p:cNvPr id="7" name="">
            <a:extLst xmlns:a="http://schemas.openxmlformats.org/drawingml/2006/main">
              <a:ext uri="{FF2B5EF4-FFF2-40B4-BE49-F238E27FC236}">
                <a16:creationId xmlns:a16="http://schemas.microsoft.com/office/drawing/2014/main" id="{4B6A99AC-429C-4A8A-B1BC-7551C22CDDE3}"/>
              </a:ext>
            </a:extLst>
          </p:cNvPr>
          <p:cNvSpPr>
            <a:spLocks xmlns:a="http://schemas.openxmlformats.org/drawingml/2006/main" noGrp="1"/>
          </p:cNvSpPr>
          <p:nvPr/>
        </p:nvSpPr>
        <p:spPr>
          <a:xfrm xmlns:a="http://schemas.openxmlformats.org/drawingml/2006/main">
            <a:off x="857250" y="3657600"/>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FFFFFF"/>
                </a:solidFill>
              </a:defRPr>
            </a:pPr>
            <a:r>
              <a:rPr sz="1050" b="1">
                <a:solidFill>
                  <a:srgbClr val="FFFFFF"/>
                </a:solidFill>
              </a:rPr>
              <a:t>ESTIMATE</a:t>
            </a:r>
          </a:p>
        </p:txBody>
      </p:sp>
      <p:sp>
        <p:nvSpPr>
          <p:cNvPr id="8" name="">
            <a:extLst xmlns:a="http://schemas.openxmlformats.org/drawingml/2006/main">
              <a:ext uri="{FF2B5EF4-FFF2-40B4-BE49-F238E27FC236}">
                <a16:creationId xmlns:a16="http://schemas.microsoft.com/office/drawing/2014/main" id="{58948618-01E0-4D47-A98E-9E2C88B3AD91}"/>
              </a:ext>
            </a:extLst>
          </p:cNvPr>
          <p:cNvSpPr>
            <a:spLocks xmlns:a="http://schemas.openxmlformats.org/drawingml/2006/main" noGrp="1"/>
          </p:cNvSpPr>
          <p:nvPr/>
        </p:nvSpPr>
        <p:spPr>
          <a:xfrm xmlns:a="http://schemas.openxmlformats.org/drawingml/2006/main">
            <a:off x="857250" y="4095750"/>
            <a:ext cx="119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C8D1C8"/>
                </a:solidFill>
              </a:defRPr>
            </a:pPr>
            <a:r>
              <a:rPr sz="1050" b="0">
                <a:solidFill>
                  <a:srgbClr val="C8D1C8"/>
                </a:solidFill>
              </a:rPr>
              <a:t>Confirms facts + formats</a:t>
            </a:r>
          </a:p>
        </p:txBody>
      </p:sp>
      <p:sp>
        <p:nvSpPr>
          <p:cNvPr id="9" name="">
            <a:extLst xmlns:a="http://schemas.openxmlformats.org/drawingml/2006/main">
              <a:ext uri="{FF2B5EF4-FFF2-40B4-BE49-F238E27FC236}">
                <a16:creationId xmlns:a16="http://schemas.microsoft.com/office/drawing/2014/main" id="{40BCF2A3-B492-40B8-B3D0-8B92943D7EAE}"/>
              </a:ext>
            </a:extLst>
          </p:cNvPr>
          <p:cNvSpPr>
            <a:spLocks xmlns:a="http://schemas.openxmlformats.org/drawingml/2006/main" noGrp="1"/>
          </p:cNvSpPr>
          <p:nvPr/>
        </p:nvSpPr>
        <p:spPr>
          <a:xfrm xmlns:a="http://schemas.openxmlformats.org/drawingml/2006/main">
            <a:off x="2466975" y="3048000"/>
            <a:ext cx="1524000" cy="1666875"/>
          </a:xfrm>
          <a:prstGeom xmlns:a="http://schemas.openxmlformats.org/drawingml/2006/main" prst="roundRect">
            <a:avLst>
              <a:gd name="adj" fmla="val 11250"/>
            </a:avLst>
          </a:prstGeom>
          <a:solidFill xmlns:a="http://schemas.openxmlformats.org/drawingml/2006/main">
            <a:srgbClr val="223022"/>
          </a:solidFill>
          <a:ln xmlns:a="http://schemas.openxmlformats.org/drawingml/2006/main" w="9525">
            <a:solidFill>
              <a:srgbClr val="455345"/>
            </a:solidFill>
            <a:prstDash val="solid"/>
          </a:ln>
        </p:spPr>
      </p:sp>
      <p:sp>
        <p:nvSpPr>
          <p:cNvPr id="10" name="">
            <a:extLst xmlns:a="http://schemas.openxmlformats.org/drawingml/2006/main">
              <a:ext uri="{FF2B5EF4-FFF2-40B4-BE49-F238E27FC236}">
                <a16:creationId xmlns:a16="http://schemas.microsoft.com/office/drawing/2014/main" id="{1A16C494-524D-41A3-B6CE-CFF67AFA3618}"/>
              </a:ext>
            </a:extLst>
          </p:cNvPr>
          <p:cNvSpPr>
            <a:spLocks xmlns:a="http://schemas.openxmlformats.org/drawingml/2006/main" noGrp="1"/>
          </p:cNvSpPr>
          <p:nvPr/>
        </p:nvSpPr>
        <p:spPr>
          <a:xfrm xmlns:a="http://schemas.openxmlformats.org/drawingml/2006/main">
            <a:off x="2638425" y="3238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8F7BFF"/>
                </a:solidFill>
              </a:defRPr>
            </a:pPr>
            <a:r>
              <a:rPr sz="900" b="1">
                <a:solidFill>
                  <a:srgbClr val="8F7BFF"/>
                </a:solidFill>
              </a:rPr>
              <a:t>02</a:t>
            </a:r>
          </a:p>
        </p:txBody>
      </p:sp>
      <p:sp>
        <p:nvSpPr>
          <p:cNvPr id="11" name="">
            <a:extLst xmlns:a="http://schemas.openxmlformats.org/drawingml/2006/main">
              <a:ext uri="{FF2B5EF4-FFF2-40B4-BE49-F238E27FC236}">
                <a16:creationId xmlns:a16="http://schemas.microsoft.com/office/drawing/2014/main" id="{F029AA08-A6B3-4526-8D3A-7A6977D08A67}"/>
              </a:ext>
            </a:extLst>
          </p:cNvPr>
          <p:cNvSpPr>
            <a:spLocks xmlns:a="http://schemas.openxmlformats.org/drawingml/2006/main" noGrp="1"/>
          </p:cNvSpPr>
          <p:nvPr/>
        </p:nvSpPr>
        <p:spPr>
          <a:xfrm xmlns:a="http://schemas.openxmlformats.org/drawingml/2006/main">
            <a:off x="2638425" y="3657600"/>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FFFFFF"/>
                </a:solidFill>
              </a:defRPr>
            </a:pPr>
            <a:r>
              <a:rPr sz="1050" b="1">
                <a:solidFill>
                  <a:srgbClr val="FFFFFF"/>
                </a:solidFill>
              </a:rPr>
              <a:t>COST EVAL</a:t>
            </a:r>
          </a:p>
        </p:txBody>
      </p:sp>
      <p:sp>
        <p:nvSpPr>
          <p:cNvPr id="12" name="">
            <a:extLst xmlns:a="http://schemas.openxmlformats.org/drawingml/2006/main">
              <a:ext uri="{FF2B5EF4-FFF2-40B4-BE49-F238E27FC236}">
                <a16:creationId xmlns:a16="http://schemas.microsoft.com/office/drawing/2014/main" id="{D88E9A1E-8003-49F4-9871-B13628242017}"/>
              </a:ext>
            </a:extLst>
          </p:cNvPr>
          <p:cNvSpPr>
            <a:spLocks xmlns:a="http://schemas.openxmlformats.org/drawingml/2006/main" noGrp="1"/>
          </p:cNvSpPr>
          <p:nvPr/>
        </p:nvSpPr>
        <p:spPr>
          <a:xfrm xmlns:a="http://schemas.openxmlformats.org/drawingml/2006/main">
            <a:off x="2638425" y="4095750"/>
            <a:ext cx="119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C8D1C8"/>
                </a:solidFill>
              </a:defRPr>
            </a:pPr>
            <a:r>
              <a:rPr sz="1050" b="0">
                <a:solidFill>
                  <a:srgbClr val="C8D1C8"/>
                </a:solidFill>
              </a:rPr>
              <a:t>Independent ledger</a:t>
            </a:r>
          </a:p>
        </p:txBody>
      </p:sp>
      <p:sp>
        <p:nvSpPr>
          <p:cNvPr id="13" name="">
            <a:extLst xmlns:a="http://schemas.openxmlformats.org/drawingml/2006/main">
              <a:ext uri="{FF2B5EF4-FFF2-40B4-BE49-F238E27FC236}">
                <a16:creationId xmlns:a16="http://schemas.microsoft.com/office/drawing/2014/main" id="{20798DAA-E978-4E3E-98F0-7842B1B1CE65}"/>
              </a:ext>
            </a:extLst>
          </p:cNvPr>
          <p:cNvSpPr>
            <a:spLocks xmlns:a="http://schemas.openxmlformats.org/drawingml/2006/main" noGrp="1"/>
          </p:cNvSpPr>
          <p:nvPr/>
        </p:nvSpPr>
        <p:spPr>
          <a:xfrm xmlns:a="http://schemas.openxmlformats.org/drawingml/2006/main">
            <a:off x="4248150" y="3048000"/>
            <a:ext cx="1524000" cy="1666875"/>
          </a:xfrm>
          <a:prstGeom xmlns:a="http://schemas.openxmlformats.org/drawingml/2006/main" prst="roundRect">
            <a:avLst>
              <a:gd name="adj" fmla="val 11250"/>
            </a:avLst>
          </a:prstGeom>
          <a:solidFill xmlns:a="http://schemas.openxmlformats.org/drawingml/2006/main">
            <a:srgbClr val="223022"/>
          </a:solidFill>
          <a:ln xmlns:a="http://schemas.openxmlformats.org/drawingml/2006/main" w="9525">
            <a:solidFill>
              <a:srgbClr val="455345"/>
            </a:solidFill>
            <a:prstDash val="solid"/>
          </a:ln>
        </p:spPr>
      </p:sp>
      <p:sp>
        <p:nvSpPr>
          <p:cNvPr id="14" name="">
            <a:extLst xmlns:a="http://schemas.openxmlformats.org/drawingml/2006/main">
              <a:ext uri="{FF2B5EF4-FFF2-40B4-BE49-F238E27FC236}">
                <a16:creationId xmlns:a16="http://schemas.microsoft.com/office/drawing/2014/main" id="{1F47C2F3-A785-41FA-9584-6CBB9E20BC02}"/>
              </a:ext>
            </a:extLst>
          </p:cNvPr>
          <p:cNvSpPr>
            <a:spLocks xmlns:a="http://schemas.openxmlformats.org/drawingml/2006/main" noGrp="1"/>
          </p:cNvSpPr>
          <p:nvPr/>
        </p:nvSpPr>
        <p:spPr>
          <a:xfrm xmlns:a="http://schemas.openxmlformats.org/drawingml/2006/main">
            <a:off x="4419600" y="3238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FF8159"/>
                </a:solidFill>
              </a:defRPr>
            </a:pPr>
            <a:r>
              <a:rPr sz="900" b="1">
                <a:solidFill>
                  <a:srgbClr val="FF8159"/>
                </a:solidFill>
              </a:rPr>
              <a:t>03</a:t>
            </a:r>
          </a:p>
        </p:txBody>
      </p:sp>
      <p:sp>
        <p:nvSpPr>
          <p:cNvPr id="15" name="">
            <a:extLst xmlns:a="http://schemas.openxmlformats.org/drawingml/2006/main">
              <a:ext uri="{FF2B5EF4-FFF2-40B4-BE49-F238E27FC236}">
                <a16:creationId xmlns:a16="http://schemas.microsoft.com/office/drawing/2014/main" id="{06553089-7474-4DD8-A366-961A1948DED8}"/>
              </a:ext>
            </a:extLst>
          </p:cNvPr>
          <p:cNvSpPr>
            <a:spLocks xmlns:a="http://schemas.openxmlformats.org/drawingml/2006/main" noGrp="1"/>
          </p:cNvSpPr>
          <p:nvPr/>
        </p:nvSpPr>
        <p:spPr>
          <a:xfrm xmlns:a="http://schemas.openxmlformats.org/drawingml/2006/main">
            <a:off x="4419600" y="3657600"/>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FFFFFF"/>
                </a:solidFill>
              </a:defRPr>
            </a:pPr>
            <a:r>
              <a:rPr sz="1050" b="1">
                <a:solidFill>
                  <a:srgbClr val="FFFFFF"/>
                </a:solidFill>
              </a:rPr>
              <a:t>ELIGIBILITY</a:t>
            </a:r>
          </a:p>
        </p:txBody>
      </p:sp>
      <p:sp>
        <p:nvSpPr>
          <p:cNvPr id="16" name="">
            <a:extLst xmlns:a="http://schemas.openxmlformats.org/drawingml/2006/main">
              <a:ext uri="{FF2B5EF4-FFF2-40B4-BE49-F238E27FC236}">
                <a16:creationId xmlns:a16="http://schemas.microsoft.com/office/drawing/2014/main" id="{4BD3E9F9-86A8-49B2-AEC7-A525F4A59C42}"/>
              </a:ext>
            </a:extLst>
          </p:cNvPr>
          <p:cNvSpPr>
            <a:spLocks xmlns:a="http://schemas.openxmlformats.org/drawingml/2006/main" noGrp="1"/>
          </p:cNvSpPr>
          <p:nvPr/>
        </p:nvSpPr>
        <p:spPr>
          <a:xfrm xmlns:a="http://schemas.openxmlformats.org/drawingml/2006/main">
            <a:off x="4419600" y="4095750"/>
            <a:ext cx="119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C8D1C8"/>
                </a:solidFill>
              </a:defRPr>
            </a:pPr>
            <a:r>
              <a:rPr sz="1050" b="0">
                <a:solidFill>
                  <a:srgbClr val="C8D1C8"/>
                </a:solidFill>
              </a:rPr>
              <a:t>Filters rule failures</a:t>
            </a:r>
          </a:p>
        </p:txBody>
      </p:sp>
      <p:sp>
        <p:nvSpPr>
          <p:cNvPr id="17" name="">
            <a:extLst xmlns:a="http://schemas.openxmlformats.org/drawingml/2006/main">
              <a:ext uri="{FF2B5EF4-FFF2-40B4-BE49-F238E27FC236}">
                <a16:creationId xmlns:a16="http://schemas.microsoft.com/office/drawing/2014/main" id="{FA044EE6-A973-464A-8DE6-0F5C47476EBA}"/>
              </a:ext>
            </a:extLst>
          </p:cNvPr>
          <p:cNvSpPr>
            <a:spLocks xmlns:a="http://schemas.openxmlformats.org/drawingml/2006/main" noGrp="1"/>
          </p:cNvSpPr>
          <p:nvPr/>
        </p:nvSpPr>
        <p:spPr>
          <a:xfrm xmlns:a="http://schemas.openxmlformats.org/drawingml/2006/main">
            <a:off x="6029325" y="3048000"/>
            <a:ext cx="1524000" cy="1666875"/>
          </a:xfrm>
          <a:prstGeom xmlns:a="http://schemas.openxmlformats.org/drawingml/2006/main" prst="roundRect">
            <a:avLst>
              <a:gd name="adj" fmla="val 11250"/>
            </a:avLst>
          </a:prstGeom>
          <a:solidFill xmlns:a="http://schemas.openxmlformats.org/drawingml/2006/main">
            <a:srgbClr val="223022"/>
          </a:solidFill>
          <a:ln xmlns:a="http://schemas.openxmlformats.org/drawingml/2006/main" w="9525">
            <a:solidFill>
              <a:srgbClr val="455345"/>
            </a:solidFill>
            <a:prstDash val="solid"/>
          </a:ln>
        </p:spPr>
      </p:sp>
      <p:sp>
        <p:nvSpPr>
          <p:cNvPr id="18" name="">
            <a:extLst xmlns:a="http://schemas.openxmlformats.org/drawingml/2006/main">
              <a:ext uri="{FF2B5EF4-FFF2-40B4-BE49-F238E27FC236}">
                <a16:creationId xmlns:a16="http://schemas.microsoft.com/office/drawing/2014/main" id="{C0AF604B-FAE1-46F5-89CD-AF9CA900342E}"/>
              </a:ext>
            </a:extLst>
          </p:cNvPr>
          <p:cNvSpPr>
            <a:spLocks xmlns:a="http://schemas.openxmlformats.org/drawingml/2006/main" noGrp="1"/>
          </p:cNvSpPr>
          <p:nvPr/>
        </p:nvSpPr>
        <p:spPr>
          <a:xfrm xmlns:a="http://schemas.openxmlformats.org/drawingml/2006/main">
            <a:off x="6200775" y="3238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D8FF55"/>
                </a:solidFill>
              </a:defRPr>
            </a:pPr>
            <a:r>
              <a:rPr sz="900" b="1">
                <a:solidFill>
                  <a:srgbClr val="D8FF55"/>
                </a:solidFill>
              </a:rPr>
              <a:t>04</a:t>
            </a:r>
          </a:p>
        </p:txBody>
      </p:sp>
      <p:sp>
        <p:nvSpPr>
          <p:cNvPr id="19" name="">
            <a:extLst xmlns:a="http://schemas.openxmlformats.org/drawingml/2006/main">
              <a:ext uri="{FF2B5EF4-FFF2-40B4-BE49-F238E27FC236}">
                <a16:creationId xmlns:a16="http://schemas.microsoft.com/office/drawing/2014/main" id="{84D17153-0F79-465B-8E65-0F2A102F6A03}"/>
              </a:ext>
            </a:extLst>
          </p:cNvPr>
          <p:cNvSpPr>
            <a:spLocks xmlns:a="http://schemas.openxmlformats.org/drawingml/2006/main" noGrp="1"/>
          </p:cNvSpPr>
          <p:nvPr/>
        </p:nvSpPr>
        <p:spPr>
          <a:xfrm xmlns:a="http://schemas.openxmlformats.org/drawingml/2006/main">
            <a:off x="6200775" y="3657600"/>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FFFFFF"/>
                </a:solidFill>
              </a:defRPr>
            </a:pPr>
            <a:r>
              <a:rPr sz="1050" b="1">
                <a:solidFill>
                  <a:srgbClr val="FFFFFF"/>
                </a:solidFill>
              </a:rPr>
              <a:t>AUDIT</a:t>
            </a:r>
          </a:p>
        </p:txBody>
      </p:sp>
      <p:sp>
        <p:nvSpPr>
          <p:cNvPr id="20" name="">
            <a:extLst xmlns:a="http://schemas.openxmlformats.org/drawingml/2006/main">
              <a:ext uri="{FF2B5EF4-FFF2-40B4-BE49-F238E27FC236}">
                <a16:creationId xmlns:a16="http://schemas.microsoft.com/office/drawing/2014/main" id="{156A8EC0-5428-4CE4-86DB-4547A061B82D}"/>
              </a:ext>
            </a:extLst>
          </p:cNvPr>
          <p:cNvSpPr>
            <a:spLocks xmlns:a="http://schemas.openxmlformats.org/drawingml/2006/main" noGrp="1"/>
          </p:cNvSpPr>
          <p:nvPr/>
        </p:nvSpPr>
        <p:spPr>
          <a:xfrm xmlns:a="http://schemas.openxmlformats.org/drawingml/2006/main">
            <a:off x="6200775" y="4095750"/>
            <a:ext cx="119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C8D1C8"/>
                </a:solidFill>
              </a:defRPr>
            </a:pPr>
            <a:r>
              <a:rPr sz="1050" b="0">
                <a:solidFill>
                  <a:srgbClr val="C8D1C8"/>
                </a:solidFill>
              </a:rPr>
              <a:t>Checks versions + invariants</a:t>
            </a:r>
          </a:p>
        </p:txBody>
      </p:sp>
      <p:sp>
        <p:nvSpPr>
          <p:cNvPr id="21" name="">
            <a:extLst xmlns:a="http://schemas.openxmlformats.org/drawingml/2006/main">
              <a:ext uri="{FF2B5EF4-FFF2-40B4-BE49-F238E27FC236}">
                <a16:creationId xmlns:a16="http://schemas.microsoft.com/office/drawing/2014/main" id="{E6848313-6EC6-4AB0-BCB7-DD2F6DACB709}"/>
              </a:ext>
            </a:extLst>
          </p:cNvPr>
          <p:cNvSpPr>
            <a:spLocks xmlns:a="http://schemas.openxmlformats.org/drawingml/2006/main" noGrp="1"/>
          </p:cNvSpPr>
          <p:nvPr/>
        </p:nvSpPr>
        <p:spPr>
          <a:xfrm xmlns:a="http://schemas.openxmlformats.org/drawingml/2006/main">
            <a:off x="7810500" y="3048000"/>
            <a:ext cx="1524000" cy="1666875"/>
          </a:xfrm>
          <a:prstGeom xmlns:a="http://schemas.openxmlformats.org/drawingml/2006/main" prst="roundRect">
            <a:avLst>
              <a:gd name="adj" fmla="val 11250"/>
            </a:avLst>
          </a:prstGeom>
          <a:solidFill xmlns:a="http://schemas.openxmlformats.org/drawingml/2006/main">
            <a:srgbClr val="223022"/>
          </a:solidFill>
          <a:ln xmlns:a="http://schemas.openxmlformats.org/drawingml/2006/main" w="9525">
            <a:solidFill>
              <a:srgbClr val="455345"/>
            </a:solidFill>
            <a:prstDash val="solid"/>
          </a:ln>
        </p:spPr>
      </p:sp>
      <p:sp>
        <p:nvSpPr>
          <p:cNvPr id="22" name="">
            <a:extLst xmlns:a="http://schemas.openxmlformats.org/drawingml/2006/main">
              <a:ext uri="{FF2B5EF4-FFF2-40B4-BE49-F238E27FC236}">
                <a16:creationId xmlns:a16="http://schemas.microsoft.com/office/drawing/2014/main" id="{6A50CBF7-37EE-47F1-8E2C-D928AAA3C6EA}"/>
              </a:ext>
            </a:extLst>
          </p:cNvPr>
          <p:cNvSpPr>
            <a:spLocks xmlns:a="http://schemas.openxmlformats.org/drawingml/2006/main" noGrp="1"/>
          </p:cNvSpPr>
          <p:nvPr/>
        </p:nvSpPr>
        <p:spPr>
          <a:xfrm xmlns:a="http://schemas.openxmlformats.org/drawingml/2006/main">
            <a:off x="7981950" y="3238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8F7BFF"/>
                </a:solidFill>
              </a:defRPr>
            </a:pPr>
            <a:r>
              <a:rPr sz="900" b="1">
                <a:solidFill>
                  <a:srgbClr val="8F7BFF"/>
                </a:solidFill>
              </a:rPr>
              <a:t>05</a:t>
            </a:r>
          </a:p>
        </p:txBody>
      </p:sp>
      <p:sp>
        <p:nvSpPr>
          <p:cNvPr id="23" name="">
            <a:extLst xmlns:a="http://schemas.openxmlformats.org/drawingml/2006/main">
              <a:ext uri="{FF2B5EF4-FFF2-40B4-BE49-F238E27FC236}">
                <a16:creationId xmlns:a16="http://schemas.microsoft.com/office/drawing/2014/main" id="{C7A4F8B1-E43D-450F-9D7F-8B07D1A320A6}"/>
              </a:ext>
            </a:extLst>
          </p:cNvPr>
          <p:cNvSpPr>
            <a:spLocks xmlns:a="http://schemas.openxmlformats.org/drawingml/2006/main" noGrp="1"/>
          </p:cNvSpPr>
          <p:nvPr/>
        </p:nvSpPr>
        <p:spPr>
          <a:xfrm xmlns:a="http://schemas.openxmlformats.org/drawingml/2006/main">
            <a:off x="7981950" y="3657600"/>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FFFFFF"/>
                </a:solidFill>
              </a:defRPr>
            </a:pPr>
            <a:r>
              <a:rPr sz="1050" b="1">
                <a:solidFill>
                  <a:srgbClr val="FFFFFF"/>
                </a:solidFill>
              </a:rPr>
              <a:t>GOVERN</a:t>
            </a:r>
          </a:p>
        </p:txBody>
      </p:sp>
      <p:sp>
        <p:nvSpPr>
          <p:cNvPr id="24" name="">
            <a:extLst xmlns:a="http://schemas.openxmlformats.org/drawingml/2006/main">
              <a:ext uri="{FF2B5EF4-FFF2-40B4-BE49-F238E27FC236}">
                <a16:creationId xmlns:a16="http://schemas.microsoft.com/office/drawing/2014/main" id="{B4A9F002-87D8-4422-A02A-85E4D660A6C5}"/>
              </a:ext>
            </a:extLst>
          </p:cNvPr>
          <p:cNvSpPr>
            <a:spLocks xmlns:a="http://schemas.openxmlformats.org/drawingml/2006/main" noGrp="1"/>
          </p:cNvSpPr>
          <p:nvPr/>
        </p:nvSpPr>
        <p:spPr>
          <a:xfrm xmlns:a="http://schemas.openxmlformats.org/drawingml/2006/main">
            <a:off x="7981950" y="4095750"/>
            <a:ext cx="119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C8D1C8"/>
                </a:solidFill>
              </a:defRPr>
            </a:pPr>
            <a:r>
              <a:rPr sz="1050" b="0">
                <a:solidFill>
                  <a:srgbClr val="C8D1C8"/>
                </a:solidFill>
              </a:rPr>
              <a:t>Blocks failed evidence</a:t>
            </a:r>
          </a:p>
        </p:txBody>
      </p:sp>
      <p:sp>
        <p:nvSpPr>
          <p:cNvPr id="25" name="">
            <a:extLst xmlns:a="http://schemas.openxmlformats.org/drawingml/2006/main">
              <a:ext uri="{FF2B5EF4-FFF2-40B4-BE49-F238E27FC236}">
                <a16:creationId xmlns:a16="http://schemas.microsoft.com/office/drawing/2014/main" id="{61489C50-EF27-423D-8579-42767AF40DB6}"/>
              </a:ext>
            </a:extLst>
          </p:cNvPr>
          <p:cNvSpPr>
            <a:spLocks xmlns:a="http://schemas.openxmlformats.org/drawingml/2006/main" noGrp="1"/>
          </p:cNvSpPr>
          <p:nvPr/>
        </p:nvSpPr>
        <p:spPr>
          <a:xfrm xmlns:a="http://schemas.openxmlformats.org/drawingml/2006/main">
            <a:off x="9591675" y="3048000"/>
            <a:ext cx="1524000" cy="1666875"/>
          </a:xfrm>
          <a:prstGeom xmlns:a="http://schemas.openxmlformats.org/drawingml/2006/main" prst="roundRect">
            <a:avLst>
              <a:gd name="adj" fmla="val 11250"/>
            </a:avLst>
          </a:prstGeom>
          <a:solidFill xmlns:a="http://schemas.openxmlformats.org/drawingml/2006/main">
            <a:srgbClr val="D8FF5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607E68B-F340-41D8-9512-BAB065A482E6}"/>
              </a:ext>
            </a:extLst>
          </p:cNvPr>
          <p:cNvSpPr>
            <a:spLocks xmlns:a="http://schemas.openxmlformats.org/drawingml/2006/main" noGrp="1"/>
          </p:cNvSpPr>
          <p:nvPr/>
        </p:nvSpPr>
        <p:spPr>
          <a:xfrm xmlns:a="http://schemas.openxmlformats.org/drawingml/2006/main">
            <a:off x="9763125" y="3238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52015"/>
                </a:solidFill>
              </a:defRPr>
            </a:pPr>
            <a:r>
              <a:rPr sz="900" b="1">
                <a:solidFill>
                  <a:srgbClr val="152015"/>
                </a:solidFill>
              </a:rPr>
              <a:t>06</a:t>
            </a:r>
          </a:p>
        </p:txBody>
      </p:sp>
      <p:sp>
        <p:nvSpPr>
          <p:cNvPr id="27" name="">
            <a:extLst xmlns:a="http://schemas.openxmlformats.org/drawingml/2006/main">
              <a:ext uri="{FF2B5EF4-FFF2-40B4-BE49-F238E27FC236}">
                <a16:creationId xmlns:a16="http://schemas.microsoft.com/office/drawing/2014/main" id="{12FA8381-87C9-4C8C-B66F-83068E3100DE}"/>
              </a:ext>
            </a:extLst>
          </p:cNvPr>
          <p:cNvSpPr>
            <a:spLocks xmlns:a="http://schemas.openxmlformats.org/drawingml/2006/main" noGrp="1"/>
          </p:cNvSpPr>
          <p:nvPr/>
        </p:nvSpPr>
        <p:spPr>
          <a:xfrm xmlns:a="http://schemas.openxmlformats.org/drawingml/2006/main">
            <a:off x="9763125" y="3657600"/>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52015"/>
                </a:solidFill>
              </a:defRPr>
            </a:pPr>
            <a:r>
              <a:rPr sz="1050" b="1">
                <a:solidFill>
                  <a:srgbClr val="152015"/>
                </a:solidFill>
              </a:rPr>
              <a:t>DECIDE</a:t>
            </a:r>
          </a:p>
        </p:txBody>
      </p:sp>
      <p:sp>
        <p:nvSpPr>
          <p:cNvPr id="28" name="">
            <a:extLst xmlns:a="http://schemas.openxmlformats.org/drawingml/2006/main">
              <a:ext uri="{FF2B5EF4-FFF2-40B4-BE49-F238E27FC236}">
                <a16:creationId xmlns:a16="http://schemas.microsoft.com/office/drawing/2014/main" id="{B98F5683-0D97-4094-A83B-0A0EC6739306}"/>
              </a:ext>
            </a:extLst>
          </p:cNvPr>
          <p:cNvSpPr>
            <a:spLocks xmlns:a="http://schemas.openxmlformats.org/drawingml/2006/main" noGrp="1"/>
          </p:cNvSpPr>
          <p:nvPr/>
        </p:nvSpPr>
        <p:spPr>
          <a:xfrm xmlns:a="http://schemas.openxmlformats.org/drawingml/2006/main">
            <a:off x="9763125" y="4095750"/>
            <a:ext cx="1190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152015"/>
                </a:solidFill>
              </a:defRPr>
            </a:pPr>
            <a:r>
              <a:rPr sz="1050" b="0">
                <a:solidFill>
                  <a:srgbClr val="152015"/>
                </a:solidFill>
              </a:rPr>
              <a:t>Human owns judgment</a:t>
            </a:r>
          </a:p>
        </p:txBody>
      </p:sp>
      <p:sp>
        <p:nvSpPr>
          <p:cNvPr id="29" name="">
            <a:extLst xmlns:a="http://schemas.openxmlformats.org/drawingml/2006/main">
              <a:ext uri="{FF2B5EF4-FFF2-40B4-BE49-F238E27FC236}">
                <a16:creationId xmlns:a16="http://schemas.microsoft.com/office/drawing/2014/main" id="{255768F6-867A-426D-8DC3-D5C1E189EFF5}"/>
              </a:ext>
            </a:extLst>
          </p:cNvPr>
          <p:cNvSpPr>
            <a:spLocks xmlns:a="http://schemas.openxmlformats.org/drawingml/2006/main" noGrp="1"/>
          </p:cNvSpPr>
          <p:nvPr/>
        </p:nvSpPr>
        <p:spPr>
          <a:xfrm xmlns:a="http://schemas.openxmlformats.org/drawingml/2006/main">
            <a:off x="685800" y="5286375"/>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D8FF55"/>
                </a:solidFill>
              </a:defRPr>
            </a:pPr>
            <a:r>
              <a:rPr sz="1725" b="1">
                <a:solidFill>
                  <a:srgbClr val="D8FF55"/>
                </a:solidFill>
              </a:rPr>
              <a:t>Deterministic specialists—not autonomous LLM agents. COST-001 rejects output-token input; a ledger mismatch fails evaluation; GOV-009 blocks.</a:t>
            </a:r>
          </a:p>
        </p:txBody>
      </p:sp>
      <p:sp>
        <p:nvSpPr>
          <p:cNvPr id="30" name="">
            <a:extLst xmlns:a="http://schemas.openxmlformats.org/drawingml/2006/main">
              <a:ext uri="{FF2B5EF4-FFF2-40B4-BE49-F238E27FC236}">
                <a16:creationId xmlns:a16="http://schemas.microsoft.com/office/drawing/2014/main" id="{C7B803FE-BC72-488F-B900-B932946E02B7}"/>
              </a:ext>
            </a:extLst>
          </p:cNvPr>
          <p:cNvSpPr>
            <a:spLocks xmlns:a="http://schemas.openxmlformats.org/drawingml/2006/main" noGrp="1"/>
          </p:cNvSpPr>
          <p:nvPr/>
        </p:nvSpPr>
        <p:spPr>
          <a:xfrm xmlns:a="http://schemas.openxmlformats.org/drawingml/2006/main">
            <a:off x="6858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B7C0B7"/>
                </a:solidFill>
              </a:defRPr>
            </a:pPr>
            <a:r>
              <a:rPr sz="825" b="1">
                <a:solidFill>
                  <a:srgbClr val="B7C0B7"/>
                </a:solidFill>
              </a:rPr>
              <a:t>AI BUILD CREW · BADLABZ.COM</a:t>
            </a:r>
          </a:p>
        </p:txBody>
      </p:sp>
      <p:sp>
        <p:nvSpPr>
          <p:cNvPr id="31" name="">
            <a:extLst xmlns:a="http://schemas.openxmlformats.org/drawingml/2006/main">
              <a:ext uri="{FF2B5EF4-FFF2-40B4-BE49-F238E27FC236}">
                <a16:creationId xmlns:a16="http://schemas.microsoft.com/office/drawing/2014/main" id="{CA373767-CC7C-4CDC-AADE-0F0B9DA627CD}"/>
              </a:ext>
            </a:extLst>
          </p:cNvPr>
          <p:cNvSpPr>
            <a:spLocks xmlns:a="http://schemas.openxmlformats.org/drawingml/2006/main" noGrp="1"/>
          </p:cNvSpPr>
          <p:nvPr/>
        </p:nvSpPr>
        <p:spPr>
          <a:xfrm xmlns:a="http://schemas.openxmlformats.org/drawingml/2006/main">
            <a:off x="10858500" y="6496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D8FF55"/>
                </a:solidFill>
              </a:defRPr>
            </a:pPr>
            <a:r>
              <a:rPr sz="825" b="1">
                <a:solidFill>
                  <a:srgbClr val="D8FF55"/>
                </a:solidFill>
              </a:rPr>
              <a:t>06</a:t>
            </a:r>
          </a:p>
        </p:txBody>
      </p:sp>
    </p:spTree>
    <p:extLst>
      <p:ext uri="{BB962C8B-B14F-4D97-AF65-F5344CB8AC3E}">
        <p14:creationId xmlns:p14="http://schemas.microsoft.com/office/powerpoint/2010/main" val="707526045"/>
      </p:ext>
    </p:extLst>
  </p:cSld>
</p:sld>
</file>

<file path=ppt/slides/slide7.xml><?xml version="1.0" encoding="utf-8"?>
<p:sld xmlns:p="http://schemas.openxmlformats.org/presentationml/2006/main">
  <p:cSld>
    <p:bg>
      <p:bgPr>
        <a:solidFill xmlns:a="http://schemas.openxmlformats.org/drawingml/2006/main">
          <a:srgbClr val="F3EF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B66254D-BA81-43B0-A173-40DA05518F60}"/>
              </a:ext>
            </a:extLst>
          </p:cNvPr>
          <p:cNvSpPr>
            <a:spLocks xmlns:a="http://schemas.openxmlformats.org/drawingml/2006/main" noGrp="1"/>
          </p:cNvSpPr>
          <p:nvPr/>
        </p:nvSpPr>
        <p:spPr>
          <a:xfrm xmlns:a="http://schemas.openxmlformats.org/drawingml/2006/main">
            <a:off x="685800" y="4572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F7BFF"/>
                </a:solidFill>
              </a:defRPr>
            </a:pPr>
            <a:r>
              <a:rPr sz="975" b="1">
                <a:solidFill>
                  <a:srgbClr val="8F7BFF"/>
                </a:solidFill>
              </a:rPr>
              <a:t>06</a:t>
            </a:r>
          </a:p>
        </p:txBody>
      </p:sp>
      <p:sp>
        <p:nvSpPr>
          <p:cNvPr id="2" name="">
            <a:extLst xmlns:a="http://schemas.openxmlformats.org/drawingml/2006/main">
              <a:ext uri="{FF2B5EF4-FFF2-40B4-BE49-F238E27FC236}">
                <a16:creationId xmlns:a16="http://schemas.microsoft.com/office/drawing/2014/main" id="{AEECD96B-D96E-4E52-9E61-B75EEDC2F693}"/>
              </a:ext>
            </a:extLst>
          </p:cNvPr>
          <p:cNvSpPr>
            <a:spLocks xmlns:a="http://schemas.openxmlformats.org/drawingml/2006/main" noGrp="1"/>
          </p:cNvSpPr>
          <p:nvPr/>
        </p:nvSpPr>
        <p:spPr>
          <a:xfrm xmlns:a="http://schemas.openxmlformats.org/drawingml/2006/main">
            <a:off x="12192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52015"/>
                </a:solidFill>
              </a:defRPr>
            </a:pPr>
            <a:r>
              <a:rPr sz="975" b="1">
                <a:solidFill>
                  <a:srgbClr val="152015"/>
                </a:solidFill>
              </a:rPr>
              <a:t>WHAT THE PROTOTYPE PROVES</a:t>
            </a:r>
          </a:p>
        </p:txBody>
      </p:sp>
      <p:sp>
        <p:nvSpPr>
          <p:cNvPr id="3" name="">
            <a:extLst xmlns:a="http://schemas.openxmlformats.org/drawingml/2006/main">
              <a:ext uri="{FF2B5EF4-FFF2-40B4-BE49-F238E27FC236}">
                <a16:creationId xmlns:a16="http://schemas.microsoft.com/office/drawing/2014/main" id="{C57488F2-36F9-43D6-8D83-5FFAFE4AD0B5}"/>
              </a:ext>
            </a:extLst>
          </p:cNvPr>
          <p:cNvSpPr>
            <a:spLocks xmlns:a="http://schemas.openxmlformats.org/drawingml/2006/main" noGrp="1"/>
          </p:cNvSpPr>
          <p:nvPr/>
        </p:nvSpPr>
        <p:spPr>
          <a:xfrm xmlns:a="http://schemas.openxmlformats.org/drawingml/2006/main">
            <a:off x="685800" y="781050"/>
            <a:ext cx="10820400" cy="19050"/>
          </a:xfrm>
          <a:prstGeom xmlns:a="http://schemas.openxmlformats.org/drawingml/2006/main" prst="rect">
            <a:avLst/>
          </a:prstGeom>
          <a:solidFill xmlns:a="http://schemas.openxmlformats.org/drawingml/2006/main">
            <a:srgbClr val="CDD0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5C84C1-6575-4D95-AE41-C4CA0B56BC8E}"/>
              </a:ext>
            </a:extLst>
          </p:cNvPr>
          <p:cNvSpPr>
            <a:spLocks xmlns:a="http://schemas.openxmlformats.org/drawingml/2006/main" noGrp="1"/>
          </p:cNvSpPr>
          <p:nvPr/>
        </p:nvSpPr>
        <p:spPr>
          <a:xfrm xmlns:a="http://schemas.openxmlformats.org/drawingml/2006/main">
            <a:off x="685800" y="1123950"/>
            <a:ext cx="685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75" b="1">
                <a:solidFill>
                  <a:srgbClr val="152015"/>
                </a:solidFill>
              </a:defRPr>
            </a:pPr>
            <a:r>
              <a:rPr sz="3375" b="1">
                <a:solidFill>
                  <a:srgbClr val="152015"/>
                </a:solidFill>
              </a:rPr>
              <a:t>Evidence is useful only when</a:t>
            </a:r>
          </a:p>
          <a:p xmlns:a="http://schemas.openxmlformats.org/drawingml/2006/main">
            <a:pPr algn="l">
              <a:buNone/>
              <a:defRPr sz="3375" b="1">
                <a:solidFill>
                  <a:srgbClr val="152015"/>
                </a:solidFill>
              </a:defRPr>
            </a:pPr>
            <a:r>
              <a:rPr sz="3375" b="1">
                <a:solidFill>
                  <a:srgbClr val="152015"/>
                </a:solidFill>
              </a:rPr>
              <a:t>its limits are visible.</a:t>
            </a:r>
          </a:p>
        </p:txBody>
      </p:sp>
      <p:sp>
        <p:nvSpPr>
          <p:cNvPr id="5" name="">
            <a:extLst xmlns:a="http://schemas.openxmlformats.org/drawingml/2006/main">
              <a:ext uri="{FF2B5EF4-FFF2-40B4-BE49-F238E27FC236}">
                <a16:creationId xmlns:a16="http://schemas.microsoft.com/office/drawing/2014/main" id="{A37D05A4-2AE9-437B-BE13-A2E570B8CF4F}"/>
              </a:ext>
            </a:extLst>
          </p:cNvPr>
          <p:cNvSpPr>
            <a:spLocks xmlns:a="http://schemas.openxmlformats.org/drawingml/2006/main" noGrp="1"/>
          </p:cNvSpPr>
          <p:nvPr/>
        </p:nvSpPr>
        <p:spPr>
          <a:xfrm xmlns:a="http://schemas.openxmlformats.org/drawingml/2006/main">
            <a:off x="685800" y="2857500"/>
            <a:ext cx="95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050" b="1">
                <a:solidFill>
                  <a:srgbClr val="8F7BFF"/>
                </a:solidFill>
              </a:defRPr>
            </a:pPr>
            <a:r>
              <a:rPr sz="4050" b="1">
                <a:solidFill>
                  <a:srgbClr val="8F7BFF"/>
                </a:solidFill>
              </a:rPr>
              <a:t>18</a:t>
            </a:r>
          </a:p>
        </p:txBody>
      </p:sp>
      <p:sp>
        <p:nvSpPr>
          <p:cNvPr id="6" name="">
            <a:extLst xmlns:a="http://schemas.openxmlformats.org/drawingml/2006/main">
              <a:ext uri="{FF2B5EF4-FFF2-40B4-BE49-F238E27FC236}">
                <a16:creationId xmlns:a16="http://schemas.microsoft.com/office/drawing/2014/main" id="{541005F1-2A85-41B5-B1DB-D4897D093507}"/>
              </a:ext>
            </a:extLst>
          </p:cNvPr>
          <p:cNvSpPr>
            <a:spLocks xmlns:a="http://schemas.openxmlformats.org/drawingml/2006/main" noGrp="1"/>
          </p:cNvSpPr>
          <p:nvPr/>
        </p:nvSpPr>
        <p:spPr>
          <a:xfrm xmlns:a="http://schemas.openxmlformats.org/drawingml/2006/main">
            <a:off x="1752600" y="28956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52015"/>
                </a:solidFill>
              </a:defRPr>
            </a:pPr>
            <a:r>
              <a:rPr sz="1050" b="1">
                <a:solidFill>
                  <a:srgbClr val="152015"/>
                </a:solidFill>
              </a:rPr>
              <a:t>AUTOMATED CHECKS</a:t>
            </a:r>
          </a:p>
        </p:txBody>
      </p:sp>
      <p:sp>
        <p:nvSpPr>
          <p:cNvPr id="7" name="">
            <a:extLst xmlns:a="http://schemas.openxmlformats.org/drawingml/2006/main">
              <a:ext uri="{FF2B5EF4-FFF2-40B4-BE49-F238E27FC236}">
                <a16:creationId xmlns:a16="http://schemas.microsoft.com/office/drawing/2014/main" id="{704709D0-AC65-4AC9-A873-77C670025FD0}"/>
              </a:ext>
            </a:extLst>
          </p:cNvPr>
          <p:cNvSpPr>
            <a:spLocks xmlns:a="http://schemas.openxmlformats.org/drawingml/2006/main" noGrp="1"/>
          </p:cNvSpPr>
          <p:nvPr/>
        </p:nvSpPr>
        <p:spPr>
          <a:xfrm xmlns:a="http://schemas.openxmlformats.org/drawingml/2006/main">
            <a:off x="1752600" y="3248025"/>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87068"/>
                </a:solidFill>
              </a:defRPr>
            </a:pPr>
            <a:r>
              <a:rPr sz="1275" b="0">
                <a:solidFill>
                  <a:srgbClr val="687068"/>
                </a:solidFill>
              </a:rPr>
              <a:t>Cost contract, multi-format, workflow advice, model switching, governance, safety, and render</a:t>
            </a:r>
          </a:p>
        </p:txBody>
      </p:sp>
      <p:sp>
        <p:nvSpPr>
          <p:cNvPr id="8" name="">
            <a:extLst xmlns:a="http://schemas.openxmlformats.org/drawingml/2006/main">
              <a:ext uri="{FF2B5EF4-FFF2-40B4-BE49-F238E27FC236}">
                <a16:creationId xmlns:a16="http://schemas.microsoft.com/office/drawing/2014/main" id="{AEDDD9DA-9707-4C80-8E98-231B17BA952E}"/>
              </a:ext>
            </a:extLst>
          </p:cNvPr>
          <p:cNvSpPr>
            <a:spLocks xmlns:a="http://schemas.openxmlformats.org/drawingml/2006/main" noGrp="1"/>
          </p:cNvSpPr>
          <p:nvPr/>
        </p:nvSpPr>
        <p:spPr>
          <a:xfrm xmlns:a="http://schemas.openxmlformats.org/drawingml/2006/main">
            <a:off x="6086475" y="2857500"/>
            <a:ext cx="95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050" b="1">
                <a:solidFill>
                  <a:srgbClr val="FF8159"/>
                </a:solidFill>
              </a:defRPr>
            </a:pPr>
            <a:r>
              <a:rPr sz="4050" b="1">
                <a:solidFill>
                  <a:srgbClr val="FF8159"/>
                </a:solidFill>
              </a:rPr>
              <a:t>0</a:t>
            </a:r>
          </a:p>
        </p:txBody>
      </p:sp>
      <p:sp>
        <p:nvSpPr>
          <p:cNvPr id="9" name="">
            <a:extLst xmlns:a="http://schemas.openxmlformats.org/drawingml/2006/main">
              <a:ext uri="{FF2B5EF4-FFF2-40B4-BE49-F238E27FC236}">
                <a16:creationId xmlns:a16="http://schemas.microsoft.com/office/drawing/2014/main" id="{3432D8BD-2E4D-405F-AEA0-57D9526EA7EB}"/>
              </a:ext>
            </a:extLst>
          </p:cNvPr>
          <p:cNvSpPr>
            <a:spLocks xmlns:a="http://schemas.openxmlformats.org/drawingml/2006/main" noGrp="1"/>
          </p:cNvSpPr>
          <p:nvPr/>
        </p:nvSpPr>
        <p:spPr>
          <a:xfrm xmlns:a="http://schemas.openxmlformats.org/drawingml/2006/main">
            <a:off x="7153275" y="28956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52015"/>
                </a:solidFill>
              </a:defRPr>
            </a:pPr>
            <a:r>
              <a:rPr sz="1050" b="1">
                <a:solidFill>
                  <a:srgbClr val="152015"/>
                </a:solidFill>
              </a:rPr>
              <a:t>GENERATIVE DECISION CALLS</a:t>
            </a:r>
          </a:p>
        </p:txBody>
      </p:sp>
      <p:sp>
        <p:nvSpPr>
          <p:cNvPr id="10" name="">
            <a:extLst xmlns:a="http://schemas.openxmlformats.org/drawingml/2006/main">
              <a:ext uri="{FF2B5EF4-FFF2-40B4-BE49-F238E27FC236}">
                <a16:creationId xmlns:a16="http://schemas.microsoft.com/office/drawing/2014/main" id="{F80BDF72-33AC-4F2C-8ABD-0AD1027648BB}"/>
              </a:ext>
            </a:extLst>
          </p:cNvPr>
          <p:cNvSpPr>
            <a:spLocks xmlns:a="http://schemas.openxmlformats.org/drawingml/2006/main" noGrp="1"/>
          </p:cNvSpPr>
          <p:nvPr/>
        </p:nvSpPr>
        <p:spPr>
          <a:xfrm xmlns:a="http://schemas.openxmlformats.org/drawingml/2006/main">
            <a:off x="7153275" y="3248025"/>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87068"/>
                </a:solidFill>
              </a:defRPr>
            </a:pPr>
            <a:r>
              <a:rPr sz="1275" b="0">
                <a:solidFill>
                  <a:srgbClr val="687068"/>
                </a:solidFill>
              </a:rPr>
              <a:t>No LLM can change math, status, or approval</a:t>
            </a:r>
          </a:p>
        </p:txBody>
      </p:sp>
      <p:sp>
        <p:nvSpPr>
          <p:cNvPr id="11" name="">
            <a:extLst xmlns:a="http://schemas.openxmlformats.org/drawingml/2006/main">
              <a:ext uri="{FF2B5EF4-FFF2-40B4-BE49-F238E27FC236}">
                <a16:creationId xmlns:a16="http://schemas.microsoft.com/office/drawing/2014/main" id="{FBB67E60-06E8-48C1-AB4C-7A273AC4402B}"/>
              </a:ext>
            </a:extLst>
          </p:cNvPr>
          <p:cNvSpPr>
            <a:spLocks xmlns:a="http://schemas.openxmlformats.org/drawingml/2006/main" noGrp="1"/>
          </p:cNvSpPr>
          <p:nvPr/>
        </p:nvSpPr>
        <p:spPr>
          <a:xfrm xmlns:a="http://schemas.openxmlformats.org/drawingml/2006/main">
            <a:off x="685800" y="4238625"/>
            <a:ext cx="95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050" b="1">
                <a:solidFill>
                  <a:srgbClr val="152015"/>
                </a:solidFill>
              </a:defRPr>
            </a:pPr>
            <a:r>
              <a:rPr sz="4050" b="1">
                <a:solidFill>
                  <a:srgbClr val="152015"/>
                </a:solidFill>
              </a:rPr>
              <a:t>6</a:t>
            </a:r>
          </a:p>
        </p:txBody>
      </p:sp>
      <p:sp>
        <p:nvSpPr>
          <p:cNvPr id="12" name="">
            <a:extLst xmlns:a="http://schemas.openxmlformats.org/drawingml/2006/main">
              <a:ext uri="{FF2B5EF4-FFF2-40B4-BE49-F238E27FC236}">
                <a16:creationId xmlns:a16="http://schemas.microsoft.com/office/drawing/2014/main" id="{DFFB32FB-2ABE-4779-9A9A-5C789595A4DD}"/>
              </a:ext>
            </a:extLst>
          </p:cNvPr>
          <p:cNvSpPr>
            <a:spLocks xmlns:a="http://schemas.openxmlformats.org/drawingml/2006/main" noGrp="1"/>
          </p:cNvSpPr>
          <p:nvPr/>
        </p:nvSpPr>
        <p:spPr>
          <a:xfrm xmlns:a="http://schemas.openxmlformats.org/drawingml/2006/main">
            <a:off x="1752600" y="42767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52015"/>
                </a:solidFill>
              </a:defRPr>
            </a:pPr>
            <a:r>
              <a:rPr sz="1050" b="1">
                <a:solidFill>
                  <a:srgbClr val="152015"/>
                </a:solidFill>
              </a:rPr>
              <a:t>HARD COST RULES</a:t>
            </a:r>
          </a:p>
        </p:txBody>
      </p:sp>
      <p:sp>
        <p:nvSpPr>
          <p:cNvPr id="13" name="">
            <a:extLst xmlns:a="http://schemas.openxmlformats.org/drawingml/2006/main">
              <a:ext uri="{FF2B5EF4-FFF2-40B4-BE49-F238E27FC236}">
                <a16:creationId xmlns:a16="http://schemas.microsoft.com/office/drawing/2014/main" id="{58916FFD-6C42-4314-90C7-F754CD6D0710}"/>
              </a:ext>
            </a:extLst>
          </p:cNvPr>
          <p:cNvSpPr>
            <a:spLocks xmlns:a="http://schemas.openxmlformats.org/drawingml/2006/main" noGrp="1"/>
          </p:cNvSpPr>
          <p:nvPr/>
        </p:nvSpPr>
        <p:spPr>
          <a:xfrm xmlns:a="http://schemas.openxmlformats.org/drawingml/2006/main">
            <a:off x="1752600" y="4629150"/>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87068"/>
                </a:solidFill>
              </a:defRPr>
            </a:pPr>
            <a:r>
              <a:rPr sz="1275" b="0">
                <a:solidFill>
                  <a:srgbClr val="687068"/>
                </a:solidFill>
              </a:rPr>
              <a:t>COST-001 through COST-006 are release gates</a:t>
            </a:r>
          </a:p>
        </p:txBody>
      </p:sp>
      <p:sp>
        <p:nvSpPr>
          <p:cNvPr id="14" name="">
            <a:extLst xmlns:a="http://schemas.openxmlformats.org/drawingml/2006/main">
              <a:ext uri="{FF2B5EF4-FFF2-40B4-BE49-F238E27FC236}">
                <a16:creationId xmlns:a16="http://schemas.microsoft.com/office/drawing/2014/main" id="{2720B1BC-BCB3-4D64-A7E8-190BF4DA1090}"/>
              </a:ext>
            </a:extLst>
          </p:cNvPr>
          <p:cNvSpPr>
            <a:spLocks xmlns:a="http://schemas.openxmlformats.org/drawingml/2006/main" noGrp="1"/>
          </p:cNvSpPr>
          <p:nvPr/>
        </p:nvSpPr>
        <p:spPr>
          <a:xfrm xmlns:a="http://schemas.openxmlformats.org/drawingml/2006/main">
            <a:off x="6086475" y="4238625"/>
            <a:ext cx="95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050" b="1">
                <a:solidFill>
                  <a:srgbClr val="8F7BFF"/>
                </a:solidFill>
              </a:defRPr>
            </a:pPr>
            <a:r>
              <a:rPr sz="4050" b="1">
                <a:solidFill>
                  <a:srgbClr val="8F7BFF"/>
                </a:solidFill>
              </a:rPr>
              <a:t>1</a:t>
            </a:r>
          </a:p>
        </p:txBody>
      </p:sp>
      <p:sp>
        <p:nvSpPr>
          <p:cNvPr id="15" name="">
            <a:extLst xmlns:a="http://schemas.openxmlformats.org/drawingml/2006/main">
              <a:ext uri="{FF2B5EF4-FFF2-40B4-BE49-F238E27FC236}">
                <a16:creationId xmlns:a16="http://schemas.microsoft.com/office/drawing/2014/main" id="{2FCF9303-BF80-4128-94CD-FCEE46D9A9CE}"/>
              </a:ext>
            </a:extLst>
          </p:cNvPr>
          <p:cNvSpPr>
            <a:spLocks xmlns:a="http://schemas.openxmlformats.org/drawingml/2006/main" noGrp="1"/>
          </p:cNvSpPr>
          <p:nvPr/>
        </p:nvSpPr>
        <p:spPr>
          <a:xfrm xmlns:a="http://schemas.openxmlformats.org/drawingml/2006/main">
            <a:off x="7153275" y="42767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52015"/>
                </a:solidFill>
              </a:defRPr>
            </a:pPr>
            <a:r>
              <a:rPr sz="1050" b="1">
                <a:solidFill>
                  <a:srgbClr val="152015"/>
                </a:solidFill>
              </a:rPr>
              <a:t>POLICY-ELIGIBLE BASELINE</a:t>
            </a:r>
          </a:p>
        </p:txBody>
      </p:sp>
      <p:sp>
        <p:nvSpPr>
          <p:cNvPr id="16" name="">
            <a:extLst xmlns:a="http://schemas.openxmlformats.org/drawingml/2006/main">
              <a:ext uri="{FF2B5EF4-FFF2-40B4-BE49-F238E27FC236}">
                <a16:creationId xmlns:a16="http://schemas.microsoft.com/office/drawing/2014/main" id="{91B8503A-AE8F-449B-8BE5-A654E5FC24D5}"/>
              </a:ext>
            </a:extLst>
          </p:cNvPr>
          <p:cNvSpPr>
            <a:spLocks xmlns:a="http://schemas.openxmlformats.org/drawingml/2006/main" noGrp="1"/>
          </p:cNvSpPr>
          <p:nvPr/>
        </p:nvSpPr>
        <p:spPr>
          <a:xfrm xmlns:a="http://schemas.openxmlformats.org/drawingml/2006/main">
            <a:off x="7153275" y="4629150"/>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87068"/>
                </a:solidFill>
              </a:defRPr>
            </a:pPr>
            <a:r>
              <a:rPr sz="1275" b="0">
                <a:solidFill>
                  <a:srgbClr val="687068"/>
                </a:solidFill>
              </a:rPr>
              <a:t>GOV-015 warns until behavior distributions are measured</a:t>
            </a:r>
          </a:p>
        </p:txBody>
      </p:sp>
      <p:sp>
        <p:nvSpPr>
          <p:cNvPr id="17" name="">
            <a:extLst xmlns:a="http://schemas.openxmlformats.org/drawingml/2006/main">
              <a:ext uri="{FF2B5EF4-FFF2-40B4-BE49-F238E27FC236}">
                <a16:creationId xmlns:a16="http://schemas.microsoft.com/office/drawing/2014/main" id="{138D78AB-16CC-4403-B9F2-A992A34228A2}"/>
              </a:ext>
            </a:extLst>
          </p:cNvPr>
          <p:cNvSpPr>
            <a:spLocks xmlns:a="http://schemas.openxmlformats.org/drawingml/2006/main" noGrp="1"/>
          </p:cNvSpPr>
          <p:nvPr/>
        </p:nvSpPr>
        <p:spPr>
          <a:xfrm xmlns:a="http://schemas.openxmlformats.org/drawingml/2006/main">
            <a:off x="685800" y="5657850"/>
            <a:ext cx="10820400" cy="19050"/>
          </a:xfrm>
          <a:prstGeom xmlns:a="http://schemas.openxmlformats.org/drawingml/2006/main" prst="rect">
            <a:avLst/>
          </a:prstGeom>
          <a:solidFill xmlns:a="http://schemas.openxmlformats.org/drawingml/2006/main">
            <a:srgbClr val="CDD0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AD073E4-4E78-4C57-964D-07C5F68E62E3}"/>
              </a:ext>
            </a:extLst>
          </p:cNvPr>
          <p:cNvSpPr>
            <a:spLocks xmlns:a="http://schemas.openxmlformats.org/drawingml/2006/main" noGrp="1"/>
          </p:cNvSpPr>
          <p:nvPr/>
        </p:nvSpPr>
        <p:spPr>
          <a:xfrm xmlns:a="http://schemas.openxmlformats.org/drawingml/2006/main">
            <a:off x="685800" y="58674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8159"/>
                </a:solidFill>
              </a:defRPr>
            </a:pPr>
            <a:r>
              <a:rPr sz="1200" b="1">
                <a:solidFill>
                  <a:srgbClr val="FF8159"/>
                </a:solidFill>
              </a:rPr>
              <a:t>Not yet proved: measured output/retry distributions, shared provider quality, actual-charge reconciliation, or saved history.</a:t>
            </a:r>
          </a:p>
        </p:txBody>
      </p:sp>
      <p:sp>
        <p:nvSpPr>
          <p:cNvPr id="19" name="">
            <a:extLst xmlns:a="http://schemas.openxmlformats.org/drawingml/2006/main">
              <a:ext uri="{FF2B5EF4-FFF2-40B4-BE49-F238E27FC236}">
                <a16:creationId xmlns:a16="http://schemas.microsoft.com/office/drawing/2014/main" id="{6BEB2435-DD99-4D36-A74C-7BA05B65E0EE}"/>
              </a:ext>
            </a:extLst>
          </p:cNvPr>
          <p:cNvSpPr>
            <a:spLocks xmlns:a="http://schemas.openxmlformats.org/drawingml/2006/main" noGrp="1"/>
          </p:cNvSpPr>
          <p:nvPr/>
        </p:nvSpPr>
        <p:spPr>
          <a:xfrm xmlns:a="http://schemas.openxmlformats.org/drawingml/2006/main">
            <a:off x="6858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687068"/>
                </a:solidFill>
              </a:defRPr>
            </a:pPr>
            <a:r>
              <a:rPr sz="825" b="1">
                <a:solidFill>
                  <a:srgbClr val="687068"/>
                </a:solidFill>
              </a:rPr>
              <a:t>AI BUILD CREW · BADLABZ.COM</a:t>
            </a:r>
          </a:p>
        </p:txBody>
      </p:sp>
      <p:sp>
        <p:nvSpPr>
          <p:cNvPr id="20" name="">
            <a:extLst xmlns:a="http://schemas.openxmlformats.org/drawingml/2006/main">
              <a:ext uri="{FF2B5EF4-FFF2-40B4-BE49-F238E27FC236}">
                <a16:creationId xmlns:a16="http://schemas.microsoft.com/office/drawing/2014/main" id="{779176EB-F656-4A73-A2D1-14A8AE4A3DC7}"/>
              </a:ext>
            </a:extLst>
          </p:cNvPr>
          <p:cNvSpPr>
            <a:spLocks xmlns:a="http://schemas.openxmlformats.org/drawingml/2006/main" noGrp="1"/>
          </p:cNvSpPr>
          <p:nvPr/>
        </p:nvSpPr>
        <p:spPr>
          <a:xfrm xmlns:a="http://schemas.openxmlformats.org/drawingml/2006/main">
            <a:off x="10858500" y="64960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1">
                <a:solidFill>
                  <a:srgbClr val="8F7BFF"/>
                </a:solidFill>
              </a:defRPr>
            </a:pPr>
            <a:r>
              <a:rPr sz="825" b="1">
                <a:solidFill>
                  <a:srgbClr val="8F7BFF"/>
                </a:solidFill>
              </a:rPr>
              <a:t>07</a:t>
            </a:r>
          </a:p>
        </p:txBody>
      </p:sp>
    </p:spTree>
    <p:extLst>
      <p:ext uri="{BB962C8B-B14F-4D97-AF65-F5344CB8AC3E}">
        <p14:creationId xmlns:p14="http://schemas.microsoft.com/office/powerpoint/2010/main" val="4429739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8a9ffeee49c4f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505945-590A-4C2D-98F2-EED54361D376}"/>
              </a:ext>
            </a:extLst>
          </p:cNvPr>
          <p:cNvSpPr>
            <a:spLocks xmlns:a="http://schemas.openxmlformats.org/drawingml/2006/main" noGrp="1"/>
          </p:cNvSpPr>
          <p:nvPr/>
        </p:nvSpPr>
        <p:spPr>
          <a:xfrm xmlns:a="http://schemas.openxmlformats.org/drawingml/2006/main">
            <a:off x="0" y="0"/>
            <a:ext cx="7334250" cy="6858000"/>
          </a:xfrm>
          <a:prstGeom xmlns:a="http://schemas.openxmlformats.org/drawingml/2006/main" prst="rect">
            <a:avLst/>
          </a:prstGeom>
          <a:solidFill xmlns:a="http://schemas.openxmlformats.org/drawingml/2006/main">
            <a:srgbClr val="152015">
              <a:alpha val="94902"/>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9484EF-407F-4944-8879-B3FDBB7FFA64}"/>
              </a:ext>
            </a:extLst>
          </p:cNvPr>
          <p:cNvSpPr>
            <a:spLocks xmlns:a="http://schemas.openxmlformats.org/drawingml/2006/main" noGrp="1"/>
          </p:cNvSpPr>
          <p:nvPr/>
        </p:nvSpPr>
        <p:spPr>
          <a:xfrm xmlns:a="http://schemas.openxmlformats.org/drawingml/2006/main">
            <a:off x="685800" y="5524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NEXT RELEASE</a:t>
            </a:r>
          </a:p>
        </p:txBody>
      </p:sp>
      <p:sp>
        <p:nvSpPr>
          <p:cNvPr id="4" name="">
            <a:extLst xmlns:a="http://schemas.openxmlformats.org/drawingml/2006/main">
              <a:ext uri="{FF2B5EF4-FFF2-40B4-BE49-F238E27FC236}">
                <a16:creationId xmlns:a16="http://schemas.microsoft.com/office/drawing/2014/main" id="{71C7F68A-8294-4D64-AD07-7B2B4F0C7FAF}"/>
              </a:ext>
            </a:extLst>
          </p:cNvPr>
          <p:cNvSpPr>
            <a:spLocks xmlns:a="http://schemas.openxmlformats.org/drawingml/2006/main" noGrp="1"/>
          </p:cNvSpPr>
          <p:nvPr/>
        </p:nvSpPr>
        <p:spPr>
          <a:xfrm xmlns:a="http://schemas.openxmlformats.org/drawingml/2006/main">
            <a:off x="685800" y="1219200"/>
            <a:ext cx="590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FFFFFF"/>
                </a:solidFill>
              </a:defRPr>
            </a:pPr>
            <a:r>
              <a:rPr sz="3600" b="1">
                <a:solidFill>
                  <a:srgbClr val="FFFFFF"/>
                </a:solidFill>
              </a:rPr>
              <a:t>Turn the estimator</a:t>
            </a:r>
          </a:p>
          <a:p xmlns:a="http://schemas.openxmlformats.org/drawingml/2006/main">
            <a:pPr algn="l">
              <a:buNone/>
              <a:defRPr sz="3600" b="1">
                <a:solidFill>
                  <a:srgbClr val="FFFFFF"/>
                </a:solidFill>
              </a:defRPr>
            </a:pPr>
            <a:r>
              <a:rPr sz="3600" b="1">
                <a:solidFill>
                  <a:srgbClr val="FFFFFF"/>
                </a:solidFill>
              </a:rPr>
              <a:t>into a decision platform.</a:t>
            </a:r>
          </a:p>
        </p:txBody>
      </p:sp>
      <p:sp>
        <p:nvSpPr>
          <p:cNvPr id="5" name="">
            <a:extLst xmlns:a="http://schemas.openxmlformats.org/drawingml/2006/main">
              <a:ext uri="{FF2B5EF4-FFF2-40B4-BE49-F238E27FC236}">
                <a16:creationId xmlns:a16="http://schemas.microsoft.com/office/drawing/2014/main" id="{6D1389EE-CE1F-4BD0-B381-9B1964471F2C}"/>
              </a:ext>
            </a:extLst>
          </p:cNvPr>
          <p:cNvSpPr>
            <a:spLocks xmlns:a="http://schemas.openxmlformats.org/drawingml/2006/main" noGrp="1"/>
          </p:cNvSpPr>
          <p:nvPr/>
        </p:nvSpPr>
        <p:spPr>
          <a:xfrm xmlns:a="http://schemas.openxmlformats.org/drawingml/2006/main">
            <a:off x="685800" y="28575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NOW</a:t>
            </a:r>
          </a:p>
        </p:txBody>
      </p:sp>
      <p:sp>
        <p:nvSpPr>
          <p:cNvPr id="6" name="">
            <a:extLst xmlns:a="http://schemas.openxmlformats.org/drawingml/2006/main">
              <a:ext uri="{FF2B5EF4-FFF2-40B4-BE49-F238E27FC236}">
                <a16:creationId xmlns:a16="http://schemas.microsoft.com/office/drawing/2014/main" id="{E2C85436-B20D-499F-BA93-76A745913F6B}"/>
              </a:ext>
            </a:extLst>
          </p:cNvPr>
          <p:cNvSpPr>
            <a:spLocks xmlns:a="http://schemas.openxmlformats.org/drawingml/2006/main" noGrp="1"/>
          </p:cNvSpPr>
          <p:nvPr/>
        </p:nvSpPr>
        <p:spPr>
          <a:xfrm xmlns:a="http://schemas.openxmlformats.org/drawingml/2006/main">
            <a:off x="1666875" y="2838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Corrected contract + multi-format + workflow guidance</a:t>
            </a:r>
          </a:p>
        </p:txBody>
      </p:sp>
      <p:sp>
        <p:nvSpPr>
          <p:cNvPr id="7" name="">
            <a:extLst xmlns:a="http://schemas.openxmlformats.org/drawingml/2006/main">
              <a:ext uri="{FF2B5EF4-FFF2-40B4-BE49-F238E27FC236}">
                <a16:creationId xmlns:a16="http://schemas.microsoft.com/office/drawing/2014/main" id="{7AE00594-A482-4BB2-873D-969FFE861134}"/>
              </a:ext>
            </a:extLst>
          </p:cNvPr>
          <p:cNvSpPr>
            <a:spLocks xmlns:a="http://schemas.openxmlformats.org/drawingml/2006/main" noGrp="1"/>
          </p:cNvSpPr>
          <p:nvPr/>
        </p:nvSpPr>
        <p:spPr>
          <a:xfrm xmlns:a="http://schemas.openxmlformats.org/drawingml/2006/main">
            <a:off x="685800" y="3400425"/>
            <a:ext cx="5715000" cy="9525"/>
          </a:xfrm>
          <a:prstGeom xmlns:a="http://schemas.openxmlformats.org/drawingml/2006/main" prst="rect">
            <a:avLst/>
          </a:prstGeom>
          <a:solidFill xmlns:a="http://schemas.openxmlformats.org/drawingml/2006/main">
            <a:srgbClr val="4A5A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18F43BC-3A50-451E-9EE6-AA670936DAE4}"/>
              </a:ext>
            </a:extLst>
          </p:cNvPr>
          <p:cNvSpPr>
            <a:spLocks xmlns:a="http://schemas.openxmlformats.org/drawingml/2006/main" noGrp="1"/>
          </p:cNvSpPr>
          <p:nvPr/>
        </p:nvSpPr>
        <p:spPr>
          <a:xfrm xmlns:a="http://schemas.openxmlformats.org/drawingml/2006/main">
            <a:off x="685800" y="35433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F7BFF"/>
                </a:solidFill>
              </a:defRPr>
            </a:pPr>
            <a:r>
              <a:rPr sz="975" b="1">
                <a:solidFill>
                  <a:srgbClr val="8F7BFF"/>
                </a:solidFill>
              </a:rPr>
              <a:t>NEXT</a:t>
            </a:r>
          </a:p>
        </p:txBody>
      </p:sp>
      <p:sp>
        <p:nvSpPr>
          <p:cNvPr id="9" name="">
            <a:extLst xmlns:a="http://schemas.openxmlformats.org/drawingml/2006/main">
              <a:ext uri="{FF2B5EF4-FFF2-40B4-BE49-F238E27FC236}">
                <a16:creationId xmlns:a16="http://schemas.microsoft.com/office/drawing/2014/main" id="{2F690732-B07D-4033-A156-9ACCAB3AD1FC}"/>
              </a:ext>
            </a:extLst>
          </p:cNvPr>
          <p:cNvSpPr>
            <a:spLocks xmlns:a="http://schemas.openxmlformats.org/drawingml/2006/main" noGrp="1"/>
          </p:cNvSpPr>
          <p:nvPr/>
        </p:nvSpPr>
        <p:spPr>
          <a:xfrm xmlns:a="http://schemas.openxmlformats.org/drawingml/2006/main">
            <a:off x="1666875" y="35242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Rerun first-user test; freeze synthetic task suite</a:t>
            </a:r>
          </a:p>
        </p:txBody>
      </p:sp>
      <p:sp>
        <p:nvSpPr>
          <p:cNvPr id="10" name="">
            <a:extLst xmlns:a="http://schemas.openxmlformats.org/drawingml/2006/main">
              <a:ext uri="{FF2B5EF4-FFF2-40B4-BE49-F238E27FC236}">
                <a16:creationId xmlns:a16="http://schemas.microsoft.com/office/drawing/2014/main" id="{A0D4318D-1F35-4D88-8253-6E0B591843E1}"/>
              </a:ext>
            </a:extLst>
          </p:cNvPr>
          <p:cNvSpPr>
            <a:spLocks xmlns:a="http://schemas.openxmlformats.org/drawingml/2006/main" noGrp="1"/>
          </p:cNvSpPr>
          <p:nvPr/>
        </p:nvSpPr>
        <p:spPr>
          <a:xfrm xmlns:a="http://schemas.openxmlformats.org/drawingml/2006/main">
            <a:off x="685800" y="4086225"/>
            <a:ext cx="5715000" cy="9525"/>
          </a:xfrm>
          <a:prstGeom xmlns:a="http://schemas.openxmlformats.org/drawingml/2006/main" prst="rect">
            <a:avLst/>
          </a:prstGeom>
          <a:solidFill xmlns:a="http://schemas.openxmlformats.org/drawingml/2006/main">
            <a:srgbClr val="4A5A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CE0B84-783F-4F4D-991F-A34A23F70025}"/>
              </a:ext>
            </a:extLst>
          </p:cNvPr>
          <p:cNvSpPr>
            <a:spLocks xmlns:a="http://schemas.openxmlformats.org/drawingml/2006/main" noGrp="1"/>
          </p:cNvSpPr>
          <p:nvPr/>
        </p:nvSpPr>
        <p:spPr>
          <a:xfrm xmlns:a="http://schemas.openxmlformats.org/drawingml/2006/main">
            <a:off x="685800" y="42291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FF8159"/>
                </a:solidFill>
              </a:defRPr>
            </a:pPr>
            <a:r>
              <a:rPr sz="975" b="1">
                <a:solidFill>
                  <a:srgbClr val="FF8159"/>
                </a:solidFill>
              </a:rPr>
              <a:t>THEN</a:t>
            </a:r>
          </a:p>
        </p:txBody>
      </p:sp>
      <p:sp>
        <p:nvSpPr>
          <p:cNvPr id="12" name="">
            <a:extLst xmlns:a="http://schemas.openxmlformats.org/drawingml/2006/main">
              <a:ext uri="{FF2B5EF4-FFF2-40B4-BE49-F238E27FC236}">
                <a16:creationId xmlns:a16="http://schemas.microsoft.com/office/drawing/2014/main" id="{6C5B3A81-64FC-4228-BF01-81EF7F2934CC}"/>
              </a:ext>
            </a:extLst>
          </p:cNvPr>
          <p:cNvSpPr>
            <a:spLocks xmlns:a="http://schemas.openxmlformats.org/drawingml/2006/main" noGrp="1"/>
          </p:cNvSpPr>
          <p:nvPr/>
        </p:nvSpPr>
        <p:spPr>
          <a:xfrm xmlns:a="http://schemas.openxmlformats.org/drawingml/2006/main">
            <a:off x="1666875" y="42100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Run ≥30 repeats/model: success, p10/p50/p90, retries, checker, latency</a:t>
            </a:r>
          </a:p>
        </p:txBody>
      </p:sp>
      <p:sp>
        <p:nvSpPr>
          <p:cNvPr id="13" name="">
            <a:extLst xmlns:a="http://schemas.openxmlformats.org/drawingml/2006/main">
              <a:ext uri="{FF2B5EF4-FFF2-40B4-BE49-F238E27FC236}">
                <a16:creationId xmlns:a16="http://schemas.microsoft.com/office/drawing/2014/main" id="{51F9489E-2112-46B6-A8DE-9F34AEBCA139}"/>
              </a:ext>
            </a:extLst>
          </p:cNvPr>
          <p:cNvSpPr>
            <a:spLocks xmlns:a="http://schemas.openxmlformats.org/drawingml/2006/main" noGrp="1"/>
          </p:cNvSpPr>
          <p:nvPr/>
        </p:nvSpPr>
        <p:spPr>
          <a:xfrm xmlns:a="http://schemas.openxmlformats.org/drawingml/2006/main">
            <a:off x="685800" y="4772025"/>
            <a:ext cx="5715000" cy="9525"/>
          </a:xfrm>
          <a:prstGeom xmlns:a="http://schemas.openxmlformats.org/drawingml/2006/main" prst="rect">
            <a:avLst/>
          </a:prstGeom>
          <a:solidFill xmlns:a="http://schemas.openxmlformats.org/drawingml/2006/main">
            <a:srgbClr val="4A5A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2FC565A-7F52-47F4-98A2-B3E00095EB8E}"/>
              </a:ext>
            </a:extLst>
          </p:cNvPr>
          <p:cNvSpPr>
            <a:spLocks xmlns:a="http://schemas.openxmlformats.org/drawingml/2006/main" noGrp="1"/>
          </p:cNvSpPr>
          <p:nvPr/>
        </p:nvSpPr>
        <p:spPr>
          <a:xfrm xmlns:a="http://schemas.openxmlformats.org/drawingml/2006/main">
            <a:off x="685800" y="49149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D8FF55"/>
                </a:solidFill>
              </a:defRPr>
            </a:pPr>
            <a:r>
              <a:rPr sz="975" b="1">
                <a:solidFill>
                  <a:srgbClr val="D8FF55"/>
                </a:solidFill>
              </a:rPr>
              <a:t>PROVE</a:t>
            </a:r>
          </a:p>
        </p:txBody>
      </p:sp>
      <p:sp>
        <p:nvSpPr>
          <p:cNvPr id="15" name="">
            <a:extLst xmlns:a="http://schemas.openxmlformats.org/drawingml/2006/main">
              <a:ext uri="{FF2B5EF4-FFF2-40B4-BE49-F238E27FC236}">
                <a16:creationId xmlns:a16="http://schemas.microsoft.com/office/drawing/2014/main" id="{2EE692EA-1197-4BB5-AF5E-FDBB5D7D855E}"/>
              </a:ext>
            </a:extLst>
          </p:cNvPr>
          <p:cNvSpPr>
            <a:spLocks xmlns:a="http://schemas.openxmlformats.org/drawingml/2006/main" noGrp="1"/>
          </p:cNvSpPr>
          <p:nvPr/>
        </p:nvSpPr>
        <p:spPr>
          <a:xfrm xmlns:a="http://schemas.openxmlformats.org/drawingml/2006/main">
            <a:off x="1666875" y="48958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FFFFFF"/>
                </a:solidFill>
              </a:defRPr>
            </a:pPr>
            <a:r>
              <a:rPr sz="1425" b="0">
                <a:solidFill>
                  <a:srgbClr val="FFFFFF"/>
                </a:solidFill>
              </a:rPr>
              <a:t>Promote only evidence over threshold; reconcile actual charges</a:t>
            </a:r>
          </a:p>
        </p:txBody>
      </p:sp>
      <p:sp>
        <p:nvSpPr>
          <p:cNvPr id="16" name="">
            <a:extLst xmlns:a="http://schemas.openxmlformats.org/drawingml/2006/main">
              <a:ext uri="{FF2B5EF4-FFF2-40B4-BE49-F238E27FC236}">
                <a16:creationId xmlns:a16="http://schemas.microsoft.com/office/drawing/2014/main" id="{10B5F276-B2B3-4E9E-8405-2E0497288684}"/>
              </a:ext>
            </a:extLst>
          </p:cNvPr>
          <p:cNvSpPr>
            <a:spLocks xmlns:a="http://schemas.openxmlformats.org/drawingml/2006/main" noGrp="1"/>
          </p:cNvSpPr>
          <p:nvPr/>
        </p:nvSpPr>
        <p:spPr>
          <a:xfrm xmlns:a="http://schemas.openxmlformats.org/drawingml/2006/main">
            <a:off x="685800" y="5457825"/>
            <a:ext cx="5715000" cy="9525"/>
          </a:xfrm>
          <a:prstGeom xmlns:a="http://schemas.openxmlformats.org/drawingml/2006/main" prst="rect">
            <a:avLst/>
          </a:prstGeom>
          <a:solidFill xmlns:a="http://schemas.openxmlformats.org/drawingml/2006/main">
            <a:srgbClr val="4A5A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0BB595-FE5F-445E-9766-B4C6E7B74349}"/>
              </a:ext>
            </a:extLst>
          </p:cNvPr>
          <p:cNvSpPr>
            <a:spLocks xmlns:a="http://schemas.openxmlformats.org/drawingml/2006/main" noGrp="1"/>
          </p:cNvSpPr>
          <p:nvPr/>
        </p:nvSpPr>
        <p:spPr>
          <a:xfrm xmlns:a="http://schemas.openxmlformats.org/drawingml/2006/main">
            <a:off x="685800" y="60483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D8FF55"/>
                </a:solidFill>
              </a:defRPr>
            </a:pPr>
            <a:r>
              <a:rPr sz="1350" b="1">
                <a:solidFill>
                  <a:srgbClr val="D8FF55"/>
                </a:solidFill>
              </a:rPr>
              <a:t>aibuildcrew.badlabz.com</a:t>
            </a:r>
          </a:p>
        </p:txBody>
      </p:sp>
      <p:sp>
        <p:nvSpPr>
          <p:cNvPr id="18" name="">
            <a:extLst xmlns:a="http://schemas.openxmlformats.org/drawingml/2006/main">
              <a:ext uri="{FF2B5EF4-FFF2-40B4-BE49-F238E27FC236}">
                <a16:creationId xmlns:a16="http://schemas.microsoft.com/office/drawing/2014/main" id="{5CBB6A72-5DD2-496B-8633-E9890D3CD892}"/>
              </a:ext>
            </a:extLst>
          </p:cNvPr>
          <p:cNvSpPr>
            <a:spLocks xmlns:a="http://schemas.openxmlformats.org/drawingml/2006/main" noGrp="1"/>
          </p:cNvSpPr>
          <p:nvPr/>
        </p:nvSpPr>
        <p:spPr>
          <a:xfrm xmlns:a="http://schemas.openxmlformats.org/drawingml/2006/main">
            <a:off x="685800" y="6362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C8D1C8"/>
                </a:solidFill>
              </a:defRPr>
            </a:pPr>
            <a:r>
              <a:rPr sz="975" b="0">
                <a:solidFill>
                  <a:srgbClr val="C8D1C8"/>
                </a:solidFill>
              </a:rPr>
              <a:t>github.com/CTATX/ai-build-crew</a:t>
            </a:r>
          </a:p>
        </p:txBody>
      </p:sp>
    </p:spTree>
    <p:extLst>
      <p:ext uri="{BB962C8B-B14F-4D97-AF65-F5344CB8AC3E}">
        <p14:creationId xmlns:p14="http://schemas.microsoft.com/office/powerpoint/2010/main" val="21393558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2026-08-09T20:51:14.3410000Z</dcterms:created>
  <dcterms:modified xsi:type="dcterms:W3CDTF">2026-08-09T20:51:14.3410000Z</dcterms:modified>
</coreProperties>
</file>