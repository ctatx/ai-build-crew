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88e888231004446" /><Relationship Type="http://schemas.openxmlformats.org/officeDocument/2006/relationships/extended-properties" Target="/docProps/app.xml" Id="Rb6b6b8dc7d474519" /><Relationship Type="http://schemas.openxmlformats.org/officeDocument/2006/relationships/officeDocument" Target="/ppt/presentation.xml" Id="R4b0b26b2f56c4363" /></Relationships>
</file>

<file path=ppt/presentation.xml><?xml version="1.0" encoding="utf-8"?>
<p:presentation xmlns:p="http://schemas.openxmlformats.org/presentationml/2006/main">
  <p:sldMasterIdLst>
    <p:sldMasterId xmlns:r="http://schemas.openxmlformats.org/officeDocument/2006/relationships" id="2147483648" r:id="R588455171fff4533"/>
  </p:sldMasterIdLst>
  <p:notesMasterIdLst>
    <p:notesMasterId xmlns:r="http://schemas.openxmlformats.org/officeDocument/2006/relationships" r:id="R6cdc42dff1984367"/>
  </p:notesMasterIdLst>
  <p:sldIdLst>
    <p:sldId xmlns:r="http://schemas.openxmlformats.org/officeDocument/2006/relationships" id="256" r:id="R47c30c0348564fbc"/>
    <p:sldId xmlns:r="http://schemas.openxmlformats.org/officeDocument/2006/relationships" id="257" r:id="Re0a41d06bb16403d"/>
    <p:sldId xmlns:r="http://schemas.openxmlformats.org/officeDocument/2006/relationships" id="258" r:id="R72353bebc7354cd9"/>
    <p:sldId xmlns:r="http://schemas.openxmlformats.org/officeDocument/2006/relationships" id="259" r:id="Rab6ba5ae97f342ed"/>
    <p:sldId xmlns:r="http://schemas.openxmlformats.org/officeDocument/2006/relationships" id="260" r:id="R2ba78cf770ed4300"/>
    <p:sldId xmlns:r="http://schemas.openxmlformats.org/officeDocument/2006/relationships" id="261" r:id="R2d927501a20e428c"/>
    <p:sldId xmlns:r="http://schemas.openxmlformats.org/officeDocument/2006/relationships" id="262" r:id="R9244d64433344d9d"/>
    <p:sldId xmlns:r="http://schemas.openxmlformats.org/officeDocument/2006/relationships" id="263" r:id="R3071bf408c4c4e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558550e099d4e67" /><Relationship Type="http://schemas.openxmlformats.org/officeDocument/2006/relationships/slideMaster" Target="/ppt/slideMasters/slideMaster1.xml" Id="R588455171fff4533" /><Relationship Type="http://schemas.openxmlformats.org/officeDocument/2006/relationships/notesMaster" Target="/ppt/notesMasters/notesMaster1.xml" Id="R6cdc42dff1984367" /><Relationship Type="http://schemas.openxmlformats.org/officeDocument/2006/relationships/presProps" Target="/ppt/presProps.xml" Id="Rde5d0f7a75f74f26" /><Relationship Type="http://schemas.openxmlformats.org/officeDocument/2006/relationships/tableStyles" Target="/ppt/tableStyles.xml" Id="R0b33ccf1ecbe4d48" /><Relationship Type="http://schemas.openxmlformats.org/officeDocument/2006/relationships/slide" Target="/ppt/slides/slide1.xml" Id="R47c30c0348564fbc" /><Relationship Type="http://schemas.openxmlformats.org/officeDocument/2006/relationships/slide" Target="/ppt/slides/slide2.xml" Id="Re0a41d06bb16403d" /><Relationship Type="http://schemas.openxmlformats.org/officeDocument/2006/relationships/slide" Target="/ppt/slides/slide3.xml" Id="R72353bebc7354cd9" /><Relationship Type="http://schemas.openxmlformats.org/officeDocument/2006/relationships/slide" Target="/ppt/slides/slide4.xml" Id="Rab6ba5ae97f342ed" /><Relationship Type="http://schemas.openxmlformats.org/officeDocument/2006/relationships/slide" Target="/ppt/slides/slide5.xml" Id="R2ba78cf770ed4300" /><Relationship Type="http://schemas.openxmlformats.org/officeDocument/2006/relationships/slide" Target="/ppt/slides/slide6.xml" Id="R2d927501a20e428c" /><Relationship Type="http://schemas.openxmlformats.org/officeDocument/2006/relationships/slide" Target="/ppt/slides/slide7.xml" Id="R9244d64433344d9d" /><Relationship Type="http://schemas.openxmlformats.org/officeDocument/2006/relationships/slide" Target="/ppt/slides/slide8.xml" Id="R3071bf408c4c4e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31217afad542b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a6ed872df84caf" /><Relationship Type="http://schemas.openxmlformats.org/officeDocument/2006/relationships/notesMaster" Target="/ppt/notesMasters/notesMaster1.xml" Id="R30537bc3666e4e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d4215bf492443e" /><Relationship Type="http://schemas.openxmlformats.org/officeDocument/2006/relationships/notesMaster" Target="/ppt/notesMasters/notesMaster1.xml" Id="R43c44ddd075d40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10aa3222d048dc" /><Relationship Type="http://schemas.openxmlformats.org/officeDocument/2006/relationships/notesMaster" Target="/ppt/notesMasters/notesMaster1.xml" Id="Rf159a3f9704441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fcd8dd6a304bcf" /><Relationship Type="http://schemas.openxmlformats.org/officeDocument/2006/relationships/notesMaster" Target="/ppt/notesMasters/notesMaster1.xml" Id="Ra695f269367e4e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3f2b0238544a89" /><Relationship Type="http://schemas.openxmlformats.org/officeDocument/2006/relationships/notesMaster" Target="/ppt/notesMasters/notesMaster1.xml" Id="Rfcdb2201ebb447f3"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43abbcb7de4925" /><Relationship Type="http://schemas.openxmlformats.org/officeDocument/2006/relationships/notesMaster" Target="/ppt/notesMasters/notesMaster1.xml" Id="R80ddf598751e40f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86edba3ff34922" /><Relationship Type="http://schemas.openxmlformats.org/officeDocument/2006/relationships/notesMaster" Target="/ppt/notesMasters/notesMaster1.xml" Id="Rba29b1cf958d45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831a70773db4276" /><Relationship Type="http://schemas.openxmlformats.org/officeDocument/2006/relationships/notesMaster" Target="/ppt/notesMasters/notesMaster1.xml" Id="Rd16fb2dfd63246c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model choice sounds simple until someone has to defend it. AI Build Crew is built around two promises: pick the right model and know the cost. A builder starts with an idea in everyday language. The corrected product turns that idea into a low, likely, and high cost-per-completed-task range and a defensible starting point before engineering time or API budget is committed.</a:t>
            </a:r>
          </a:p>
          <a:p xmlns:a="http://schemas.openxmlformats.org/drawingml/2006/main">
            <a:r>
              <a:t/>
            </a:r>
          </a:p>
          <a:p xmlns:a="http://schemas.openxmlformats.org/drawingml/2006/main">
            <a:r>
              <a:t>[Sources]</a:t>
            </a:r>
          </a:p>
          <a:p xmlns:a="http://schemas.openxmlformats.org/drawingml/2006/main">
            <a:r>
              <a:t>- AI Build Crew Agentic AI PRD, cost-contract correction, August 9, 2026</a:t>
            </a:r>
          </a:p>
          <a:p xmlns:a="http://schemas.openxmlformats.org/drawingml/2006/main">
            <a:r>
              <a:t>- AI Build Crew Cost Estimation Rules v1.0.0</a:t>
            </a:r>
          </a:p>
          <a:p xmlns:a="http://schemas.openxmlformats.org/drawingml/2006/main">
            <a:r>
              <a:t>- Generated AI Build Crew brand master, OpenAI ImageGen,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breaks before the math. Builders begin with a product question, but pricing is fragmented and generation behavior is variable. A single user-entered output number and one call per request can make a cheap model look cheaper than the completed workflow. AI Build Crew makes that uncertainty visible instead of hiding it in one monthly number.</a:t>
            </a:r>
          </a:p>
          <a:p xmlns:a="http://schemas.openxmlformats.org/drawingml/2006/main">
            <a:r>
              <a:t/>
            </a:r>
          </a:p>
          <a:p xmlns:a="http://schemas.openxmlformats.org/drawingml/2006/main">
            <a:r>
              <a:t>[Sources]</a:t>
            </a:r>
          </a:p>
          <a:p xmlns:a="http://schemas.openxmlformats.org/drawingml/2006/main">
            <a:r>
              <a:t>- AI Build Crew Agentic AI PRD, Discovery and Evaluation rows, August 9, 2026</a:t>
            </a:r>
          </a:p>
          <a:p xmlns:a="http://schemas.openxmlformats.org/drawingml/2006/main">
            <a:r>
              <a:t>- AI Build Crew Feedback and Control Register,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user is a product person building an AI-powered application, agent, or tool without a dedicated AI architect or FinOps partner. They understand the user problem and business constraints, but should not need to know token math, cache policy, or model architecture to begin. Their job is straightforward: forecast the likely cost, see where the estimate is uncertain, and understand what changes if they choose another model.</a:t>
            </a:r>
          </a:p>
          <a:p xmlns:a="http://schemas.openxmlformats.org/drawingml/2006/main">
            <a:r>
              <a:t/>
            </a:r>
          </a:p>
          <a:p xmlns:a="http://schemas.openxmlformats.org/drawingml/2006/main">
            <a:r>
              <a:t>[Sources]</a:t>
            </a:r>
          </a:p>
          <a:p xmlns:a="http://schemas.openxmlformats.org/drawingml/2006/main">
            <a:r>
              <a:t>- AI Build Crew Agentic AI PRD, specific-user and job-to-be-done rows,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experience starts with the idea, then asks the technical questions. The description remains context; it never silently becomes a decision fact. The user can take the guide, enter known usage, or load a safe example. Before calculation, they review what is known, assumed, or unknown. In the current prototype the content stays in browser memory, is not sent to a model or application database, and clears on refresh.</a:t>
            </a:r>
          </a:p>
          <a:p xmlns:a="http://schemas.openxmlformats.org/drawingml/2006/main">
            <a:r>
              <a:t/>
            </a:r>
          </a:p>
          <a:p xmlns:a="http://schemas.openxmlformats.org/drawingml/2006/main">
            <a:r>
              <a:t>[Sources]</a:t>
            </a:r>
          </a:p>
          <a:p xmlns:a="http://schemas.openxmlformats.org/drawingml/2006/main">
            <a:r>
              <a:t>- AI Build Crew Agentic AI PRD, workflow and memory rows, August 9, 2026</a:t>
            </a:r>
          </a:p>
          <a:p xmlns:a="http://schemas.openxmlformats.org/drawingml/2006/main">
            <a:r>
              <a:t>- AI Build Crew application source, release candidate v0.2.0-rc.3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frozen product-analysis example uses one thousand completed tasks per day, twenty-four hundred input tokens, a detailed result, one primary step, and one checker. The user never enters output tokens. Terra's planning profile produces six hundred, twelve hundred, and twenty-two hundred fifty output tokens per primary call across the three scenarios, with retry multipliers from one to one point five. The chart reports 2.32, 4.08, and 8.56 cents per completed task using the official August 9 Terra token prices. Published prices are dated facts; behavior profiles are heuristics, not invoices.</a:t>
            </a:r>
          </a:p>
          <a:p xmlns:a="http://schemas.openxmlformats.org/drawingml/2006/main">
            <a:r>
              <a:t/>
            </a:r>
          </a:p>
          <a:p xmlns:a="http://schemas.openxmlformats.org/drawingml/2006/main">
            <a:r>
              <a:t>[Sources]</a:t>
            </a:r>
          </a:p>
          <a:p xmlns:a="http://schemas.openxmlformats.org/drawingml/2006/main">
            <a:r>
              <a:t>- https://developers.openai.com/api/docs/models/compare</a:t>
            </a:r>
          </a:p>
          <a:p xmlns:a="http://schemas.openxmlformats.org/drawingml/2006/main">
            <a:r>
              <a:t>- AI Build Crew model catalog, source date August 9, 2026</a:t>
            </a:r>
          </a:p>
          <a:p xmlns:a="http://schemas.openxmlformats.org/drawingml/2006/main">
            <a:r>
              <a:t>- AI Build Crew Cost Estimation Rules v1.0.0</a:t>
            </a:r>
          </a:p>
          <a:p xmlns:a="http://schemas.openxmlformats.org/drawingml/2006/main">
            <a:r>
              <a:t>- AI Build Crew decision engine v1.3.0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correction becomes hard through a specialist workflow. The estimator freezes three scenarios. The Cost Evaluation Specialist rejects output-token input, checks ordered output and retry profiles, confirms primary and checker steps, and independently recomputes the ledger without calling the estimator formula. Eligibility filters. Audit checks versions and invariants. Governance blocks a failed evaluation through GOV-009. The human owns the decision.</a:t>
            </a:r>
          </a:p>
          <a:p xmlns:a="http://schemas.openxmlformats.org/drawingml/2006/main">
            <a:r>
              <a:t/>
            </a:r>
          </a:p>
          <a:p xmlns:a="http://schemas.openxmlformats.org/drawingml/2006/main">
            <a:r>
              <a:t>[Sources]</a:t>
            </a:r>
          </a:p>
          <a:p xmlns:a="http://schemas.openxmlformats.org/drawingml/2006/main">
            <a:r>
              <a:t>- AI Build Crew TeamOS v1.0</a:t>
            </a:r>
          </a:p>
          <a:p xmlns:a="http://schemas.openxmlformats.org/drawingml/2006/main">
            <a:r>
              <a:t>- AI Build Crew Cost Evaluation Specialist, cost-contract-1.0.0</a:t>
            </a:r>
          </a:p>
          <a:p xmlns:a="http://schemas.openxmlformats.org/drawingml/2006/main">
            <a:r>
              <a:t>- AI Build Crew Governance and Evaluation, August 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Fifteen automated checks pass. They include COST-001 through COST-006, model-owned output profiles, retry and checker inclusion, deliberate ledger corruption, governance failure propagation, deterministic output, fail-closed safety cases, stable ranking, and rendered-page smoke. Zero generative calls can change the decision path. The boundary is explicit: current behavior profiles are planning heuristics, so GOV-015 warns until repeated live evaluation measures them.</a:t>
            </a:r>
          </a:p>
          <a:p xmlns:a="http://schemas.openxmlformats.org/drawingml/2006/main">
            <a:r>
              <a:t/>
            </a:r>
          </a:p>
          <a:p xmlns:a="http://schemas.openxmlformats.org/drawingml/2006/main">
            <a:r>
              <a:t>[Sources]</a:t>
            </a:r>
          </a:p>
          <a:p xmlns:a="http://schemas.openxmlformats.org/drawingml/2006/main">
            <a:r>
              <a:t>- AI Build Crew automated test suite, decision engine v1.3.0</a:t>
            </a:r>
          </a:p>
          <a:p xmlns:a="http://schemas.openxmlformats.org/drawingml/2006/main">
            <a:r>
              <a:t>- AI Build Crew Evaluation report, August 9, 2026</a:t>
            </a:r>
          </a:p>
          <a:p xmlns:a="http://schemas.openxmlformats.org/drawingml/2006/main">
            <a:r>
              <a:t>- AI Build Crew Cost Estimation Rules v1.0.0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release first deploys this corrected cost contract and reruns the first-time-user test. Then repeated synthetic workloads measure task-by-model completed-task success, p10, p50, and p90 output, retry rate, checker rate, latency, and actual charged cost. Only evidence meeting the sample and confidence threshold replaces a heuristic profile. Shared provider evaluation and actual-charge reconciliation follow. The final model decision stays human-owned.</a:t>
            </a:r>
          </a:p>
          <a:p xmlns:a="http://schemas.openxmlformats.org/drawingml/2006/main">
            <a:r>
              <a:t/>
            </a:r>
          </a:p>
          <a:p xmlns:a="http://schemas.openxmlformats.org/drawingml/2006/main">
            <a:r>
              <a:t>[Sources]</a:t>
            </a:r>
          </a:p>
          <a:p xmlns:a="http://schemas.openxmlformats.org/drawingml/2006/main">
            <a:r>
              <a:t>- AI Build Crew Agentic AI PRD, evaluation, limitations, and rollout rows, August 9, 2026</a:t>
            </a:r>
          </a:p>
          <a:p xmlns:a="http://schemas.openxmlformats.org/drawingml/2006/main">
            <a:r>
              <a:t>- AI Build Crew Backlog, shared live evaluation</a:t>
            </a:r>
          </a:p>
          <a:p xmlns:a="http://schemas.openxmlformats.org/drawingml/2006/main">
            <a:r>
              <a:t>- Generated AI Build Crew brand master, OpenAI ImageGen, August 8,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24bd8c190a41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7cfc4c3f7964e1c" /><Relationship Type="http://schemas.openxmlformats.org/officeDocument/2006/relationships/slideLayout" Target="/ppt/slideLayouts/slideLayout1.xml" Id="R2e1c2807af164f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1c2807af164f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f422c0149d4937" /><Relationship Type="http://schemas.openxmlformats.org/officeDocument/2006/relationships/image" Target="/ppt/media/image.png" Id="R6d3692eb03e04fa6" /><Relationship Type="http://schemas.openxmlformats.org/officeDocument/2006/relationships/notesSlide" Target="/ppt/notesSlides/notesSlide1.xml" Id="R216d19c0f6b14b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8cbd8e0873d406f" /><Relationship Type="http://schemas.openxmlformats.org/officeDocument/2006/relationships/notesSlide" Target="/ppt/notesSlides/notesSlide2.xml" Id="Ra3d8892898db49d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86c66901d754d93" /><Relationship Type="http://schemas.openxmlformats.org/officeDocument/2006/relationships/notesSlide" Target="/ppt/notesSlides/notesSlide3.xml" Id="R68952bdec7064a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6c8b52b666b4fe2" /><Relationship Type="http://schemas.openxmlformats.org/officeDocument/2006/relationships/notesSlide" Target="/ppt/notesSlides/notesSlide4.xml" Id="Rb2d9beac84ee4f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bfe9c0750884647" /><Relationship Type="http://schemas.openxmlformats.org/officeDocument/2006/relationships/chart" Target="/ppt/slides/charts/chart1.xml" Id="R82eeede9b1134522" /><Relationship Type="http://schemas.openxmlformats.org/officeDocument/2006/relationships/notesSlide" Target="/ppt/notesSlides/notesSlide5.xml" Id="Rb558c9baa45a469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f71610058a1429e" /><Relationship Type="http://schemas.openxmlformats.org/officeDocument/2006/relationships/notesSlide" Target="/ppt/notesSlides/notesSlide6.xml" Id="Rc98198d90a9a4e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a95832f2e9f4d31" /><Relationship Type="http://schemas.openxmlformats.org/officeDocument/2006/relationships/notesSlide" Target="/ppt/notesSlides/notesSlide7.xml" Id="Rb19c5d5431c4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b60cc7fb80245cc" /><Relationship Type="http://schemas.openxmlformats.org/officeDocument/2006/relationships/image" Target="/ppt/media/image2.png" Id="R4efa55a1d9b343c9" /><Relationship Type="http://schemas.openxmlformats.org/officeDocument/2006/relationships/notesSlide" Target="/ppt/notesSlides/notesSlide8.xml" Id="R19466d0acf024f8b" /></Relationships>
</file>

<file path=ppt/slides/charts/chart1.xml><?xml version="1.0" encoding="utf-8"?>
<c:chartSpace xmlns:c="http://schemas.openxmlformats.org/drawingml/2006/chart">
  <c:lang val="en-US"/>
  <c:chart>
    <c:plotArea>
      <c:barChart>
        <c:barDir val="col"/>
        <c:varyColors val="0"/>
        <c:ser>
          <c:idx val="0"/>
          <c:order val="0"/>
          <c:tx>
            <c:v>Cents per completed task</c:v>
          </c:tx>
          <c:spPr>
            <a:solidFill xmlns:a="http://schemas.openxmlformats.org/drawingml/2006/main">
              <a:srgbClr val="8F7BFF"/>
            </a:solidFill>
          </c:spPr>
          <c:cat>
            <c:strLit>
              <c:ptCount val="3"/>
              <c:pt idx="0">
                <c:v>Low</c:v>
              </c:pt>
              <c:pt idx="1">
                <c:v>Likely</c:v>
              </c:pt>
              <c:pt idx="2">
                <c:v>High</c:v>
              </c:pt>
            </c:strLit>
          </c:cat>
          <c:val>
            <c:numLit>
              <c:formatCode>0.00</c:formatCode>
              <c:ptCount val="3"/>
              <c:pt idx="0">
                <c:v>2.322</c:v>
              </c:pt>
              <c:pt idx="1">
                <c:v>4.0848</c:v>
              </c:pt>
              <c:pt idx="2">
                <c:v>8.55675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CDD0C8"/>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d3692eb03e04fa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2CC496-2ACE-4D54-9FC4-610FA3979382}"/>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F3EFE5">
              <a:alpha val="9098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F963646-EFA4-4DE8-AB98-10A6092F9390}"/>
              </a:ext>
            </a:extLst>
          </p:cNvPr>
          <p:cNvSpPr>
            <a:spLocks xmlns:a="http://schemas.openxmlformats.org/drawingml/2006/main" noGrp="1"/>
          </p:cNvSpPr>
          <p:nvPr/>
        </p:nvSpPr>
        <p:spPr>
          <a:xfrm xmlns:a="http://schemas.openxmlformats.org/drawingml/2006/main">
            <a:off x="685800" y="5905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PRODUCT REVIEW · VALIDATED PROTOTYPE</a:t>
            </a:r>
          </a:p>
        </p:txBody>
      </p:sp>
      <p:sp>
        <p:nvSpPr>
          <p:cNvPr id="4" name="">
            <a:extLst xmlns:a="http://schemas.openxmlformats.org/drawingml/2006/main">
              <a:ext uri="{FF2B5EF4-FFF2-40B4-BE49-F238E27FC236}">
                <a16:creationId xmlns:a16="http://schemas.microsoft.com/office/drawing/2014/main" id="{02EA604F-D592-4E75-964A-C3A66AD881CA}"/>
              </a:ext>
            </a:extLst>
          </p:cNvPr>
          <p:cNvSpPr>
            <a:spLocks xmlns:a="http://schemas.openxmlformats.org/drawingml/2006/main" noGrp="1"/>
          </p:cNvSpPr>
          <p:nvPr/>
        </p:nvSpPr>
        <p:spPr>
          <a:xfrm xmlns:a="http://schemas.openxmlformats.org/drawingml/2006/main">
            <a:off x="685800" y="1381125"/>
            <a:ext cx="447675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5400" b="1">
                <a:solidFill>
                  <a:srgbClr val="152015"/>
                </a:solidFill>
              </a:defRPr>
            </a:pPr>
            <a:r>
              <a:rPr sz="5400" b="1">
                <a:solidFill>
                  <a:srgbClr val="152015"/>
                </a:solidFill>
              </a:rPr>
              <a:t>AI Build</a:t>
            </a:r>
          </a:p>
          <a:p xmlns:a="http://schemas.openxmlformats.org/drawingml/2006/main">
            <a:pPr algn="l">
              <a:buNone/>
              <a:defRPr sz="5400" b="1">
                <a:solidFill>
                  <a:srgbClr val="152015"/>
                </a:solidFill>
              </a:defRPr>
            </a:pPr>
            <a:r>
              <a:rPr sz="5400" b="1">
                <a:solidFill>
                  <a:srgbClr val="152015"/>
                </a:solidFill>
              </a:rPr>
              <a:t>Crew</a:t>
            </a:r>
          </a:p>
        </p:txBody>
      </p:sp>
      <p:sp>
        <p:nvSpPr>
          <p:cNvPr id="5" name="">
            <a:extLst xmlns:a="http://schemas.openxmlformats.org/drawingml/2006/main">
              <a:ext uri="{FF2B5EF4-FFF2-40B4-BE49-F238E27FC236}">
                <a16:creationId xmlns:a16="http://schemas.microsoft.com/office/drawing/2014/main" id="{9624EAE0-1D67-420C-8578-987F1E99F251}"/>
              </a:ext>
            </a:extLst>
          </p:cNvPr>
          <p:cNvSpPr>
            <a:spLocks xmlns:a="http://schemas.openxmlformats.org/drawingml/2006/main" noGrp="1"/>
          </p:cNvSpPr>
          <p:nvPr/>
        </p:nvSpPr>
        <p:spPr>
          <a:xfrm xmlns:a="http://schemas.openxmlformats.org/drawingml/2006/main">
            <a:off x="685800" y="3305175"/>
            <a:ext cx="895350" cy="66675"/>
          </a:xfrm>
          <a:prstGeom xmlns:a="http://schemas.openxmlformats.org/drawingml/2006/main" prst="rect">
            <a:avLst/>
          </a:prstGeom>
          <a:solidFill xmlns:a="http://schemas.openxmlformats.org/drawingml/2006/main">
            <a:srgbClr val="D8FF5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0186DE-8C53-4B02-AEFC-8C7F7ACDF595}"/>
              </a:ext>
            </a:extLst>
          </p:cNvPr>
          <p:cNvSpPr>
            <a:spLocks xmlns:a="http://schemas.openxmlformats.org/drawingml/2006/main" noGrp="1"/>
          </p:cNvSpPr>
          <p:nvPr/>
        </p:nvSpPr>
        <p:spPr>
          <a:xfrm xmlns:a="http://schemas.openxmlformats.org/drawingml/2006/main">
            <a:off x="685800" y="3619500"/>
            <a:ext cx="4476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0">
                <a:solidFill>
                  <a:srgbClr val="152015"/>
                </a:solidFill>
              </a:defRPr>
            </a:pPr>
            <a:r>
              <a:rPr sz="2100" b="0">
                <a:solidFill>
                  <a:srgbClr val="152015"/>
                </a:solidFill>
              </a:rPr>
              <a:t>Pick the right model.</a:t>
            </a:r>
          </a:p>
          <a:p xmlns:a="http://schemas.openxmlformats.org/drawingml/2006/main">
            <a:pPr algn="l">
              <a:buNone/>
              <a:defRPr sz="2100" b="0">
                <a:solidFill>
                  <a:srgbClr val="152015"/>
                </a:solidFill>
              </a:defRPr>
            </a:pPr>
            <a:r>
              <a:rPr sz="2100" b="0">
                <a:solidFill>
                  <a:srgbClr val="152015"/>
                </a:solidFill>
              </a:rPr>
              <a:t>Know the cost.</a:t>
            </a:r>
          </a:p>
          <a:p xmlns:a="http://schemas.openxmlformats.org/drawingml/2006/main">
            <a:pPr algn="l">
              <a:buNone/>
              <a:defRPr sz="2100" b="0">
                <a:solidFill>
                  <a:srgbClr val="152015"/>
                </a:solidFill>
              </a:defRPr>
            </a:pPr>
            <a:r>
              <a:rPr sz="2100" b="0">
                <a:solidFill>
                  <a:srgbClr val="152015"/>
                </a:solidFill>
              </a:rPr>
              <a:t>Start with an idea.</a:t>
            </a:r>
          </a:p>
        </p:txBody>
      </p:sp>
      <p:sp>
        <p:nvSpPr>
          <p:cNvPr id="7" name="">
            <a:extLst xmlns:a="http://schemas.openxmlformats.org/drawingml/2006/main">
              <a:ext uri="{FF2B5EF4-FFF2-40B4-BE49-F238E27FC236}">
                <a16:creationId xmlns:a16="http://schemas.microsoft.com/office/drawing/2014/main" id="{27A2C4C4-8054-486E-A4DA-B459736F2917}"/>
              </a:ext>
            </a:extLst>
          </p:cNvPr>
          <p:cNvSpPr>
            <a:spLocks xmlns:a="http://schemas.openxmlformats.org/drawingml/2006/main" noGrp="1"/>
          </p:cNvSpPr>
          <p:nvPr/>
        </p:nvSpPr>
        <p:spPr>
          <a:xfrm xmlns:a="http://schemas.openxmlformats.org/drawingml/2006/main">
            <a:off x="685800" y="595312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687068"/>
                </a:solidFill>
              </a:defRPr>
            </a:pPr>
            <a:r>
              <a:rPr sz="1050" b="1">
                <a:solidFill>
                  <a:srgbClr val="687068"/>
                </a:solidFill>
              </a:rPr>
              <a:t>Human-owned decisions · Reproducible math · Provider-neutral path</a:t>
            </a:r>
          </a:p>
        </p:txBody>
      </p:sp>
    </p:spTree>
    <p:extLst>
      <p:ext uri="{BB962C8B-B14F-4D97-AF65-F5344CB8AC3E}">
        <p14:creationId xmlns:p14="http://schemas.microsoft.com/office/powerpoint/2010/main" val="826955634"/>
      </p:ext>
    </p:extLst>
  </p:cSld>
</p:sld>
</file>

<file path=ppt/slides/slide2.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734CB4F-60D9-4D2A-AD31-BD426BA2229D}"/>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01</a:t>
            </a:r>
          </a:p>
        </p:txBody>
      </p:sp>
      <p:sp>
        <p:nvSpPr>
          <p:cNvPr id="2" name="">
            <a:extLst xmlns:a="http://schemas.openxmlformats.org/drawingml/2006/main">
              <a:ext uri="{FF2B5EF4-FFF2-40B4-BE49-F238E27FC236}">
                <a16:creationId xmlns:a16="http://schemas.microsoft.com/office/drawing/2014/main" id="{C08E2C08-1A14-4432-8B89-E86BBFECDD0B}"/>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FFFF"/>
                </a:solidFill>
              </a:defRPr>
            </a:pPr>
            <a:r>
              <a:rPr sz="975" b="1">
                <a:solidFill>
                  <a:srgbClr val="FFFFFF"/>
                </a:solidFill>
              </a:rPr>
              <a:t>THE PROBLEM</a:t>
            </a:r>
          </a:p>
        </p:txBody>
      </p:sp>
      <p:sp>
        <p:nvSpPr>
          <p:cNvPr id="3" name="">
            <a:extLst xmlns:a="http://schemas.openxmlformats.org/drawingml/2006/main">
              <a:ext uri="{FF2B5EF4-FFF2-40B4-BE49-F238E27FC236}">
                <a16:creationId xmlns:a16="http://schemas.microsoft.com/office/drawing/2014/main" id="{CB0598B4-E74D-4ABE-B35F-EF073184D6CF}"/>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ACCA7E-1B52-4F4E-89C6-94D13228C085}"/>
              </a:ext>
            </a:extLst>
          </p:cNvPr>
          <p:cNvSpPr>
            <a:spLocks xmlns:a="http://schemas.openxmlformats.org/drawingml/2006/main" noGrp="1"/>
          </p:cNvSpPr>
          <p:nvPr/>
        </p:nvSpPr>
        <p:spPr>
          <a:xfrm xmlns:a="http://schemas.openxmlformats.org/drawingml/2006/main">
            <a:off x="685800" y="1143000"/>
            <a:ext cx="6191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FFFFFF"/>
                </a:solidFill>
              </a:defRPr>
            </a:pPr>
            <a:r>
              <a:rPr sz="3450" b="1">
                <a:solidFill>
                  <a:srgbClr val="FFFFFF"/>
                </a:solidFill>
              </a:rPr>
              <a:t>Model choice breaks</a:t>
            </a:r>
          </a:p>
          <a:p xmlns:a="http://schemas.openxmlformats.org/drawingml/2006/main">
            <a:pPr algn="l">
              <a:buNone/>
              <a:defRPr sz="3450" b="1">
                <a:solidFill>
                  <a:srgbClr val="FFFFFF"/>
                </a:solidFill>
              </a:defRPr>
            </a:pPr>
            <a:r>
              <a:rPr sz="3450" b="1">
                <a:solidFill>
                  <a:srgbClr val="FFFFFF"/>
                </a:solidFill>
              </a:rPr>
              <a:t>before the first calculation.</a:t>
            </a:r>
          </a:p>
        </p:txBody>
      </p:sp>
      <p:sp>
        <p:nvSpPr>
          <p:cNvPr id="5" name="">
            <a:extLst xmlns:a="http://schemas.openxmlformats.org/drawingml/2006/main">
              <a:ext uri="{FF2B5EF4-FFF2-40B4-BE49-F238E27FC236}">
                <a16:creationId xmlns:a16="http://schemas.microsoft.com/office/drawing/2014/main" id="{1824CE29-0195-4195-9685-A0AC9E066317}"/>
              </a:ext>
            </a:extLst>
          </p:cNvPr>
          <p:cNvSpPr>
            <a:spLocks xmlns:a="http://schemas.openxmlformats.org/drawingml/2006/main" noGrp="1"/>
          </p:cNvSpPr>
          <p:nvPr/>
        </p:nvSpPr>
        <p:spPr>
          <a:xfrm xmlns:a="http://schemas.openxmlformats.org/drawingml/2006/main">
            <a:off x="685800"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D8FF55"/>
                </a:solidFill>
              </a:defRPr>
            </a:pPr>
            <a:r>
              <a:rPr sz="2100" b="1">
                <a:solidFill>
                  <a:srgbClr val="D8FF55"/>
                </a:solidFill>
              </a:rPr>
              <a:t>IDEA</a:t>
            </a:r>
          </a:p>
        </p:txBody>
      </p:sp>
      <p:sp>
        <p:nvSpPr>
          <p:cNvPr id="6" name="">
            <a:extLst xmlns:a="http://schemas.openxmlformats.org/drawingml/2006/main">
              <a:ext uri="{FF2B5EF4-FFF2-40B4-BE49-F238E27FC236}">
                <a16:creationId xmlns:a16="http://schemas.microsoft.com/office/drawing/2014/main" id="{013C0A84-F6D3-4958-8C93-9B4E1923C2DE}"/>
              </a:ext>
            </a:extLst>
          </p:cNvPr>
          <p:cNvSpPr>
            <a:spLocks xmlns:a="http://schemas.openxmlformats.org/drawingml/2006/main" noGrp="1"/>
          </p:cNvSpPr>
          <p:nvPr/>
        </p:nvSpPr>
        <p:spPr>
          <a:xfrm xmlns:a="http://schemas.openxmlformats.org/drawingml/2006/main">
            <a:off x="685800"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97BB3A9-196C-432F-9899-DAADC3268B03}"/>
              </a:ext>
            </a:extLst>
          </p:cNvPr>
          <p:cNvSpPr>
            <a:spLocks xmlns:a="http://schemas.openxmlformats.org/drawingml/2006/main" noGrp="1"/>
          </p:cNvSpPr>
          <p:nvPr/>
        </p:nvSpPr>
        <p:spPr>
          <a:xfrm xmlns:a="http://schemas.openxmlformats.org/drawingml/2006/main">
            <a:off x="685800"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Builders begin with a product question—not a token forecast.</a:t>
            </a:r>
          </a:p>
        </p:txBody>
      </p:sp>
      <p:sp>
        <p:nvSpPr>
          <p:cNvPr id="8" name="">
            <a:extLst xmlns:a="http://schemas.openxmlformats.org/drawingml/2006/main">
              <a:ext uri="{FF2B5EF4-FFF2-40B4-BE49-F238E27FC236}">
                <a16:creationId xmlns:a16="http://schemas.microsoft.com/office/drawing/2014/main" id="{B13045EF-AC5E-4574-AB61-F96B772B96E3}"/>
              </a:ext>
            </a:extLst>
          </p:cNvPr>
          <p:cNvSpPr>
            <a:spLocks xmlns:a="http://schemas.openxmlformats.org/drawingml/2006/main" noGrp="1"/>
          </p:cNvSpPr>
          <p:nvPr/>
        </p:nvSpPr>
        <p:spPr>
          <a:xfrm xmlns:a="http://schemas.openxmlformats.org/drawingml/2006/main">
            <a:off x="4276725"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8F7BFF"/>
                </a:solidFill>
              </a:defRPr>
            </a:pPr>
            <a:r>
              <a:rPr sz="2100" b="1">
                <a:solidFill>
                  <a:srgbClr val="8F7BFF"/>
                </a:solidFill>
              </a:rPr>
              <a:t>PRICE</a:t>
            </a:r>
          </a:p>
        </p:txBody>
      </p:sp>
      <p:sp>
        <p:nvSpPr>
          <p:cNvPr id="9" name="">
            <a:extLst xmlns:a="http://schemas.openxmlformats.org/drawingml/2006/main">
              <a:ext uri="{FF2B5EF4-FFF2-40B4-BE49-F238E27FC236}">
                <a16:creationId xmlns:a16="http://schemas.microsoft.com/office/drawing/2014/main" id="{C4F35A5B-254B-4CC8-865E-019CC9367913}"/>
              </a:ext>
            </a:extLst>
          </p:cNvPr>
          <p:cNvSpPr>
            <a:spLocks xmlns:a="http://schemas.openxmlformats.org/drawingml/2006/main" noGrp="1"/>
          </p:cNvSpPr>
          <p:nvPr/>
        </p:nvSpPr>
        <p:spPr>
          <a:xfrm xmlns:a="http://schemas.openxmlformats.org/drawingml/2006/main">
            <a:off x="4276725"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6FB1C2-BD3E-43CC-8970-2C98B2C4D69E}"/>
              </a:ext>
            </a:extLst>
          </p:cNvPr>
          <p:cNvSpPr>
            <a:spLocks xmlns:a="http://schemas.openxmlformats.org/drawingml/2006/main" noGrp="1"/>
          </p:cNvSpPr>
          <p:nvPr/>
        </p:nvSpPr>
        <p:spPr>
          <a:xfrm xmlns:a="http://schemas.openxmlformats.org/drawingml/2006/main">
            <a:off x="4276725"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Provider prices, units, and fees are fragmented and change.</a:t>
            </a:r>
          </a:p>
        </p:txBody>
      </p:sp>
      <p:sp>
        <p:nvSpPr>
          <p:cNvPr id="11" name="">
            <a:extLst xmlns:a="http://schemas.openxmlformats.org/drawingml/2006/main">
              <a:ext uri="{FF2B5EF4-FFF2-40B4-BE49-F238E27FC236}">
                <a16:creationId xmlns:a16="http://schemas.microsoft.com/office/drawing/2014/main" id="{A1082695-D7E4-4FC4-AB79-F37923AC6C5A}"/>
              </a:ext>
            </a:extLst>
          </p:cNvPr>
          <p:cNvSpPr>
            <a:spLocks xmlns:a="http://schemas.openxmlformats.org/drawingml/2006/main" noGrp="1"/>
          </p:cNvSpPr>
          <p:nvPr/>
        </p:nvSpPr>
        <p:spPr>
          <a:xfrm xmlns:a="http://schemas.openxmlformats.org/drawingml/2006/main">
            <a:off x="7867650" y="30480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FF8159"/>
                </a:solidFill>
              </a:defRPr>
            </a:pPr>
            <a:r>
              <a:rPr sz="2100" b="1">
                <a:solidFill>
                  <a:srgbClr val="FF8159"/>
                </a:solidFill>
              </a:rPr>
              <a:t>RISK</a:t>
            </a:r>
          </a:p>
        </p:txBody>
      </p:sp>
      <p:sp>
        <p:nvSpPr>
          <p:cNvPr id="12" name="">
            <a:extLst xmlns:a="http://schemas.openxmlformats.org/drawingml/2006/main">
              <a:ext uri="{FF2B5EF4-FFF2-40B4-BE49-F238E27FC236}">
                <a16:creationId xmlns:a16="http://schemas.microsoft.com/office/drawing/2014/main" id="{24935BAB-6608-4EAD-9DF9-CF9537FA7FF6}"/>
              </a:ext>
            </a:extLst>
          </p:cNvPr>
          <p:cNvSpPr>
            <a:spLocks xmlns:a="http://schemas.openxmlformats.org/drawingml/2006/main" noGrp="1"/>
          </p:cNvSpPr>
          <p:nvPr/>
        </p:nvSpPr>
        <p:spPr>
          <a:xfrm xmlns:a="http://schemas.openxmlformats.org/drawingml/2006/main">
            <a:off x="7867650" y="3543300"/>
            <a:ext cx="304800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7D7054D-6128-4308-A53F-3BCE14FB32F4}"/>
              </a:ext>
            </a:extLst>
          </p:cNvPr>
          <p:cNvSpPr>
            <a:spLocks xmlns:a="http://schemas.openxmlformats.org/drawingml/2006/main" noGrp="1"/>
          </p:cNvSpPr>
          <p:nvPr/>
        </p:nvSpPr>
        <p:spPr>
          <a:xfrm xmlns:a="http://schemas.openxmlformats.org/drawingml/2006/main">
            <a:off x="7867650" y="3829050"/>
            <a:ext cx="3000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FFFFFF"/>
                </a:solidFill>
              </a:defRPr>
            </a:pPr>
            <a:r>
              <a:rPr sz="1575" b="0">
                <a:solidFill>
                  <a:srgbClr val="FFFFFF"/>
                </a:solidFill>
              </a:rPr>
              <a:t>The cheapest model may be unsafe; the premium default may waste budget.</a:t>
            </a:r>
          </a:p>
        </p:txBody>
      </p:sp>
      <p:sp>
        <p:nvSpPr>
          <p:cNvPr id="14" name="">
            <a:extLst xmlns:a="http://schemas.openxmlformats.org/drawingml/2006/main">
              <a:ext uri="{FF2B5EF4-FFF2-40B4-BE49-F238E27FC236}">
                <a16:creationId xmlns:a16="http://schemas.microsoft.com/office/drawing/2014/main" id="{A9E57890-DEA8-4741-AE7F-F23527FF4C2C}"/>
              </a:ext>
            </a:extLst>
          </p:cNvPr>
          <p:cNvSpPr>
            <a:spLocks xmlns:a="http://schemas.openxmlformats.org/drawingml/2006/main" noGrp="1"/>
          </p:cNvSpPr>
          <p:nvPr/>
        </p:nvSpPr>
        <p:spPr>
          <a:xfrm xmlns:a="http://schemas.openxmlformats.org/drawingml/2006/main">
            <a:off x="685800" y="5572125"/>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250" b="1">
                <a:solidFill>
                  <a:srgbClr val="D8FF55"/>
                </a:solidFill>
              </a:defRPr>
            </a:pPr>
            <a:r>
              <a:rPr sz="2250" b="1">
                <a:solidFill>
                  <a:srgbClr val="D8FF55"/>
                </a:solidFill>
              </a:rPr>
              <a:t>False precision is the real first cost.</a:t>
            </a:r>
          </a:p>
        </p:txBody>
      </p:sp>
      <p:sp>
        <p:nvSpPr>
          <p:cNvPr id="15" name="">
            <a:extLst xmlns:a="http://schemas.openxmlformats.org/drawingml/2006/main">
              <a:ext uri="{FF2B5EF4-FFF2-40B4-BE49-F238E27FC236}">
                <a16:creationId xmlns:a16="http://schemas.microsoft.com/office/drawing/2014/main" id="{01DFE82F-B914-47D3-BE54-D27FC7629283}"/>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B7C0B7"/>
                </a:solidFill>
              </a:defRPr>
            </a:pPr>
            <a:r>
              <a:rPr sz="825" b="1">
                <a:solidFill>
                  <a:srgbClr val="B7C0B7"/>
                </a:solidFill>
              </a:rPr>
              <a:t>AI BUILD CREW · BADLABZ.COM</a:t>
            </a:r>
          </a:p>
        </p:txBody>
      </p:sp>
      <p:sp>
        <p:nvSpPr>
          <p:cNvPr id="16" name="">
            <a:extLst xmlns:a="http://schemas.openxmlformats.org/drawingml/2006/main">
              <a:ext uri="{FF2B5EF4-FFF2-40B4-BE49-F238E27FC236}">
                <a16:creationId xmlns:a16="http://schemas.microsoft.com/office/drawing/2014/main" id="{74E0951C-DAEC-4BBF-AE86-3E125F429382}"/>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D8FF55"/>
                </a:solidFill>
              </a:defRPr>
            </a:pPr>
            <a:r>
              <a:rPr sz="825" b="1">
                <a:solidFill>
                  <a:srgbClr val="D8FF55"/>
                </a:solidFill>
              </a:rPr>
              <a:t>02</a:t>
            </a:r>
          </a:p>
        </p:txBody>
      </p:sp>
    </p:spTree>
    <p:extLst>
      <p:ext uri="{BB962C8B-B14F-4D97-AF65-F5344CB8AC3E}">
        <p14:creationId xmlns:p14="http://schemas.microsoft.com/office/powerpoint/2010/main" val="2034995705"/>
      </p:ext>
    </p:extLst>
  </p:cSld>
</p:sld>
</file>

<file path=ppt/slides/slide3.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FB0C0E-97AD-45C1-802B-CD871616144D}"/>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02</a:t>
            </a:r>
          </a:p>
        </p:txBody>
      </p:sp>
      <p:sp>
        <p:nvSpPr>
          <p:cNvPr id="2" name="">
            <a:extLst xmlns:a="http://schemas.openxmlformats.org/drawingml/2006/main">
              <a:ext uri="{FF2B5EF4-FFF2-40B4-BE49-F238E27FC236}">
                <a16:creationId xmlns:a16="http://schemas.microsoft.com/office/drawing/2014/main" id="{C8E24F56-CF1D-4412-AC24-C6F93A33F0C9}"/>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THE FIRST USER</a:t>
            </a:r>
          </a:p>
        </p:txBody>
      </p:sp>
      <p:sp>
        <p:nvSpPr>
          <p:cNvPr id="3" name="">
            <a:extLst xmlns:a="http://schemas.openxmlformats.org/drawingml/2006/main">
              <a:ext uri="{FF2B5EF4-FFF2-40B4-BE49-F238E27FC236}">
                <a16:creationId xmlns:a16="http://schemas.microsoft.com/office/drawing/2014/main" id="{471E9BA6-8E56-48C2-A0DD-8E1C2540A158}"/>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4880AD-35CE-41EE-8ACC-B2089BAECF72}"/>
              </a:ext>
            </a:extLst>
          </p:cNvPr>
          <p:cNvSpPr>
            <a:spLocks xmlns:a="http://schemas.openxmlformats.org/drawingml/2006/main" noGrp="1"/>
          </p:cNvSpPr>
          <p:nvPr/>
        </p:nvSpPr>
        <p:spPr>
          <a:xfrm xmlns:a="http://schemas.openxmlformats.org/drawingml/2006/main">
            <a:off x="685800" y="1162050"/>
            <a:ext cx="6191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152015"/>
                </a:solidFill>
              </a:defRPr>
            </a:pPr>
            <a:r>
              <a:rPr sz="3450" b="1">
                <a:solidFill>
                  <a:srgbClr val="152015"/>
                </a:solidFill>
              </a:rPr>
              <a:t>A builder wants a cost</a:t>
            </a:r>
          </a:p>
          <a:p xmlns:a="http://schemas.openxmlformats.org/drawingml/2006/main">
            <a:pPr algn="l">
              <a:buNone/>
              <a:defRPr sz="3450" b="1">
                <a:solidFill>
                  <a:srgbClr val="152015"/>
                </a:solidFill>
              </a:defRPr>
            </a:pPr>
            <a:r>
              <a:rPr sz="3450" b="1">
                <a:solidFill>
                  <a:srgbClr val="152015"/>
                </a:solidFill>
              </a:rPr>
              <a:t>before committing the build.</a:t>
            </a:r>
          </a:p>
        </p:txBody>
      </p:sp>
      <p:sp>
        <p:nvSpPr>
          <p:cNvPr id="5" name="">
            <a:extLst xmlns:a="http://schemas.openxmlformats.org/drawingml/2006/main">
              <a:ext uri="{FF2B5EF4-FFF2-40B4-BE49-F238E27FC236}">
                <a16:creationId xmlns:a16="http://schemas.microsoft.com/office/drawing/2014/main" id="{8604728B-1E4C-45B3-A884-D74DF2A0D784}"/>
              </a:ext>
            </a:extLst>
          </p:cNvPr>
          <p:cNvSpPr>
            <a:spLocks xmlns:a="http://schemas.openxmlformats.org/drawingml/2006/main" noGrp="1"/>
          </p:cNvSpPr>
          <p:nvPr/>
        </p:nvSpPr>
        <p:spPr>
          <a:xfrm xmlns:a="http://schemas.openxmlformats.org/drawingml/2006/main">
            <a:off x="685800" y="2571750"/>
            <a:ext cx="5619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687068"/>
                </a:solidFill>
              </a:defRPr>
            </a:pPr>
            <a:r>
              <a:rPr sz="1650" b="0">
                <a:solidFill>
                  <a:srgbClr val="687068"/>
                </a:solidFill>
              </a:rPr>
              <a:t>They should not need to know a model name, token count, context window, cache policy, or agent architecture to begin.</a:t>
            </a:r>
          </a:p>
        </p:txBody>
      </p:sp>
      <p:sp>
        <p:nvSpPr>
          <p:cNvPr id="6" name="">
            <a:extLst xmlns:a="http://schemas.openxmlformats.org/drawingml/2006/main">
              <a:ext uri="{FF2B5EF4-FFF2-40B4-BE49-F238E27FC236}">
                <a16:creationId xmlns:a16="http://schemas.microsoft.com/office/drawing/2014/main" id="{3FF655A0-B9C8-460A-85A8-D89B437FFE82}"/>
              </a:ext>
            </a:extLst>
          </p:cNvPr>
          <p:cNvSpPr>
            <a:spLocks xmlns:a="http://schemas.openxmlformats.org/drawingml/2006/main" noGrp="1"/>
          </p:cNvSpPr>
          <p:nvPr/>
        </p:nvSpPr>
        <p:spPr>
          <a:xfrm xmlns:a="http://schemas.openxmlformats.org/drawingml/2006/main">
            <a:off x="7000875" y="1219200"/>
            <a:ext cx="4505325" cy="4191000"/>
          </a:xfrm>
          <a:prstGeom xmlns:a="http://schemas.openxmlformats.org/drawingml/2006/main" prst="roundRect">
            <a:avLst>
              <a:gd name="adj" fmla="val 5455"/>
            </a:avLst>
          </a:prstGeom>
          <a:solidFill xmlns:a="http://schemas.openxmlformats.org/drawingml/2006/main">
            <a:srgbClr val="15201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4701E2-9FC2-4052-93EB-3EF7ED75CDB1}"/>
              </a:ext>
            </a:extLst>
          </p:cNvPr>
          <p:cNvSpPr>
            <a:spLocks xmlns:a="http://schemas.openxmlformats.org/drawingml/2006/main" noGrp="1"/>
          </p:cNvSpPr>
          <p:nvPr/>
        </p:nvSpPr>
        <p:spPr>
          <a:xfrm xmlns:a="http://schemas.openxmlformats.org/drawingml/2006/main">
            <a:off x="7419975" y="16764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JOB TO BE DONE</a:t>
            </a:r>
          </a:p>
        </p:txBody>
      </p:sp>
      <p:sp>
        <p:nvSpPr>
          <p:cNvPr id="8" name="">
            <a:extLst xmlns:a="http://schemas.openxmlformats.org/drawingml/2006/main">
              <a:ext uri="{FF2B5EF4-FFF2-40B4-BE49-F238E27FC236}">
                <a16:creationId xmlns:a16="http://schemas.microsoft.com/office/drawing/2014/main" id="{A4A23DFC-A15F-4429-9C12-4D92549FCDA1}"/>
              </a:ext>
            </a:extLst>
          </p:cNvPr>
          <p:cNvSpPr>
            <a:spLocks xmlns:a="http://schemas.openxmlformats.org/drawingml/2006/main" noGrp="1"/>
          </p:cNvSpPr>
          <p:nvPr/>
        </p:nvSpPr>
        <p:spPr>
          <a:xfrm xmlns:a="http://schemas.openxmlformats.org/drawingml/2006/main">
            <a:off x="7419975" y="2266950"/>
            <a:ext cx="33718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325" b="1">
                <a:solidFill>
                  <a:srgbClr val="FFFFFF"/>
                </a:solidFill>
              </a:defRPr>
            </a:pPr>
            <a:r>
              <a:rPr sz="2325" b="1">
                <a:solidFill>
                  <a:srgbClr val="FFFFFF"/>
                </a:solidFill>
              </a:rPr>
              <a:t>“Help me forecast what this idea could cost, where the estimate is uncertain, and what I give up by choosing differently.”</a:t>
            </a:r>
          </a:p>
        </p:txBody>
      </p:sp>
      <p:sp>
        <p:nvSpPr>
          <p:cNvPr id="9" name="">
            <a:extLst xmlns:a="http://schemas.openxmlformats.org/drawingml/2006/main">
              <a:ext uri="{FF2B5EF4-FFF2-40B4-BE49-F238E27FC236}">
                <a16:creationId xmlns:a16="http://schemas.microsoft.com/office/drawing/2014/main" id="{4FD27E3E-A95B-4400-85FA-98E427659406}"/>
              </a:ext>
            </a:extLst>
          </p:cNvPr>
          <p:cNvSpPr>
            <a:spLocks xmlns:a="http://schemas.openxmlformats.org/drawingml/2006/main" noGrp="1"/>
          </p:cNvSpPr>
          <p:nvPr/>
        </p:nvSpPr>
        <p:spPr>
          <a:xfrm xmlns:a="http://schemas.openxmlformats.org/drawingml/2006/main">
            <a:off x="7419975" y="4591050"/>
            <a:ext cx="3143250" cy="19050"/>
          </a:xfrm>
          <a:prstGeom xmlns:a="http://schemas.openxmlformats.org/drawingml/2006/main" prst="rect">
            <a:avLst/>
          </a:prstGeom>
          <a:solidFill xmlns:a="http://schemas.openxmlformats.org/drawingml/2006/main">
            <a:srgbClr val="52605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8B465F-A2F0-4B95-B8DB-FFE078E92691}"/>
              </a:ext>
            </a:extLst>
          </p:cNvPr>
          <p:cNvSpPr>
            <a:spLocks xmlns:a="http://schemas.openxmlformats.org/drawingml/2006/main" noGrp="1"/>
          </p:cNvSpPr>
          <p:nvPr/>
        </p:nvSpPr>
        <p:spPr>
          <a:xfrm xmlns:a="http://schemas.openxmlformats.org/drawingml/2006/main">
            <a:off x="7419975" y="4762500"/>
            <a:ext cx="335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C8D1C8"/>
                </a:solidFill>
              </a:defRPr>
            </a:pPr>
            <a:r>
              <a:rPr sz="1200" b="0">
                <a:solidFill>
                  <a:srgbClr val="C8D1C8"/>
                </a:solidFill>
              </a:rPr>
              <a:t>Outcome: a decision a product team can explain, reproduce, and revisit.</a:t>
            </a:r>
          </a:p>
        </p:txBody>
      </p:sp>
      <p:sp>
        <p:nvSpPr>
          <p:cNvPr id="11" name="">
            <a:extLst xmlns:a="http://schemas.openxmlformats.org/drawingml/2006/main">
              <a:ext uri="{FF2B5EF4-FFF2-40B4-BE49-F238E27FC236}">
                <a16:creationId xmlns:a16="http://schemas.microsoft.com/office/drawing/2014/main" id="{4C4631E9-E617-419A-B1DA-716A46BC8929}"/>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12" name="">
            <a:extLst xmlns:a="http://schemas.openxmlformats.org/drawingml/2006/main">
              <a:ext uri="{FF2B5EF4-FFF2-40B4-BE49-F238E27FC236}">
                <a16:creationId xmlns:a16="http://schemas.microsoft.com/office/drawing/2014/main" id="{C2241FC9-6D18-428D-8B22-982E583392BA}"/>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03</a:t>
            </a:r>
          </a:p>
        </p:txBody>
      </p:sp>
    </p:spTree>
    <p:extLst>
      <p:ext uri="{BB962C8B-B14F-4D97-AF65-F5344CB8AC3E}">
        <p14:creationId xmlns:p14="http://schemas.microsoft.com/office/powerpoint/2010/main" val="1314072076"/>
      </p:ext>
    </p:extLst>
  </p:cSld>
</p:sld>
</file>

<file path=ppt/slides/slide4.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595416C-835D-435F-BC12-610E6A00EEB6}"/>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03</a:t>
            </a:r>
          </a:p>
        </p:txBody>
      </p:sp>
      <p:sp>
        <p:nvSpPr>
          <p:cNvPr id="2" name="">
            <a:extLst xmlns:a="http://schemas.openxmlformats.org/drawingml/2006/main">
              <a:ext uri="{FF2B5EF4-FFF2-40B4-BE49-F238E27FC236}">
                <a16:creationId xmlns:a16="http://schemas.microsoft.com/office/drawing/2014/main" id="{D1C0A470-81CC-4128-A843-C3A698DE5035}"/>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THE PRODUCT EXPERIENCE</a:t>
            </a:r>
          </a:p>
        </p:txBody>
      </p:sp>
      <p:sp>
        <p:nvSpPr>
          <p:cNvPr id="3" name="">
            <a:extLst xmlns:a="http://schemas.openxmlformats.org/drawingml/2006/main">
              <a:ext uri="{FF2B5EF4-FFF2-40B4-BE49-F238E27FC236}">
                <a16:creationId xmlns:a16="http://schemas.microsoft.com/office/drawing/2014/main" id="{55822932-EF21-468D-8B02-B71F4C48244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5A30F2-A980-4F8E-901F-F23233E02BEF}"/>
              </a:ext>
            </a:extLst>
          </p:cNvPr>
          <p:cNvSpPr>
            <a:spLocks xmlns:a="http://schemas.openxmlformats.org/drawingml/2006/main" noGrp="1"/>
          </p:cNvSpPr>
          <p:nvPr/>
        </p:nvSpPr>
        <p:spPr>
          <a:xfrm xmlns:a="http://schemas.openxmlformats.org/drawingml/2006/main">
            <a:off x="685800" y="1123950"/>
            <a:ext cx="7429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152015"/>
                </a:solidFill>
              </a:defRPr>
            </a:pPr>
            <a:r>
              <a:rPr sz="3300" b="1">
                <a:solidFill>
                  <a:srgbClr val="152015"/>
                </a:solidFill>
              </a:rPr>
              <a:t>The idea comes first.</a:t>
            </a:r>
          </a:p>
          <a:p xmlns:a="http://schemas.openxmlformats.org/drawingml/2006/main">
            <a:pPr algn="l">
              <a:buNone/>
              <a:defRPr sz="3300" b="1">
                <a:solidFill>
                  <a:srgbClr val="152015"/>
                </a:solidFill>
              </a:defRPr>
            </a:pPr>
            <a:r>
              <a:rPr sz="3300" b="1">
                <a:solidFill>
                  <a:srgbClr val="152015"/>
                </a:solidFill>
              </a:rPr>
              <a:t>Technical assumptions come second.</a:t>
            </a:r>
          </a:p>
        </p:txBody>
      </p:sp>
      <p:sp>
        <p:nvSpPr>
          <p:cNvPr id="5" name="">
            <a:extLst xmlns:a="http://schemas.openxmlformats.org/drawingml/2006/main">
              <a:ext uri="{FF2B5EF4-FFF2-40B4-BE49-F238E27FC236}">
                <a16:creationId xmlns:a16="http://schemas.microsoft.com/office/drawing/2014/main" id="{C76F5C34-5E74-4C1C-8437-2F1389791FA5}"/>
              </a:ext>
            </a:extLst>
          </p:cNvPr>
          <p:cNvSpPr>
            <a:spLocks xmlns:a="http://schemas.openxmlformats.org/drawingml/2006/main" noGrp="1"/>
          </p:cNvSpPr>
          <p:nvPr/>
        </p:nvSpPr>
        <p:spPr>
          <a:xfrm xmlns:a="http://schemas.openxmlformats.org/drawingml/2006/main">
            <a:off x="68580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6" name="">
            <a:extLst xmlns:a="http://schemas.openxmlformats.org/drawingml/2006/main">
              <a:ext uri="{FF2B5EF4-FFF2-40B4-BE49-F238E27FC236}">
                <a16:creationId xmlns:a16="http://schemas.microsoft.com/office/drawing/2014/main" id="{FA4374CB-4474-4B5A-AC33-B973B5BD8692}"/>
              </a:ext>
            </a:extLst>
          </p:cNvPr>
          <p:cNvSpPr>
            <a:spLocks xmlns:a="http://schemas.openxmlformats.org/drawingml/2006/main" noGrp="1"/>
          </p:cNvSpPr>
          <p:nvPr/>
        </p:nvSpPr>
        <p:spPr>
          <a:xfrm xmlns:a="http://schemas.openxmlformats.org/drawingml/2006/main">
            <a:off x="914400" y="3095625"/>
            <a:ext cx="438150" cy="438150"/>
          </a:xfrm>
          <a:prstGeom xmlns:a="http://schemas.openxmlformats.org/drawingml/2006/main" prst="roundRect">
            <a:avLst>
              <a:gd name="adj" fmla="val 50000"/>
            </a:avLst>
          </a:prstGeom>
          <a:solidFill xmlns:a="http://schemas.openxmlformats.org/drawingml/2006/main">
            <a:srgbClr val="D8FF5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ECE422-DC44-47CC-8F1A-D4DA4C4D48A0}"/>
              </a:ext>
            </a:extLst>
          </p:cNvPr>
          <p:cNvSpPr>
            <a:spLocks xmlns:a="http://schemas.openxmlformats.org/drawingml/2006/main" noGrp="1"/>
          </p:cNvSpPr>
          <p:nvPr/>
        </p:nvSpPr>
        <p:spPr>
          <a:xfrm xmlns:a="http://schemas.openxmlformats.org/drawingml/2006/main">
            <a:off x="91440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1</a:t>
            </a:r>
          </a:p>
        </p:txBody>
      </p:sp>
      <p:sp>
        <p:nvSpPr>
          <p:cNvPr id="8" name="">
            <a:extLst xmlns:a="http://schemas.openxmlformats.org/drawingml/2006/main">
              <a:ext uri="{FF2B5EF4-FFF2-40B4-BE49-F238E27FC236}">
                <a16:creationId xmlns:a16="http://schemas.microsoft.com/office/drawing/2014/main" id="{3167DCDE-8D59-4BEB-B3AB-6992467AFC2A}"/>
              </a:ext>
            </a:extLst>
          </p:cNvPr>
          <p:cNvSpPr>
            <a:spLocks xmlns:a="http://schemas.openxmlformats.org/drawingml/2006/main" noGrp="1"/>
          </p:cNvSpPr>
          <p:nvPr/>
        </p:nvSpPr>
        <p:spPr>
          <a:xfrm xmlns:a="http://schemas.openxmlformats.org/drawingml/2006/main">
            <a:off x="91440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DESCRIBE</a:t>
            </a:r>
          </a:p>
        </p:txBody>
      </p:sp>
      <p:sp>
        <p:nvSpPr>
          <p:cNvPr id="9" name="">
            <a:extLst xmlns:a="http://schemas.openxmlformats.org/drawingml/2006/main">
              <a:ext uri="{FF2B5EF4-FFF2-40B4-BE49-F238E27FC236}">
                <a16:creationId xmlns:a16="http://schemas.microsoft.com/office/drawing/2014/main" id="{81CF3EF3-74C5-4C07-A253-896873C4989E}"/>
              </a:ext>
            </a:extLst>
          </p:cNvPr>
          <p:cNvSpPr>
            <a:spLocks xmlns:a="http://schemas.openxmlformats.org/drawingml/2006/main" noGrp="1"/>
          </p:cNvSpPr>
          <p:nvPr/>
        </p:nvSpPr>
        <p:spPr>
          <a:xfrm xmlns:a="http://schemas.openxmlformats.org/drawingml/2006/main">
            <a:off x="91440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Write what you want to build in everyday language.</a:t>
            </a:r>
          </a:p>
        </p:txBody>
      </p:sp>
      <p:sp>
        <p:nvSpPr>
          <p:cNvPr id="10" name="">
            <a:extLst xmlns:a="http://schemas.openxmlformats.org/drawingml/2006/main">
              <a:ext uri="{FF2B5EF4-FFF2-40B4-BE49-F238E27FC236}">
                <a16:creationId xmlns:a16="http://schemas.microsoft.com/office/drawing/2014/main" id="{9675C56A-026E-439E-93C7-3AC237103AAA}"/>
              </a:ext>
            </a:extLst>
          </p:cNvPr>
          <p:cNvSpPr>
            <a:spLocks xmlns:a="http://schemas.openxmlformats.org/drawingml/2006/main" noGrp="1"/>
          </p:cNvSpPr>
          <p:nvPr/>
        </p:nvSpPr>
        <p:spPr>
          <a:xfrm xmlns:a="http://schemas.openxmlformats.org/drawingml/2006/main">
            <a:off x="4276725" y="2857500"/>
            <a:ext cx="3048000" cy="2266950"/>
          </a:xfrm>
          <a:prstGeom xmlns:a="http://schemas.openxmlformats.org/drawingml/2006/main" prst="roundRect">
            <a:avLst>
              <a:gd name="adj" fmla="val 8403"/>
            </a:avLst>
          </a:prstGeom>
          <a:solidFill xmlns:a="http://schemas.openxmlformats.org/drawingml/2006/main">
            <a:srgbClr val="15201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E67260-98F0-4F3C-80A5-3D31811DDCFD}"/>
              </a:ext>
            </a:extLst>
          </p:cNvPr>
          <p:cNvSpPr>
            <a:spLocks xmlns:a="http://schemas.openxmlformats.org/drawingml/2006/main" noGrp="1"/>
          </p:cNvSpPr>
          <p:nvPr/>
        </p:nvSpPr>
        <p:spPr>
          <a:xfrm xmlns:a="http://schemas.openxmlformats.org/drawingml/2006/main">
            <a:off x="4505325" y="3095625"/>
            <a:ext cx="438150" cy="438150"/>
          </a:xfrm>
          <a:prstGeom xmlns:a="http://schemas.openxmlformats.org/drawingml/2006/main" prst="roundRect">
            <a:avLst>
              <a:gd name="adj" fmla="val 50000"/>
            </a:avLst>
          </a:prstGeom>
          <a:solidFill xmlns:a="http://schemas.openxmlformats.org/drawingml/2006/main">
            <a:srgbClr val="8F7B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6A3942-AAD4-48E2-9026-A29FC8EF509D}"/>
              </a:ext>
            </a:extLst>
          </p:cNvPr>
          <p:cNvSpPr>
            <a:spLocks xmlns:a="http://schemas.openxmlformats.org/drawingml/2006/main" noGrp="1"/>
          </p:cNvSpPr>
          <p:nvPr/>
        </p:nvSpPr>
        <p:spPr>
          <a:xfrm xmlns:a="http://schemas.openxmlformats.org/drawingml/2006/main">
            <a:off x="4505325"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2</a:t>
            </a:r>
          </a:p>
        </p:txBody>
      </p:sp>
      <p:sp>
        <p:nvSpPr>
          <p:cNvPr id="13" name="">
            <a:extLst xmlns:a="http://schemas.openxmlformats.org/drawingml/2006/main">
              <a:ext uri="{FF2B5EF4-FFF2-40B4-BE49-F238E27FC236}">
                <a16:creationId xmlns:a16="http://schemas.microsoft.com/office/drawing/2014/main" id="{D6C8AC39-F317-42D8-A4D9-4108B789B5B7}"/>
              </a:ext>
            </a:extLst>
          </p:cNvPr>
          <p:cNvSpPr>
            <a:spLocks xmlns:a="http://schemas.openxmlformats.org/drawingml/2006/main" noGrp="1"/>
          </p:cNvSpPr>
          <p:nvPr/>
        </p:nvSpPr>
        <p:spPr>
          <a:xfrm xmlns:a="http://schemas.openxmlformats.org/drawingml/2006/main">
            <a:off x="4505325"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D8FF55"/>
                </a:solidFill>
              </a:defRPr>
            </a:pPr>
            <a:r>
              <a:rPr sz="1125" b="1">
                <a:solidFill>
                  <a:srgbClr val="D8FF55"/>
                </a:solidFill>
              </a:rPr>
              <a:t>SHAPE</a:t>
            </a:r>
          </a:p>
        </p:txBody>
      </p:sp>
      <p:sp>
        <p:nvSpPr>
          <p:cNvPr id="14" name="">
            <a:extLst xmlns:a="http://schemas.openxmlformats.org/drawingml/2006/main">
              <a:ext uri="{FF2B5EF4-FFF2-40B4-BE49-F238E27FC236}">
                <a16:creationId xmlns:a16="http://schemas.microsoft.com/office/drawing/2014/main" id="{65D36F35-26C8-447A-B870-E786D4BC8409}"/>
              </a:ext>
            </a:extLst>
          </p:cNvPr>
          <p:cNvSpPr>
            <a:spLocks xmlns:a="http://schemas.openxmlformats.org/drawingml/2006/main" noGrp="1"/>
          </p:cNvSpPr>
          <p:nvPr/>
        </p:nvSpPr>
        <p:spPr>
          <a:xfrm xmlns:a="http://schemas.openxmlformats.org/drawingml/2006/main">
            <a:off x="4505325"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Choose a job, consequence of error, data type, and planning stage.</a:t>
            </a:r>
          </a:p>
        </p:txBody>
      </p:sp>
      <p:sp>
        <p:nvSpPr>
          <p:cNvPr id="15" name="">
            <a:extLst xmlns:a="http://schemas.openxmlformats.org/drawingml/2006/main">
              <a:ext uri="{FF2B5EF4-FFF2-40B4-BE49-F238E27FC236}">
                <a16:creationId xmlns:a16="http://schemas.microsoft.com/office/drawing/2014/main" id="{D99E029B-5297-4AE3-82DA-6975A2A91EB1}"/>
              </a:ext>
            </a:extLst>
          </p:cNvPr>
          <p:cNvSpPr>
            <a:spLocks xmlns:a="http://schemas.openxmlformats.org/drawingml/2006/main" noGrp="1"/>
          </p:cNvSpPr>
          <p:nvPr/>
        </p:nvSpPr>
        <p:spPr>
          <a:xfrm xmlns:a="http://schemas.openxmlformats.org/drawingml/2006/main">
            <a:off x="7867650" y="2857500"/>
            <a:ext cx="3048000" cy="2266950"/>
          </a:xfrm>
          <a:prstGeom xmlns:a="http://schemas.openxmlformats.org/drawingml/2006/main" prst="roundRect">
            <a:avLst>
              <a:gd name="adj" fmla="val 8403"/>
            </a:avLst>
          </a:prstGeom>
          <a:solidFill xmlns:a="http://schemas.openxmlformats.org/drawingml/2006/main">
            <a:srgbClr val="FFFFFF"/>
          </a:solidFill>
          <a:ln xmlns:a="http://schemas.openxmlformats.org/drawingml/2006/main" w="9525">
            <a:solidFill>
              <a:srgbClr val="CDD0C8"/>
            </a:solidFill>
            <a:prstDash val="solid"/>
          </a:ln>
        </p:spPr>
      </p:sp>
      <p:sp>
        <p:nvSpPr>
          <p:cNvPr id="16" name="">
            <a:extLst xmlns:a="http://schemas.openxmlformats.org/drawingml/2006/main">
              <a:ext uri="{FF2B5EF4-FFF2-40B4-BE49-F238E27FC236}">
                <a16:creationId xmlns:a16="http://schemas.microsoft.com/office/drawing/2014/main" id="{8C241CF8-2770-4B71-9566-A38260E96F28}"/>
              </a:ext>
            </a:extLst>
          </p:cNvPr>
          <p:cNvSpPr>
            <a:spLocks xmlns:a="http://schemas.openxmlformats.org/drawingml/2006/main" noGrp="1"/>
          </p:cNvSpPr>
          <p:nvPr/>
        </p:nvSpPr>
        <p:spPr>
          <a:xfrm xmlns:a="http://schemas.openxmlformats.org/drawingml/2006/main">
            <a:off x="8096250" y="3095625"/>
            <a:ext cx="438150" cy="438150"/>
          </a:xfrm>
          <a:prstGeom xmlns:a="http://schemas.openxmlformats.org/drawingml/2006/main" prst="roundRect">
            <a:avLst>
              <a:gd name="adj" fmla="val 50000"/>
            </a:avLst>
          </a:prstGeom>
          <a:solidFill xmlns:a="http://schemas.openxmlformats.org/drawingml/2006/main">
            <a:srgbClr val="FF815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FAB3E40-36FD-4532-A9F4-A2ACBDB3D262}"/>
              </a:ext>
            </a:extLst>
          </p:cNvPr>
          <p:cNvSpPr>
            <a:spLocks xmlns:a="http://schemas.openxmlformats.org/drawingml/2006/main" noGrp="1"/>
          </p:cNvSpPr>
          <p:nvPr/>
        </p:nvSpPr>
        <p:spPr>
          <a:xfrm xmlns:a="http://schemas.openxmlformats.org/drawingml/2006/main">
            <a:off x="8096250" y="3171825"/>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52015"/>
                </a:solidFill>
              </a:defRPr>
            </a:pPr>
            <a:r>
              <a:rPr sz="1200" b="1">
                <a:solidFill>
                  <a:srgbClr val="152015"/>
                </a:solidFill>
              </a:rPr>
              <a:t>3</a:t>
            </a:r>
          </a:p>
        </p:txBody>
      </p:sp>
      <p:sp>
        <p:nvSpPr>
          <p:cNvPr id="18" name="">
            <a:extLst xmlns:a="http://schemas.openxmlformats.org/drawingml/2006/main">
              <a:ext uri="{FF2B5EF4-FFF2-40B4-BE49-F238E27FC236}">
                <a16:creationId xmlns:a16="http://schemas.microsoft.com/office/drawing/2014/main" id="{0A220EAC-9F7A-42E1-B85A-70646B175116}"/>
              </a:ext>
            </a:extLst>
          </p:cNvPr>
          <p:cNvSpPr>
            <a:spLocks xmlns:a="http://schemas.openxmlformats.org/drawingml/2006/main" noGrp="1"/>
          </p:cNvSpPr>
          <p:nvPr/>
        </p:nvSpPr>
        <p:spPr>
          <a:xfrm xmlns:a="http://schemas.openxmlformats.org/drawingml/2006/main">
            <a:off x="8096250" y="378142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8F7BFF"/>
                </a:solidFill>
              </a:defRPr>
            </a:pPr>
            <a:r>
              <a:rPr sz="1125" b="1">
                <a:solidFill>
                  <a:srgbClr val="8F7BFF"/>
                </a:solidFill>
              </a:rPr>
              <a:t>CONFIRM</a:t>
            </a:r>
          </a:p>
        </p:txBody>
      </p:sp>
      <p:sp>
        <p:nvSpPr>
          <p:cNvPr id="19" name="">
            <a:extLst xmlns:a="http://schemas.openxmlformats.org/drawingml/2006/main">
              <a:ext uri="{FF2B5EF4-FFF2-40B4-BE49-F238E27FC236}">
                <a16:creationId xmlns:a16="http://schemas.microsoft.com/office/drawing/2014/main" id="{1EAE9D48-9B74-4383-9D45-B7361AF48861}"/>
              </a:ext>
            </a:extLst>
          </p:cNvPr>
          <p:cNvSpPr>
            <a:spLocks xmlns:a="http://schemas.openxmlformats.org/drawingml/2006/main" noGrp="1"/>
          </p:cNvSpPr>
          <p:nvPr/>
        </p:nvSpPr>
        <p:spPr>
          <a:xfrm xmlns:a="http://schemas.openxmlformats.org/drawingml/2006/main">
            <a:off x="8096250" y="4238625"/>
            <a:ext cx="2571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152015"/>
                </a:solidFill>
              </a:defRPr>
            </a:pPr>
            <a:r>
              <a:rPr sz="1425" b="0">
                <a:solidFill>
                  <a:srgbClr val="152015"/>
                </a:solidFill>
              </a:rPr>
              <a:t>Review every Known, Assumed, and Unknown field before calculation.</a:t>
            </a:r>
          </a:p>
        </p:txBody>
      </p:sp>
      <p:sp>
        <p:nvSpPr>
          <p:cNvPr id="20" name="">
            <a:extLst xmlns:a="http://schemas.openxmlformats.org/drawingml/2006/main">
              <a:ext uri="{FF2B5EF4-FFF2-40B4-BE49-F238E27FC236}">
                <a16:creationId xmlns:a16="http://schemas.microsoft.com/office/drawing/2014/main" id="{5027562A-2C6A-4CB9-9D99-BE48BB8FDDBC}"/>
              </a:ext>
            </a:extLst>
          </p:cNvPr>
          <p:cNvSpPr>
            <a:spLocks xmlns:a="http://schemas.openxmlformats.org/drawingml/2006/main" noGrp="1"/>
          </p:cNvSpPr>
          <p:nvPr/>
        </p:nvSpPr>
        <p:spPr>
          <a:xfrm xmlns:a="http://schemas.openxmlformats.org/drawingml/2006/main">
            <a:off x="685800" y="5581650"/>
            <a:ext cx="895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8F7BFF"/>
                </a:solidFill>
              </a:defRPr>
            </a:pPr>
            <a:r>
              <a:rPr sz="1800" b="1">
                <a:solidFill>
                  <a:srgbClr val="8F7BFF"/>
                </a:solidFill>
              </a:rPr>
              <a:t>“I don’t know” remains valid. “Estimate now” remains available.</a:t>
            </a:r>
          </a:p>
        </p:txBody>
      </p:sp>
      <p:sp>
        <p:nvSpPr>
          <p:cNvPr id="21" name="">
            <a:extLst xmlns:a="http://schemas.openxmlformats.org/drawingml/2006/main">
              <a:ext uri="{FF2B5EF4-FFF2-40B4-BE49-F238E27FC236}">
                <a16:creationId xmlns:a16="http://schemas.microsoft.com/office/drawing/2014/main" id="{1EFBFCAD-AC5E-4D43-8F56-8311CE364574}"/>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2" name="">
            <a:extLst xmlns:a="http://schemas.openxmlformats.org/drawingml/2006/main">
              <a:ext uri="{FF2B5EF4-FFF2-40B4-BE49-F238E27FC236}">
                <a16:creationId xmlns:a16="http://schemas.microsoft.com/office/drawing/2014/main" id="{0E78C71B-E1E9-4CCE-AD87-856072D44A76}"/>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04</a:t>
            </a:r>
          </a:p>
        </p:txBody>
      </p:sp>
    </p:spTree>
    <p:extLst>
      <p:ext uri="{BB962C8B-B14F-4D97-AF65-F5344CB8AC3E}">
        <p14:creationId xmlns:p14="http://schemas.microsoft.com/office/powerpoint/2010/main" val="1488857310"/>
      </p:ext>
    </p:extLst>
  </p:cSld>
</p:sld>
</file>

<file path=ppt/slides/slide5.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E58A29B-6924-4101-B3F2-782EAD932FA2}"/>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04</a:t>
            </a:r>
          </a:p>
        </p:txBody>
      </p:sp>
      <p:sp>
        <p:nvSpPr>
          <p:cNvPr id="2" name="">
            <a:extLst xmlns:a="http://schemas.openxmlformats.org/drawingml/2006/main">
              <a:ext uri="{FF2B5EF4-FFF2-40B4-BE49-F238E27FC236}">
                <a16:creationId xmlns:a16="http://schemas.microsoft.com/office/drawing/2014/main" id="{29845B15-E571-4EDE-977F-D2A48B487926}"/>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COST PER COMPLETED TASK</a:t>
            </a:r>
          </a:p>
        </p:txBody>
      </p:sp>
      <p:sp>
        <p:nvSpPr>
          <p:cNvPr id="3" name="">
            <a:extLst xmlns:a="http://schemas.openxmlformats.org/drawingml/2006/main">
              <a:ext uri="{FF2B5EF4-FFF2-40B4-BE49-F238E27FC236}">
                <a16:creationId xmlns:a16="http://schemas.microsoft.com/office/drawing/2014/main" id="{0AB7DD0D-C229-471E-9A78-EA76DF27C899}"/>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C412D4-0AF7-44B6-8A54-872A07902E8F}"/>
              </a:ext>
            </a:extLst>
          </p:cNvPr>
          <p:cNvSpPr>
            <a:spLocks xmlns:a="http://schemas.openxmlformats.org/drawingml/2006/main" noGrp="1"/>
          </p:cNvSpPr>
          <p:nvPr/>
        </p:nvSpPr>
        <p:spPr>
          <a:xfrm xmlns:a="http://schemas.openxmlformats.org/drawingml/2006/main">
            <a:off x="685800" y="1066800"/>
            <a:ext cx="67627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152015"/>
                </a:solidFill>
              </a:defRPr>
            </a:pPr>
            <a:r>
              <a:rPr sz="2850" b="1">
                <a:solidFill>
                  <a:srgbClr val="152015"/>
                </a:solidFill>
              </a:rPr>
              <a:t>One frozen workflow creates</a:t>
            </a:r>
          </a:p>
          <a:p xmlns:a="http://schemas.openxmlformats.org/drawingml/2006/main">
            <a:pPr algn="l">
              <a:buNone/>
              <a:defRPr sz="2850" b="1">
                <a:solidFill>
                  <a:srgbClr val="152015"/>
                </a:solidFill>
              </a:defRPr>
            </a:pPr>
            <a:r>
              <a:rPr sz="2850" b="1">
                <a:solidFill>
                  <a:srgbClr val="152015"/>
                </a:solidFill>
              </a:rPr>
              <a:t>a spread—not a promised number.</a:t>
            </a:r>
          </a:p>
        </p:txBody>
      </p:sp>
      <p:sp>
        <p:nvSpPr>
          <p:cNvPr id="5" name="">
            <a:extLst xmlns:a="http://schemas.openxmlformats.org/drawingml/2006/main">
              <a:ext uri="{FF2B5EF4-FFF2-40B4-BE49-F238E27FC236}">
                <a16:creationId xmlns:a16="http://schemas.microsoft.com/office/drawing/2014/main" id="{49C60688-E5CB-4387-8FE7-4E288D202030}"/>
              </a:ext>
            </a:extLst>
          </p:cNvPr>
          <p:cNvSpPr>
            <a:spLocks xmlns:a="http://schemas.openxmlformats.org/drawingml/2006/main" noGrp="1"/>
          </p:cNvSpPr>
          <p:nvPr/>
        </p:nvSpPr>
        <p:spPr>
          <a:xfrm xmlns:a="http://schemas.openxmlformats.org/drawingml/2006/main">
            <a:off x="685800" y="25717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687068"/>
                </a:solidFill>
              </a:defRPr>
            </a:pPr>
            <a:r>
              <a:rPr sz="1125" b="0">
                <a:solidFill>
                  <a:srgbClr val="687068"/>
                </a:solidFill>
              </a:rPr>
              <a:t>Product-analysis profile · 1,000 tasks/day · 2,400 tokens in · detailed result · 1 primary + 1 checker</a:t>
            </a:r>
          </a:p>
        </p:txBody>
      </p:sp>
      <p:graphicFrame>
        <p:nvGraphicFramePr>
          <p:cNvPr id="22" name="Chart"/>
          <p:cNvGraphicFramePr/>
          <p:nvPr/>
        </p:nvGraphicFramePr>
        <p:xfrm>
          <a:off xmlns:a="http://schemas.openxmlformats.org/drawingml/2006/main" x="685800" y="3143250"/>
          <a:ext xmlns:a="http://schemas.openxmlformats.org/drawingml/2006/main" cx="6191250" cy="2238375"/>
        </p:xfrm>
        <a:graphic xmlns:a="http://schemas.openxmlformats.org/drawingml/2006/main">
          <a:graphicData uri="http://schemas.openxmlformats.org/drawingml/2006/chart">
            <c:chart xmlns:r="http://schemas.openxmlformats.org/officeDocument/2006/relationships" xmlns:c="http://schemas.openxmlformats.org/drawingml/2006/chart" r:id="R82eeede9b1134522"/>
          </a:graphicData>
        </a:graphic>
      </p:graphicFrame>
      <p:sp>
        <p:nvSpPr>
          <p:cNvPr id="7" name="">
            <a:extLst xmlns:a="http://schemas.openxmlformats.org/drawingml/2006/main">
              <a:ext uri="{FF2B5EF4-FFF2-40B4-BE49-F238E27FC236}">
                <a16:creationId xmlns:a16="http://schemas.microsoft.com/office/drawing/2014/main" id="{7E0023A4-85B8-4BF1-8462-53833DB27FBC}"/>
              </a:ext>
            </a:extLst>
          </p:cNvPr>
          <p:cNvSpPr>
            <a:spLocks xmlns:a="http://schemas.openxmlformats.org/drawingml/2006/main" noGrp="1"/>
          </p:cNvSpPr>
          <p:nvPr/>
        </p:nvSpPr>
        <p:spPr>
          <a:xfrm xmlns:a="http://schemas.openxmlformats.org/drawingml/2006/main">
            <a:off x="7477125" y="3000375"/>
            <a:ext cx="4029075" cy="2628900"/>
          </a:xfrm>
          <a:prstGeom xmlns:a="http://schemas.openxmlformats.org/drawingml/2006/main" prst="roundRect">
            <a:avLst>
              <a:gd name="adj" fmla="val 7971"/>
            </a:avLst>
          </a:prstGeom>
          <a:solidFill xmlns:a="http://schemas.openxmlformats.org/drawingml/2006/main">
            <a:srgbClr val="15201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64F6CC-030C-48D8-9119-4045EEA432BD}"/>
              </a:ext>
            </a:extLst>
          </p:cNvPr>
          <p:cNvSpPr>
            <a:spLocks xmlns:a="http://schemas.openxmlformats.org/drawingml/2006/main" noGrp="1"/>
          </p:cNvSpPr>
          <p:nvPr/>
        </p:nvSpPr>
        <p:spPr>
          <a:xfrm xmlns:a="http://schemas.openxmlformats.org/drawingml/2006/main">
            <a:off x="7839075" y="3314700"/>
            <a:ext cx="3143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BEST STARTING POINT</a:t>
            </a:r>
          </a:p>
        </p:txBody>
      </p:sp>
      <p:sp>
        <p:nvSpPr>
          <p:cNvPr id="9" name="">
            <a:extLst xmlns:a="http://schemas.openxmlformats.org/drawingml/2006/main">
              <a:ext uri="{FF2B5EF4-FFF2-40B4-BE49-F238E27FC236}">
                <a16:creationId xmlns:a16="http://schemas.microsoft.com/office/drawing/2014/main" id="{0CBD3733-D717-48D3-B001-0860B0F145B1}"/>
              </a:ext>
            </a:extLst>
          </p:cNvPr>
          <p:cNvSpPr>
            <a:spLocks xmlns:a="http://schemas.openxmlformats.org/drawingml/2006/main" noGrp="1"/>
          </p:cNvSpPr>
          <p:nvPr/>
        </p:nvSpPr>
        <p:spPr>
          <a:xfrm xmlns:a="http://schemas.openxmlformats.org/drawingml/2006/main">
            <a:off x="7839075" y="378142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400" b="1">
                <a:solidFill>
                  <a:srgbClr val="FFFFFF"/>
                </a:solidFill>
              </a:defRPr>
            </a:pPr>
            <a:r>
              <a:rPr sz="2400" b="1">
                <a:solidFill>
                  <a:srgbClr val="FFFFFF"/>
                </a:solidFill>
              </a:rPr>
              <a:t>GPT-5.6 Terra</a:t>
            </a:r>
          </a:p>
        </p:txBody>
      </p:sp>
      <p:sp>
        <p:nvSpPr>
          <p:cNvPr id="10" name="">
            <a:extLst xmlns:a="http://schemas.openxmlformats.org/drawingml/2006/main">
              <a:ext uri="{FF2B5EF4-FFF2-40B4-BE49-F238E27FC236}">
                <a16:creationId xmlns:a16="http://schemas.microsoft.com/office/drawing/2014/main" id="{49A2FD65-76F8-45A1-83E5-3E0674360DAA}"/>
              </a:ext>
            </a:extLst>
          </p:cNvPr>
          <p:cNvSpPr>
            <a:spLocks xmlns:a="http://schemas.openxmlformats.org/drawingml/2006/main" noGrp="1"/>
          </p:cNvSpPr>
          <p:nvPr/>
        </p:nvSpPr>
        <p:spPr>
          <a:xfrm xmlns:a="http://schemas.openxmlformats.org/drawingml/2006/main">
            <a:off x="7839075" y="4410075"/>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8F7BFF"/>
                </a:solidFill>
              </a:defRPr>
            </a:pPr>
            <a:r>
              <a:rPr sz="2700" b="1">
                <a:solidFill>
                  <a:srgbClr val="8F7BFF"/>
                </a:solidFill>
              </a:rPr>
              <a:t>$0.0408 / task</a:t>
            </a:r>
          </a:p>
        </p:txBody>
      </p:sp>
      <p:sp>
        <p:nvSpPr>
          <p:cNvPr id="11" name="">
            <a:extLst xmlns:a="http://schemas.openxmlformats.org/drawingml/2006/main">
              <a:ext uri="{FF2B5EF4-FFF2-40B4-BE49-F238E27FC236}">
                <a16:creationId xmlns:a16="http://schemas.microsoft.com/office/drawing/2014/main" id="{0E3BB36C-7C6F-4E11-B3F9-1441D95BF8C7}"/>
              </a:ext>
            </a:extLst>
          </p:cNvPr>
          <p:cNvSpPr>
            <a:spLocks xmlns:a="http://schemas.openxmlformats.org/drawingml/2006/main" noGrp="1"/>
          </p:cNvSpPr>
          <p:nvPr/>
        </p:nvSpPr>
        <p:spPr>
          <a:xfrm xmlns:a="http://schemas.openxmlformats.org/drawingml/2006/main">
            <a:off x="7839075" y="501967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C8D1C8"/>
                </a:solidFill>
              </a:defRPr>
            </a:pPr>
            <a:r>
              <a:rPr sz="1200" b="0">
                <a:solidFill>
                  <a:srgbClr val="C8D1C8"/>
                </a:solidFill>
              </a:rPr>
              <a:t>Next eligible: GPT-5.6 Sol</a:t>
            </a:r>
          </a:p>
          <a:p xmlns:a="http://schemas.openxmlformats.org/drawingml/2006/main">
            <a:pPr algn="l">
              <a:buNone/>
              <a:defRPr sz="1200" b="0">
                <a:solidFill>
                  <a:srgbClr val="C8D1C8"/>
                </a:solidFill>
              </a:defRPr>
            </a:pPr>
            <a:r>
              <a:rPr sz="1200" b="0">
                <a:solidFill>
                  <a:srgbClr val="C8D1C8"/>
                </a:solidFill>
              </a:rPr>
              <a:t>+$0.0677 / task</a:t>
            </a:r>
          </a:p>
        </p:txBody>
      </p:sp>
      <p:sp>
        <p:nvSpPr>
          <p:cNvPr id="12" name="">
            <a:extLst xmlns:a="http://schemas.openxmlformats.org/drawingml/2006/main">
              <a:ext uri="{FF2B5EF4-FFF2-40B4-BE49-F238E27FC236}">
                <a16:creationId xmlns:a16="http://schemas.microsoft.com/office/drawing/2014/main" id="{7B66A534-5804-4D8F-88C9-1D5CC77C835D}"/>
              </a:ext>
            </a:extLst>
          </p:cNvPr>
          <p:cNvSpPr>
            <a:spLocks xmlns:a="http://schemas.openxmlformats.org/drawingml/2006/main" noGrp="1"/>
          </p:cNvSpPr>
          <p:nvPr/>
        </p:nvSpPr>
        <p:spPr>
          <a:xfrm xmlns:a="http://schemas.openxmlformats.org/drawingml/2006/main">
            <a:off x="685800" y="5810250"/>
            <a:ext cx="952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0">
                <a:solidFill>
                  <a:srgbClr val="687068"/>
                </a:solidFill>
              </a:defRPr>
            </a:pPr>
            <a:r>
              <a:rPr sz="900" b="0">
                <a:solidFill>
                  <a:srgbClr val="687068"/>
                </a:solidFill>
              </a:rPr>
              <a:t>Chart shows cents per completed task. Prices are published facts; output and retry profiles are planning heuristics.</a:t>
            </a:r>
          </a:p>
        </p:txBody>
      </p:sp>
      <p:sp>
        <p:nvSpPr>
          <p:cNvPr id="13" name="">
            <a:extLst xmlns:a="http://schemas.openxmlformats.org/drawingml/2006/main">
              <a:ext uri="{FF2B5EF4-FFF2-40B4-BE49-F238E27FC236}">
                <a16:creationId xmlns:a16="http://schemas.microsoft.com/office/drawing/2014/main" id="{96258D09-935E-467E-AAC5-A0CBCFC83D85}"/>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14" name="">
            <a:extLst xmlns:a="http://schemas.openxmlformats.org/drawingml/2006/main">
              <a:ext uri="{FF2B5EF4-FFF2-40B4-BE49-F238E27FC236}">
                <a16:creationId xmlns:a16="http://schemas.microsoft.com/office/drawing/2014/main" id="{AB2C5B3F-B75C-4DDB-970E-DA5670E9C665}"/>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05</a:t>
            </a:r>
          </a:p>
        </p:txBody>
      </p:sp>
    </p:spTree>
    <p:extLst>
      <p:ext uri="{BB962C8B-B14F-4D97-AF65-F5344CB8AC3E}">
        <p14:creationId xmlns:p14="http://schemas.microsoft.com/office/powerpoint/2010/main" val="1013574740"/>
      </p:ext>
    </p:extLst>
  </p:cSld>
</p:sld>
</file>

<file path=ppt/slides/slide6.xml><?xml version="1.0" encoding="utf-8"?>
<p:sld xmlns:p="http://schemas.openxmlformats.org/presentationml/2006/main">
  <p:cSld>
    <p:bg>
      <p:bgPr>
        <a:solidFill xmlns:a="http://schemas.openxmlformats.org/drawingml/2006/main">
          <a:srgbClr val="15201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C553D6B-F6E1-4C23-94F8-0C2E979C37E8}"/>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05</a:t>
            </a:r>
          </a:p>
        </p:txBody>
      </p:sp>
      <p:sp>
        <p:nvSpPr>
          <p:cNvPr id="2" name="">
            <a:extLst xmlns:a="http://schemas.openxmlformats.org/drawingml/2006/main">
              <a:ext uri="{FF2B5EF4-FFF2-40B4-BE49-F238E27FC236}">
                <a16:creationId xmlns:a16="http://schemas.microsoft.com/office/drawing/2014/main" id="{8A548264-5D78-4063-AE84-D74A11F20831}"/>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FFFF"/>
                </a:solidFill>
              </a:defRPr>
            </a:pPr>
            <a:r>
              <a:rPr sz="975" b="1">
                <a:solidFill>
                  <a:srgbClr val="FFFFFF"/>
                </a:solidFill>
              </a:rPr>
              <a:t>HARD COST EVALUATION</a:t>
            </a:r>
          </a:p>
        </p:txBody>
      </p:sp>
      <p:sp>
        <p:nvSpPr>
          <p:cNvPr id="3" name="">
            <a:extLst xmlns:a="http://schemas.openxmlformats.org/drawingml/2006/main">
              <a:ext uri="{FF2B5EF4-FFF2-40B4-BE49-F238E27FC236}">
                <a16:creationId xmlns:a16="http://schemas.microsoft.com/office/drawing/2014/main" id="{EA4DD615-451E-4118-B330-1B17291F0392}"/>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40504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CBBBB8-4104-412D-B784-5FC1F100316D}"/>
              </a:ext>
            </a:extLst>
          </p:cNvPr>
          <p:cNvSpPr>
            <a:spLocks xmlns:a="http://schemas.openxmlformats.org/drawingml/2006/main" noGrp="1"/>
          </p:cNvSpPr>
          <p:nvPr/>
        </p:nvSpPr>
        <p:spPr>
          <a:xfrm xmlns:a="http://schemas.openxmlformats.org/drawingml/2006/main">
            <a:off x="685800" y="1095375"/>
            <a:ext cx="6191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450" b="1">
                <a:solidFill>
                  <a:srgbClr val="FFFFFF"/>
                </a:solidFill>
              </a:defRPr>
            </a:pPr>
            <a:r>
              <a:rPr sz="3450" b="1">
                <a:solidFill>
                  <a:srgbClr val="FFFFFF"/>
                </a:solidFill>
              </a:rPr>
              <a:t>A failed cost check</a:t>
            </a:r>
          </a:p>
          <a:p xmlns:a="http://schemas.openxmlformats.org/drawingml/2006/main">
            <a:pPr algn="l">
              <a:buNone/>
              <a:defRPr sz="3450" b="1">
                <a:solidFill>
                  <a:srgbClr val="FFFFFF"/>
                </a:solidFill>
              </a:defRPr>
            </a:pPr>
            <a:r>
              <a:rPr sz="3450" b="1">
                <a:solidFill>
                  <a:srgbClr val="FFFFFF"/>
                </a:solidFill>
              </a:rPr>
              <a:t>blocks the decision.</a:t>
            </a:r>
          </a:p>
        </p:txBody>
      </p:sp>
      <p:sp>
        <p:nvSpPr>
          <p:cNvPr id="5" name="">
            <a:extLst xmlns:a="http://schemas.openxmlformats.org/drawingml/2006/main">
              <a:ext uri="{FF2B5EF4-FFF2-40B4-BE49-F238E27FC236}">
                <a16:creationId xmlns:a16="http://schemas.microsoft.com/office/drawing/2014/main" id="{96F1FD02-CAA2-4996-94C1-9C8C87D775C4}"/>
              </a:ext>
            </a:extLst>
          </p:cNvPr>
          <p:cNvSpPr>
            <a:spLocks xmlns:a="http://schemas.openxmlformats.org/drawingml/2006/main" noGrp="1"/>
          </p:cNvSpPr>
          <p:nvPr/>
        </p:nvSpPr>
        <p:spPr>
          <a:xfrm xmlns:a="http://schemas.openxmlformats.org/drawingml/2006/main">
            <a:off x="6858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6" name="">
            <a:extLst xmlns:a="http://schemas.openxmlformats.org/drawingml/2006/main">
              <a:ext uri="{FF2B5EF4-FFF2-40B4-BE49-F238E27FC236}">
                <a16:creationId xmlns:a16="http://schemas.microsoft.com/office/drawing/2014/main" id="{137F0DB5-FA6F-46E7-A72D-A461AD5B31A5}"/>
              </a:ext>
            </a:extLst>
          </p:cNvPr>
          <p:cNvSpPr>
            <a:spLocks xmlns:a="http://schemas.openxmlformats.org/drawingml/2006/main" noGrp="1"/>
          </p:cNvSpPr>
          <p:nvPr/>
        </p:nvSpPr>
        <p:spPr>
          <a:xfrm xmlns:a="http://schemas.openxmlformats.org/drawingml/2006/main">
            <a:off x="8572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01</a:t>
            </a:r>
          </a:p>
        </p:txBody>
      </p:sp>
      <p:sp>
        <p:nvSpPr>
          <p:cNvPr id="7" name="">
            <a:extLst xmlns:a="http://schemas.openxmlformats.org/drawingml/2006/main">
              <a:ext uri="{FF2B5EF4-FFF2-40B4-BE49-F238E27FC236}">
                <a16:creationId xmlns:a16="http://schemas.microsoft.com/office/drawing/2014/main" id="{4B6A99AC-429C-4A8A-B1BC-7551C22CDDE3}"/>
              </a:ext>
            </a:extLst>
          </p:cNvPr>
          <p:cNvSpPr>
            <a:spLocks xmlns:a="http://schemas.openxmlformats.org/drawingml/2006/main" noGrp="1"/>
          </p:cNvSpPr>
          <p:nvPr/>
        </p:nvSpPr>
        <p:spPr>
          <a:xfrm xmlns:a="http://schemas.openxmlformats.org/drawingml/2006/main">
            <a:off x="8572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ESTIMATE</a:t>
            </a:r>
          </a:p>
        </p:txBody>
      </p:sp>
      <p:sp>
        <p:nvSpPr>
          <p:cNvPr id="8" name="">
            <a:extLst xmlns:a="http://schemas.openxmlformats.org/drawingml/2006/main">
              <a:ext uri="{FF2B5EF4-FFF2-40B4-BE49-F238E27FC236}">
                <a16:creationId xmlns:a16="http://schemas.microsoft.com/office/drawing/2014/main" id="{58948618-01E0-4D47-A98E-9E2C88B3AD91}"/>
              </a:ext>
            </a:extLst>
          </p:cNvPr>
          <p:cNvSpPr>
            <a:spLocks xmlns:a="http://schemas.openxmlformats.org/drawingml/2006/main" noGrp="1"/>
          </p:cNvSpPr>
          <p:nvPr/>
        </p:nvSpPr>
        <p:spPr>
          <a:xfrm xmlns:a="http://schemas.openxmlformats.org/drawingml/2006/main">
            <a:off x="8572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Freezes three scenarios</a:t>
            </a:r>
          </a:p>
        </p:txBody>
      </p:sp>
      <p:sp>
        <p:nvSpPr>
          <p:cNvPr id="9" name="">
            <a:extLst xmlns:a="http://schemas.openxmlformats.org/drawingml/2006/main">
              <a:ext uri="{FF2B5EF4-FFF2-40B4-BE49-F238E27FC236}">
                <a16:creationId xmlns:a16="http://schemas.microsoft.com/office/drawing/2014/main" id="{40BCF2A3-B492-40B8-B3D0-8B92943D7EAE}"/>
              </a:ext>
            </a:extLst>
          </p:cNvPr>
          <p:cNvSpPr>
            <a:spLocks xmlns:a="http://schemas.openxmlformats.org/drawingml/2006/main" noGrp="1"/>
          </p:cNvSpPr>
          <p:nvPr/>
        </p:nvSpPr>
        <p:spPr>
          <a:xfrm xmlns:a="http://schemas.openxmlformats.org/drawingml/2006/main">
            <a:off x="246697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0" name="">
            <a:extLst xmlns:a="http://schemas.openxmlformats.org/drawingml/2006/main">
              <a:ext uri="{FF2B5EF4-FFF2-40B4-BE49-F238E27FC236}">
                <a16:creationId xmlns:a16="http://schemas.microsoft.com/office/drawing/2014/main" id="{1A16C494-524D-41A3-B6CE-CFF67AFA3618}"/>
              </a:ext>
            </a:extLst>
          </p:cNvPr>
          <p:cNvSpPr>
            <a:spLocks xmlns:a="http://schemas.openxmlformats.org/drawingml/2006/main" noGrp="1"/>
          </p:cNvSpPr>
          <p:nvPr/>
        </p:nvSpPr>
        <p:spPr>
          <a:xfrm xmlns:a="http://schemas.openxmlformats.org/drawingml/2006/main">
            <a:off x="26384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02</a:t>
            </a:r>
          </a:p>
        </p:txBody>
      </p:sp>
      <p:sp>
        <p:nvSpPr>
          <p:cNvPr id="11" name="">
            <a:extLst xmlns:a="http://schemas.openxmlformats.org/drawingml/2006/main">
              <a:ext uri="{FF2B5EF4-FFF2-40B4-BE49-F238E27FC236}">
                <a16:creationId xmlns:a16="http://schemas.microsoft.com/office/drawing/2014/main" id="{F029AA08-A6B3-4526-8D3A-7A6977D08A67}"/>
              </a:ext>
            </a:extLst>
          </p:cNvPr>
          <p:cNvSpPr>
            <a:spLocks xmlns:a="http://schemas.openxmlformats.org/drawingml/2006/main" noGrp="1"/>
          </p:cNvSpPr>
          <p:nvPr/>
        </p:nvSpPr>
        <p:spPr>
          <a:xfrm xmlns:a="http://schemas.openxmlformats.org/drawingml/2006/main">
            <a:off x="26384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COST EVAL</a:t>
            </a:r>
          </a:p>
        </p:txBody>
      </p:sp>
      <p:sp>
        <p:nvSpPr>
          <p:cNvPr id="12" name="">
            <a:extLst xmlns:a="http://schemas.openxmlformats.org/drawingml/2006/main">
              <a:ext uri="{FF2B5EF4-FFF2-40B4-BE49-F238E27FC236}">
                <a16:creationId xmlns:a16="http://schemas.microsoft.com/office/drawing/2014/main" id="{D88E9A1E-8003-49F4-9871-B13628242017}"/>
              </a:ext>
            </a:extLst>
          </p:cNvPr>
          <p:cNvSpPr>
            <a:spLocks xmlns:a="http://schemas.openxmlformats.org/drawingml/2006/main" noGrp="1"/>
          </p:cNvSpPr>
          <p:nvPr/>
        </p:nvSpPr>
        <p:spPr>
          <a:xfrm xmlns:a="http://schemas.openxmlformats.org/drawingml/2006/main">
            <a:off x="26384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Independent ledger</a:t>
            </a:r>
          </a:p>
        </p:txBody>
      </p:sp>
      <p:sp>
        <p:nvSpPr>
          <p:cNvPr id="13" name="">
            <a:extLst xmlns:a="http://schemas.openxmlformats.org/drawingml/2006/main">
              <a:ext uri="{FF2B5EF4-FFF2-40B4-BE49-F238E27FC236}">
                <a16:creationId xmlns:a16="http://schemas.microsoft.com/office/drawing/2014/main" id="{20798DAA-E978-4E3E-98F0-7842B1B1CE65}"/>
              </a:ext>
            </a:extLst>
          </p:cNvPr>
          <p:cNvSpPr>
            <a:spLocks xmlns:a="http://schemas.openxmlformats.org/drawingml/2006/main" noGrp="1"/>
          </p:cNvSpPr>
          <p:nvPr/>
        </p:nvSpPr>
        <p:spPr>
          <a:xfrm xmlns:a="http://schemas.openxmlformats.org/drawingml/2006/main">
            <a:off x="424815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4" name="">
            <a:extLst xmlns:a="http://schemas.openxmlformats.org/drawingml/2006/main">
              <a:ext uri="{FF2B5EF4-FFF2-40B4-BE49-F238E27FC236}">
                <a16:creationId xmlns:a16="http://schemas.microsoft.com/office/drawing/2014/main" id="{1F47C2F3-A785-41FA-9584-6CBB9E20BC02}"/>
              </a:ext>
            </a:extLst>
          </p:cNvPr>
          <p:cNvSpPr>
            <a:spLocks xmlns:a="http://schemas.openxmlformats.org/drawingml/2006/main" noGrp="1"/>
          </p:cNvSpPr>
          <p:nvPr/>
        </p:nvSpPr>
        <p:spPr>
          <a:xfrm xmlns:a="http://schemas.openxmlformats.org/drawingml/2006/main">
            <a:off x="441960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FF8159"/>
                </a:solidFill>
              </a:defRPr>
            </a:pPr>
            <a:r>
              <a:rPr sz="900" b="1">
                <a:solidFill>
                  <a:srgbClr val="FF8159"/>
                </a:solidFill>
              </a:rPr>
              <a:t>03</a:t>
            </a:r>
          </a:p>
        </p:txBody>
      </p:sp>
      <p:sp>
        <p:nvSpPr>
          <p:cNvPr id="15" name="">
            <a:extLst xmlns:a="http://schemas.openxmlformats.org/drawingml/2006/main">
              <a:ext uri="{FF2B5EF4-FFF2-40B4-BE49-F238E27FC236}">
                <a16:creationId xmlns:a16="http://schemas.microsoft.com/office/drawing/2014/main" id="{06553089-7474-4DD8-A366-961A1948DED8}"/>
              </a:ext>
            </a:extLst>
          </p:cNvPr>
          <p:cNvSpPr>
            <a:spLocks xmlns:a="http://schemas.openxmlformats.org/drawingml/2006/main" noGrp="1"/>
          </p:cNvSpPr>
          <p:nvPr/>
        </p:nvSpPr>
        <p:spPr>
          <a:xfrm xmlns:a="http://schemas.openxmlformats.org/drawingml/2006/main">
            <a:off x="441960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ELIGIBILITY</a:t>
            </a:r>
          </a:p>
        </p:txBody>
      </p:sp>
      <p:sp>
        <p:nvSpPr>
          <p:cNvPr id="16" name="">
            <a:extLst xmlns:a="http://schemas.openxmlformats.org/drawingml/2006/main">
              <a:ext uri="{FF2B5EF4-FFF2-40B4-BE49-F238E27FC236}">
                <a16:creationId xmlns:a16="http://schemas.microsoft.com/office/drawing/2014/main" id="{4BD3E9F9-86A8-49B2-AEC7-A525F4A59C42}"/>
              </a:ext>
            </a:extLst>
          </p:cNvPr>
          <p:cNvSpPr>
            <a:spLocks xmlns:a="http://schemas.openxmlformats.org/drawingml/2006/main" noGrp="1"/>
          </p:cNvSpPr>
          <p:nvPr/>
        </p:nvSpPr>
        <p:spPr>
          <a:xfrm xmlns:a="http://schemas.openxmlformats.org/drawingml/2006/main">
            <a:off x="441960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Filters rule failures</a:t>
            </a:r>
          </a:p>
        </p:txBody>
      </p:sp>
      <p:sp>
        <p:nvSpPr>
          <p:cNvPr id="17" name="">
            <a:extLst xmlns:a="http://schemas.openxmlformats.org/drawingml/2006/main">
              <a:ext uri="{FF2B5EF4-FFF2-40B4-BE49-F238E27FC236}">
                <a16:creationId xmlns:a16="http://schemas.microsoft.com/office/drawing/2014/main" id="{FA044EE6-A973-464A-8DE6-0F5C47476EBA}"/>
              </a:ext>
            </a:extLst>
          </p:cNvPr>
          <p:cNvSpPr>
            <a:spLocks xmlns:a="http://schemas.openxmlformats.org/drawingml/2006/main" noGrp="1"/>
          </p:cNvSpPr>
          <p:nvPr/>
        </p:nvSpPr>
        <p:spPr>
          <a:xfrm xmlns:a="http://schemas.openxmlformats.org/drawingml/2006/main">
            <a:off x="6029325"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18" name="">
            <a:extLst xmlns:a="http://schemas.openxmlformats.org/drawingml/2006/main">
              <a:ext uri="{FF2B5EF4-FFF2-40B4-BE49-F238E27FC236}">
                <a16:creationId xmlns:a16="http://schemas.microsoft.com/office/drawing/2014/main" id="{C0AF604B-FAE1-46F5-89CD-AF9CA900342E}"/>
              </a:ext>
            </a:extLst>
          </p:cNvPr>
          <p:cNvSpPr>
            <a:spLocks xmlns:a="http://schemas.openxmlformats.org/drawingml/2006/main" noGrp="1"/>
          </p:cNvSpPr>
          <p:nvPr/>
        </p:nvSpPr>
        <p:spPr>
          <a:xfrm xmlns:a="http://schemas.openxmlformats.org/drawingml/2006/main">
            <a:off x="620077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D8FF55"/>
                </a:solidFill>
              </a:defRPr>
            </a:pPr>
            <a:r>
              <a:rPr sz="900" b="1">
                <a:solidFill>
                  <a:srgbClr val="D8FF55"/>
                </a:solidFill>
              </a:rPr>
              <a:t>04</a:t>
            </a:r>
          </a:p>
        </p:txBody>
      </p:sp>
      <p:sp>
        <p:nvSpPr>
          <p:cNvPr id="19" name="">
            <a:extLst xmlns:a="http://schemas.openxmlformats.org/drawingml/2006/main">
              <a:ext uri="{FF2B5EF4-FFF2-40B4-BE49-F238E27FC236}">
                <a16:creationId xmlns:a16="http://schemas.microsoft.com/office/drawing/2014/main" id="{84D17153-0F79-465B-8E65-0F2A102F6A03}"/>
              </a:ext>
            </a:extLst>
          </p:cNvPr>
          <p:cNvSpPr>
            <a:spLocks xmlns:a="http://schemas.openxmlformats.org/drawingml/2006/main" noGrp="1"/>
          </p:cNvSpPr>
          <p:nvPr/>
        </p:nvSpPr>
        <p:spPr>
          <a:xfrm xmlns:a="http://schemas.openxmlformats.org/drawingml/2006/main">
            <a:off x="620077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AUDIT</a:t>
            </a:r>
          </a:p>
        </p:txBody>
      </p:sp>
      <p:sp>
        <p:nvSpPr>
          <p:cNvPr id="20" name="">
            <a:extLst xmlns:a="http://schemas.openxmlformats.org/drawingml/2006/main">
              <a:ext uri="{FF2B5EF4-FFF2-40B4-BE49-F238E27FC236}">
                <a16:creationId xmlns:a16="http://schemas.microsoft.com/office/drawing/2014/main" id="{156A8EC0-5428-4CE4-86DB-4547A061B82D}"/>
              </a:ext>
            </a:extLst>
          </p:cNvPr>
          <p:cNvSpPr>
            <a:spLocks xmlns:a="http://schemas.openxmlformats.org/drawingml/2006/main" noGrp="1"/>
          </p:cNvSpPr>
          <p:nvPr/>
        </p:nvSpPr>
        <p:spPr>
          <a:xfrm xmlns:a="http://schemas.openxmlformats.org/drawingml/2006/main">
            <a:off x="620077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Checks versions + invariants</a:t>
            </a:r>
          </a:p>
        </p:txBody>
      </p:sp>
      <p:sp>
        <p:nvSpPr>
          <p:cNvPr id="21" name="">
            <a:extLst xmlns:a="http://schemas.openxmlformats.org/drawingml/2006/main">
              <a:ext uri="{FF2B5EF4-FFF2-40B4-BE49-F238E27FC236}">
                <a16:creationId xmlns:a16="http://schemas.microsoft.com/office/drawing/2014/main" id="{E6848313-6EC6-4AB0-BCB7-DD2F6DACB709}"/>
              </a:ext>
            </a:extLst>
          </p:cNvPr>
          <p:cNvSpPr>
            <a:spLocks xmlns:a="http://schemas.openxmlformats.org/drawingml/2006/main" noGrp="1"/>
          </p:cNvSpPr>
          <p:nvPr/>
        </p:nvSpPr>
        <p:spPr>
          <a:xfrm xmlns:a="http://schemas.openxmlformats.org/drawingml/2006/main">
            <a:off x="7810500" y="3048000"/>
            <a:ext cx="1524000" cy="1666875"/>
          </a:xfrm>
          <a:prstGeom xmlns:a="http://schemas.openxmlformats.org/drawingml/2006/main" prst="roundRect">
            <a:avLst>
              <a:gd name="adj" fmla="val 11250"/>
            </a:avLst>
          </a:prstGeom>
          <a:solidFill xmlns:a="http://schemas.openxmlformats.org/drawingml/2006/main">
            <a:srgbClr val="223022"/>
          </a:solidFill>
          <a:ln xmlns:a="http://schemas.openxmlformats.org/drawingml/2006/main" w="9525">
            <a:solidFill>
              <a:srgbClr val="455345"/>
            </a:solidFill>
            <a:prstDash val="solid"/>
          </a:ln>
        </p:spPr>
      </p:sp>
      <p:sp>
        <p:nvSpPr>
          <p:cNvPr id="22" name="">
            <a:extLst xmlns:a="http://schemas.openxmlformats.org/drawingml/2006/main">
              <a:ext uri="{FF2B5EF4-FFF2-40B4-BE49-F238E27FC236}">
                <a16:creationId xmlns:a16="http://schemas.microsoft.com/office/drawing/2014/main" id="{6A50CBF7-37EE-47F1-8E2C-D928AAA3C6EA}"/>
              </a:ext>
            </a:extLst>
          </p:cNvPr>
          <p:cNvSpPr>
            <a:spLocks xmlns:a="http://schemas.openxmlformats.org/drawingml/2006/main" noGrp="1"/>
          </p:cNvSpPr>
          <p:nvPr/>
        </p:nvSpPr>
        <p:spPr>
          <a:xfrm xmlns:a="http://schemas.openxmlformats.org/drawingml/2006/main">
            <a:off x="7981950"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8F7BFF"/>
                </a:solidFill>
              </a:defRPr>
            </a:pPr>
            <a:r>
              <a:rPr sz="900" b="1">
                <a:solidFill>
                  <a:srgbClr val="8F7BFF"/>
                </a:solidFill>
              </a:rPr>
              <a:t>05</a:t>
            </a:r>
          </a:p>
        </p:txBody>
      </p:sp>
      <p:sp>
        <p:nvSpPr>
          <p:cNvPr id="23" name="">
            <a:extLst xmlns:a="http://schemas.openxmlformats.org/drawingml/2006/main">
              <a:ext uri="{FF2B5EF4-FFF2-40B4-BE49-F238E27FC236}">
                <a16:creationId xmlns:a16="http://schemas.microsoft.com/office/drawing/2014/main" id="{C7A4F8B1-E43D-450F-9D7F-8B07D1A320A6}"/>
              </a:ext>
            </a:extLst>
          </p:cNvPr>
          <p:cNvSpPr>
            <a:spLocks xmlns:a="http://schemas.openxmlformats.org/drawingml/2006/main" noGrp="1"/>
          </p:cNvSpPr>
          <p:nvPr/>
        </p:nvSpPr>
        <p:spPr>
          <a:xfrm xmlns:a="http://schemas.openxmlformats.org/drawingml/2006/main">
            <a:off x="7981950"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FFFFFF"/>
                </a:solidFill>
              </a:defRPr>
            </a:pPr>
            <a:r>
              <a:rPr sz="1050" b="1">
                <a:solidFill>
                  <a:srgbClr val="FFFFFF"/>
                </a:solidFill>
              </a:rPr>
              <a:t>GOVERN</a:t>
            </a:r>
          </a:p>
        </p:txBody>
      </p:sp>
      <p:sp>
        <p:nvSpPr>
          <p:cNvPr id="24" name="">
            <a:extLst xmlns:a="http://schemas.openxmlformats.org/drawingml/2006/main">
              <a:ext uri="{FF2B5EF4-FFF2-40B4-BE49-F238E27FC236}">
                <a16:creationId xmlns:a16="http://schemas.microsoft.com/office/drawing/2014/main" id="{B4A9F002-87D8-4422-A02A-85E4D660A6C5}"/>
              </a:ext>
            </a:extLst>
          </p:cNvPr>
          <p:cNvSpPr>
            <a:spLocks xmlns:a="http://schemas.openxmlformats.org/drawingml/2006/main" noGrp="1"/>
          </p:cNvSpPr>
          <p:nvPr/>
        </p:nvSpPr>
        <p:spPr>
          <a:xfrm xmlns:a="http://schemas.openxmlformats.org/drawingml/2006/main">
            <a:off x="7981950"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C8D1C8"/>
                </a:solidFill>
              </a:defRPr>
            </a:pPr>
            <a:r>
              <a:rPr sz="1050" b="0">
                <a:solidFill>
                  <a:srgbClr val="C8D1C8"/>
                </a:solidFill>
              </a:rPr>
              <a:t>Blocks failed evidence</a:t>
            </a:r>
          </a:p>
        </p:txBody>
      </p:sp>
      <p:sp>
        <p:nvSpPr>
          <p:cNvPr id="25" name="">
            <a:extLst xmlns:a="http://schemas.openxmlformats.org/drawingml/2006/main">
              <a:ext uri="{FF2B5EF4-FFF2-40B4-BE49-F238E27FC236}">
                <a16:creationId xmlns:a16="http://schemas.microsoft.com/office/drawing/2014/main" id="{61489C50-EF27-423D-8579-42767AF40DB6}"/>
              </a:ext>
            </a:extLst>
          </p:cNvPr>
          <p:cNvSpPr>
            <a:spLocks xmlns:a="http://schemas.openxmlformats.org/drawingml/2006/main" noGrp="1"/>
          </p:cNvSpPr>
          <p:nvPr/>
        </p:nvSpPr>
        <p:spPr>
          <a:xfrm xmlns:a="http://schemas.openxmlformats.org/drawingml/2006/main">
            <a:off x="9591675" y="3048000"/>
            <a:ext cx="1524000" cy="1666875"/>
          </a:xfrm>
          <a:prstGeom xmlns:a="http://schemas.openxmlformats.org/drawingml/2006/main" prst="roundRect">
            <a:avLst>
              <a:gd name="adj" fmla="val 11250"/>
            </a:avLst>
          </a:prstGeom>
          <a:solidFill xmlns:a="http://schemas.openxmlformats.org/drawingml/2006/main">
            <a:srgbClr val="D8FF5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607E68B-F340-41D8-9512-BAB065A482E6}"/>
              </a:ext>
            </a:extLst>
          </p:cNvPr>
          <p:cNvSpPr>
            <a:spLocks xmlns:a="http://schemas.openxmlformats.org/drawingml/2006/main" noGrp="1"/>
          </p:cNvSpPr>
          <p:nvPr/>
        </p:nvSpPr>
        <p:spPr>
          <a:xfrm xmlns:a="http://schemas.openxmlformats.org/drawingml/2006/main">
            <a:off x="9763125" y="32385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00" b="1">
                <a:solidFill>
                  <a:srgbClr val="152015"/>
                </a:solidFill>
              </a:defRPr>
            </a:pPr>
            <a:r>
              <a:rPr sz="900" b="1">
                <a:solidFill>
                  <a:srgbClr val="152015"/>
                </a:solidFill>
              </a:rPr>
              <a:t>06</a:t>
            </a:r>
          </a:p>
        </p:txBody>
      </p:sp>
      <p:sp>
        <p:nvSpPr>
          <p:cNvPr id="27" name="">
            <a:extLst xmlns:a="http://schemas.openxmlformats.org/drawingml/2006/main">
              <a:ext uri="{FF2B5EF4-FFF2-40B4-BE49-F238E27FC236}">
                <a16:creationId xmlns:a16="http://schemas.microsoft.com/office/drawing/2014/main" id="{12FA8381-87C9-4C8C-B66F-83068E3100DE}"/>
              </a:ext>
            </a:extLst>
          </p:cNvPr>
          <p:cNvSpPr>
            <a:spLocks xmlns:a="http://schemas.openxmlformats.org/drawingml/2006/main" noGrp="1"/>
          </p:cNvSpPr>
          <p:nvPr/>
        </p:nvSpPr>
        <p:spPr>
          <a:xfrm xmlns:a="http://schemas.openxmlformats.org/drawingml/2006/main">
            <a:off x="9763125" y="3657600"/>
            <a:ext cx="12192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DECIDE</a:t>
            </a:r>
          </a:p>
        </p:txBody>
      </p:sp>
      <p:sp>
        <p:nvSpPr>
          <p:cNvPr id="28" name="">
            <a:extLst xmlns:a="http://schemas.openxmlformats.org/drawingml/2006/main">
              <a:ext uri="{FF2B5EF4-FFF2-40B4-BE49-F238E27FC236}">
                <a16:creationId xmlns:a16="http://schemas.microsoft.com/office/drawing/2014/main" id="{B98F5683-0D97-4094-A83B-0A0EC6739306}"/>
              </a:ext>
            </a:extLst>
          </p:cNvPr>
          <p:cNvSpPr>
            <a:spLocks xmlns:a="http://schemas.openxmlformats.org/drawingml/2006/main" noGrp="1"/>
          </p:cNvSpPr>
          <p:nvPr/>
        </p:nvSpPr>
        <p:spPr>
          <a:xfrm xmlns:a="http://schemas.openxmlformats.org/drawingml/2006/main">
            <a:off x="9763125" y="4095750"/>
            <a:ext cx="1190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152015"/>
                </a:solidFill>
              </a:defRPr>
            </a:pPr>
            <a:r>
              <a:rPr sz="1050" b="0">
                <a:solidFill>
                  <a:srgbClr val="152015"/>
                </a:solidFill>
              </a:rPr>
              <a:t>Human owns judgment</a:t>
            </a:r>
          </a:p>
        </p:txBody>
      </p:sp>
      <p:sp>
        <p:nvSpPr>
          <p:cNvPr id="29" name="">
            <a:extLst xmlns:a="http://schemas.openxmlformats.org/drawingml/2006/main">
              <a:ext uri="{FF2B5EF4-FFF2-40B4-BE49-F238E27FC236}">
                <a16:creationId xmlns:a16="http://schemas.microsoft.com/office/drawing/2014/main" id="{255768F6-867A-426D-8DC3-D5C1E189EFF5}"/>
              </a:ext>
            </a:extLst>
          </p:cNvPr>
          <p:cNvSpPr>
            <a:spLocks xmlns:a="http://schemas.openxmlformats.org/drawingml/2006/main" noGrp="1"/>
          </p:cNvSpPr>
          <p:nvPr/>
        </p:nvSpPr>
        <p:spPr>
          <a:xfrm xmlns:a="http://schemas.openxmlformats.org/drawingml/2006/main">
            <a:off x="685800" y="5286375"/>
            <a:ext cx="1000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D8FF55"/>
                </a:solidFill>
              </a:defRPr>
            </a:pPr>
            <a:r>
              <a:rPr sz="1725" b="1">
                <a:solidFill>
                  <a:srgbClr val="D8FF55"/>
                </a:solidFill>
              </a:rPr>
              <a:t>COST-001 rejects output-token input. A ledger mismatch fails evaluation and GOV-009 blocks governance.</a:t>
            </a:r>
          </a:p>
        </p:txBody>
      </p:sp>
      <p:sp>
        <p:nvSpPr>
          <p:cNvPr id="30" name="">
            <a:extLst xmlns:a="http://schemas.openxmlformats.org/drawingml/2006/main">
              <a:ext uri="{FF2B5EF4-FFF2-40B4-BE49-F238E27FC236}">
                <a16:creationId xmlns:a16="http://schemas.microsoft.com/office/drawing/2014/main" id="{C7B803FE-BC72-488F-B900-B932946E02B7}"/>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B7C0B7"/>
                </a:solidFill>
              </a:defRPr>
            </a:pPr>
            <a:r>
              <a:rPr sz="825" b="1">
                <a:solidFill>
                  <a:srgbClr val="B7C0B7"/>
                </a:solidFill>
              </a:rPr>
              <a:t>AI BUILD CREW · BADLABZ.COM</a:t>
            </a:r>
          </a:p>
        </p:txBody>
      </p:sp>
      <p:sp>
        <p:nvSpPr>
          <p:cNvPr id="31" name="">
            <a:extLst xmlns:a="http://schemas.openxmlformats.org/drawingml/2006/main">
              <a:ext uri="{FF2B5EF4-FFF2-40B4-BE49-F238E27FC236}">
                <a16:creationId xmlns:a16="http://schemas.microsoft.com/office/drawing/2014/main" id="{CA373767-CC7C-4CDC-AADE-0F0B9DA627CD}"/>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D8FF55"/>
                </a:solidFill>
              </a:defRPr>
            </a:pPr>
            <a:r>
              <a:rPr sz="825" b="1">
                <a:solidFill>
                  <a:srgbClr val="D8FF55"/>
                </a:solidFill>
              </a:rPr>
              <a:t>06</a:t>
            </a:r>
          </a:p>
        </p:txBody>
      </p:sp>
    </p:spTree>
    <p:extLst>
      <p:ext uri="{BB962C8B-B14F-4D97-AF65-F5344CB8AC3E}">
        <p14:creationId xmlns:p14="http://schemas.microsoft.com/office/powerpoint/2010/main" val="707526045"/>
      </p:ext>
    </p:extLst>
  </p:cSld>
</p:sld>
</file>

<file path=ppt/slides/slide7.xml><?xml version="1.0" encoding="utf-8"?>
<p:sld xmlns:p="http://schemas.openxmlformats.org/presentationml/2006/main">
  <p:cSld>
    <p:bg>
      <p:bgPr>
        <a:solidFill xmlns:a="http://schemas.openxmlformats.org/drawingml/2006/main">
          <a:srgbClr val="F3EFE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B66254D-BA81-43B0-A173-40DA05518F60}"/>
              </a:ext>
            </a:extLst>
          </p:cNvPr>
          <p:cNvSpPr>
            <a:spLocks xmlns:a="http://schemas.openxmlformats.org/drawingml/2006/main" noGrp="1"/>
          </p:cNvSpPr>
          <p:nvPr/>
        </p:nvSpPr>
        <p:spPr>
          <a:xfrm xmlns:a="http://schemas.openxmlformats.org/drawingml/2006/main">
            <a:off x="685800" y="4572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06</a:t>
            </a:r>
          </a:p>
        </p:txBody>
      </p:sp>
      <p:sp>
        <p:nvSpPr>
          <p:cNvPr id="2" name="">
            <a:extLst xmlns:a="http://schemas.openxmlformats.org/drawingml/2006/main">
              <a:ext uri="{FF2B5EF4-FFF2-40B4-BE49-F238E27FC236}">
                <a16:creationId xmlns:a16="http://schemas.microsoft.com/office/drawing/2014/main" id="{AEECD96B-D96E-4E52-9E61-B75EEDC2F693}"/>
              </a:ext>
            </a:extLst>
          </p:cNvPr>
          <p:cNvSpPr>
            <a:spLocks xmlns:a="http://schemas.openxmlformats.org/drawingml/2006/main" noGrp="1"/>
          </p:cNvSpPr>
          <p:nvPr/>
        </p:nvSpPr>
        <p:spPr>
          <a:xfrm xmlns:a="http://schemas.openxmlformats.org/drawingml/2006/main">
            <a:off x="12192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152015"/>
                </a:solidFill>
              </a:defRPr>
            </a:pPr>
            <a:r>
              <a:rPr sz="975" b="1">
                <a:solidFill>
                  <a:srgbClr val="152015"/>
                </a:solidFill>
              </a:rPr>
              <a:t>WHAT THE PROTOTYPE PROVES</a:t>
            </a:r>
          </a:p>
        </p:txBody>
      </p:sp>
      <p:sp>
        <p:nvSpPr>
          <p:cNvPr id="3" name="">
            <a:extLst xmlns:a="http://schemas.openxmlformats.org/drawingml/2006/main">
              <a:ext uri="{FF2B5EF4-FFF2-40B4-BE49-F238E27FC236}">
                <a16:creationId xmlns:a16="http://schemas.microsoft.com/office/drawing/2014/main" id="{C57488F2-36F9-43D6-8D83-5FFAFE4AD0B5}"/>
              </a:ext>
            </a:extLst>
          </p:cNvPr>
          <p:cNvSpPr>
            <a:spLocks xmlns:a="http://schemas.openxmlformats.org/drawingml/2006/main" noGrp="1"/>
          </p:cNvSpPr>
          <p:nvPr/>
        </p:nvSpPr>
        <p:spPr>
          <a:xfrm xmlns:a="http://schemas.openxmlformats.org/drawingml/2006/main">
            <a:off x="685800" y="7810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5C84C1-6575-4D95-AE41-C4CA0B56BC8E}"/>
              </a:ext>
            </a:extLst>
          </p:cNvPr>
          <p:cNvSpPr>
            <a:spLocks xmlns:a="http://schemas.openxmlformats.org/drawingml/2006/main" noGrp="1"/>
          </p:cNvSpPr>
          <p:nvPr/>
        </p:nvSpPr>
        <p:spPr>
          <a:xfrm xmlns:a="http://schemas.openxmlformats.org/drawingml/2006/main">
            <a:off x="685800" y="1123950"/>
            <a:ext cx="685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75" b="1">
                <a:solidFill>
                  <a:srgbClr val="152015"/>
                </a:solidFill>
              </a:defRPr>
            </a:pPr>
            <a:r>
              <a:rPr sz="3375" b="1">
                <a:solidFill>
                  <a:srgbClr val="152015"/>
                </a:solidFill>
              </a:rPr>
              <a:t>Evidence is useful only when</a:t>
            </a:r>
          </a:p>
          <a:p xmlns:a="http://schemas.openxmlformats.org/drawingml/2006/main">
            <a:pPr algn="l">
              <a:buNone/>
              <a:defRPr sz="3375" b="1">
                <a:solidFill>
                  <a:srgbClr val="152015"/>
                </a:solidFill>
              </a:defRPr>
            </a:pPr>
            <a:r>
              <a:rPr sz="3375" b="1">
                <a:solidFill>
                  <a:srgbClr val="152015"/>
                </a:solidFill>
              </a:rPr>
              <a:t>its limits are visible.</a:t>
            </a:r>
          </a:p>
        </p:txBody>
      </p:sp>
      <p:sp>
        <p:nvSpPr>
          <p:cNvPr id="5" name="">
            <a:extLst xmlns:a="http://schemas.openxmlformats.org/drawingml/2006/main">
              <a:ext uri="{FF2B5EF4-FFF2-40B4-BE49-F238E27FC236}">
                <a16:creationId xmlns:a16="http://schemas.microsoft.com/office/drawing/2014/main" id="{A37D05A4-2AE9-437B-BE13-A2E570B8CF4F}"/>
              </a:ext>
            </a:extLst>
          </p:cNvPr>
          <p:cNvSpPr>
            <a:spLocks xmlns:a="http://schemas.openxmlformats.org/drawingml/2006/main" noGrp="1"/>
          </p:cNvSpPr>
          <p:nvPr/>
        </p:nvSpPr>
        <p:spPr>
          <a:xfrm xmlns:a="http://schemas.openxmlformats.org/drawingml/2006/main">
            <a:off x="685800" y="2857500"/>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8F7BFF"/>
                </a:solidFill>
              </a:defRPr>
            </a:pPr>
            <a:r>
              <a:rPr sz="4050" b="1">
                <a:solidFill>
                  <a:srgbClr val="8F7BFF"/>
                </a:solidFill>
              </a:rPr>
              <a:t>15</a:t>
            </a:r>
          </a:p>
        </p:txBody>
      </p:sp>
      <p:sp>
        <p:nvSpPr>
          <p:cNvPr id="6" name="">
            <a:extLst xmlns:a="http://schemas.openxmlformats.org/drawingml/2006/main">
              <a:ext uri="{FF2B5EF4-FFF2-40B4-BE49-F238E27FC236}">
                <a16:creationId xmlns:a16="http://schemas.microsoft.com/office/drawing/2014/main" id="{541005F1-2A85-41B5-B1DB-D4897D093507}"/>
              </a:ext>
            </a:extLst>
          </p:cNvPr>
          <p:cNvSpPr>
            <a:spLocks xmlns:a="http://schemas.openxmlformats.org/drawingml/2006/main" noGrp="1"/>
          </p:cNvSpPr>
          <p:nvPr/>
        </p:nvSpPr>
        <p:spPr>
          <a:xfrm xmlns:a="http://schemas.openxmlformats.org/drawingml/2006/main">
            <a:off x="1752600" y="289560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AUTOMATED CHECKS</a:t>
            </a:r>
          </a:p>
        </p:txBody>
      </p:sp>
      <p:sp>
        <p:nvSpPr>
          <p:cNvPr id="7" name="">
            <a:extLst xmlns:a="http://schemas.openxmlformats.org/drawingml/2006/main">
              <a:ext uri="{FF2B5EF4-FFF2-40B4-BE49-F238E27FC236}">
                <a16:creationId xmlns:a16="http://schemas.microsoft.com/office/drawing/2014/main" id="{704709D0-AC65-4AC9-A873-77C670025FD0}"/>
              </a:ext>
            </a:extLst>
          </p:cNvPr>
          <p:cNvSpPr>
            <a:spLocks xmlns:a="http://schemas.openxmlformats.org/drawingml/2006/main" noGrp="1"/>
          </p:cNvSpPr>
          <p:nvPr/>
        </p:nvSpPr>
        <p:spPr>
          <a:xfrm xmlns:a="http://schemas.openxmlformats.org/drawingml/2006/main">
            <a:off x="1752600" y="3248025"/>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Cost contract, corruption, governance, safety, and render</a:t>
            </a:r>
          </a:p>
        </p:txBody>
      </p:sp>
      <p:sp>
        <p:nvSpPr>
          <p:cNvPr id="8" name="">
            <a:extLst xmlns:a="http://schemas.openxmlformats.org/drawingml/2006/main">
              <a:ext uri="{FF2B5EF4-FFF2-40B4-BE49-F238E27FC236}">
                <a16:creationId xmlns:a16="http://schemas.microsoft.com/office/drawing/2014/main" id="{AEDDD9DA-9707-4C80-8E98-231B17BA952E}"/>
              </a:ext>
            </a:extLst>
          </p:cNvPr>
          <p:cNvSpPr>
            <a:spLocks xmlns:a="http://schemas.openxmlformats.org/drawingml/2006/main" noGrp="1"/>
          </p:cNvSpPr>
          <p:nvPr/>
        </p:nvSpPr>
        <p:spPr>
          <a:xfrm xmlns:a="http://schemas.openxmlformats.org/drawingml/2006/main">
            <a:off x="6086475" y="2857500"/>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FF8159"/>
                </a:solidFill>
              </a:defRPr>
            </a:pPr>
            <a:r>
              <a:rPr sz="4050" b="1">
                <a:solidFill>
                  <a:srgbClr val="FF8159"/>
                </a:solidFill>
              </a:rPr>
              <a:t>0</a:t>
            </a:r>
          </a:p>
        </p:txBody>
      </p:sp>
      <p:sp>
        <p:nvSpPr>
          <p:cNvPr id="9" name="">
            <a:extLst xmlns:a="http://schemas.openxmlformats.org/drawingml/2006/main">
              <a:ext uri="{FF2B5EF4-FFF2-40B4-BE49-F238E27FC236}">
                <a16:creationId xmlns:a16="http://schemas.microsoft.com/office/drawing/2014/main" id="{3432D8BD-2E4D-405F-AEA0-57D9526EA7EB}"/>
              </a:ext>
            </a:extLst>
          </p:cNvPr>
          <p:cNvSpPr>
            <a:spLocks xmlns:a="http://schemas.openxmlformats.org/drawingml/2006/main" noGrp="1"/>
          </p:cNvSpPr>
          <p:nvPr/>
        </p:nvSpPr>
        <p:spPr>
          <a:xfrm xmlns:a="http://schemas.openxmlformats.org/drawingml/2006/main">
            <a:off x="7153275" y="289560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GENERATIVE DECISION CALLS</a:t>
            </a:r>
          </a:p>
        </p:txBody>
      </p:sp>
      <p:sp>
        <p:nvSpPr>
          <p:cNvPr id="10" name="">
            <a:extLst xmlns:a="http://schemas.openxmlformats.org/drawingml/2006/main">
              <a:ext uri="{FF2B5EF4-FFF2-40B4-BE49-F238E27FC236}">
                <a16:creationId xmlns:a16="http://schemas.microsoft.com/office/drawing/2014/main" id="{F80BDF72-33AC-4F2C-8ABD-0AD1027648BB}"/>
              </a:ext>
            </a:extLst>
          </p:cNvPr>
          <p:cNvSpPr>
            <a:spLocks xmlns:a="http://schemas.openxmlformats.org/drawingml/2006/main" noGrp="1"/>
          </p:cNvSpPr>
          <p:nvPr/>
        </p:nvSpPr>
        <p:spPr>
          <a:xfrm xmlns:a="http://schemas.openxmlformats.org/drawingml/2006/main">
            <a:off x="7153275" y="3248025"/>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No LLM can change math, status, or approval</a:t>
            </a:r>
          </a:p>
        </p:txBody>
      </p:sp>
      <p:sp>
        <p:nvSpPr>
          <p:cNvPr id="11" name="">
            <a:extLst xmlns:a="http://schemas.openxmlformats.org/drawingml/2006/main">
              <a:ext uri="{FF2B5EF4-FFF2-40B4-BE49-F238E27FC236}">
                <a16:creationId xmlns:a16="http://schemas.microsoft.com/office/drawing/2014/main" id="{FBB67E60-06E8-48C1-AB4C-7A273AC4402B}"/>
              </a:ext>
            </a:extLst>
          </p:cNvPr>
          <p:cNvSpPr>
            <a:spLocks xmlns:a="http://schemas.openxmlformats.org/drawingml/2006/main" noGrp="1"/>
          </p:cNvSpPr>
          <p:nvPr/>
        </p:nvSpPr>
        <p:spPr>
          <a:xfrm xmlns:a="http://schemas.openxmlformats.org/drawingml/2006/main">
            <a:off x="685800" y="4238625"/>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152015"/>
                </a:solidFill>
              </a:defRPr>
            </a:pPr>
            <a:r>
              <a:rPr sz="4050" b="1">
                <a:solidFill>
                  <a:srgbClr val="152015"/>
                </a:solidFill>
              </a:rPr>
              <a:t>6</a:t>
            </a:r>
          </a:p>
        </p:txBody>
      </p:sp>
      <p:sp>
        <p:nvSpPr>
          <p:cNvPr id="12" name="">
            <a:extLst xmlns:a="http://schemas.openxmlformats.org/drawingml/2006/main">
              <a:ext uri="{FF2B5EF4-FFF2-40B4-BE49-F238E27FC236}">
                <a16:creationId xmlns:a16="http://schemas.microsoft.com/office/drawing/2014/main" id="{DFFB32FB-2ABE-4779-9A9A-5C789595A4DD}"/>
              </a:ext>
            </a:extLst>
          </p:cNvPr>
          <p:cNvSpPr>
            <a:spLocks xmlns:a="http://schemas.openxmlformats.org/drawingml/2006/main" noGrp="1"/>
          </p:cNvSpPr>
          <p:nvPr/>
        </p:nvSpPr>
        <p:spPr>
          <a:xfrm xmlns:a="http://schemas.openxmlformats.org/drawingml/2006/main">
            <a:off x="1752600" y="427672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HARD COST RULES</a:t>
            </a:r>
          </a:p>
        </p:txBody>
      </p:sp>
      <p:sp>
        <p:nvSpPr>
          <p:cNvPr id="13" name="">
            <a:extLst xmlns:a="http://schemas.openxmlformats.org/drawingml/2006/main">
              <a:ext uri="{FF2B5EF4-FFF2-40B4-BE49-F238E27FC236}">
                <a16:creationId xmlns:a16="http://schemas.microsoft.com/office/drawing/2014/main" id="{58916FFD-6C42-4314-90C7-F754CD6D0710}"/>
              </a:ext>
            </a:extLst>
          </p:cNvPr>
          <p:cNvSpPr>
            <a:spLocks xmlns:a="http://schemas.openxmlformats.org/drawingml/2006/main" noGrp="1"/>
          </p:cNvSpPr>
          <p:nvPr/>
        </p:nvSpPr>
        <p:spPr>
          <a:xfrm xmlns:a="http://schemas.openxmlformats.org/drawingml/2006/main">
            <a:off x="1752600" y="4629150"/>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COST-001 through COST-006 are release gates</a:t>
            </a:r>
          </a:p>
        </p:txBody>
      </p:sp>
      <p:sp>
        <p:nvSpPr>
          <p:cNvPr id="14" name="">
            <a:extLst xmlns:a="http://schemas.openxmlformats.org/drawingml/2006/main">
              <a:ext uri="{FF2B5EF4-FFF2-40B4-BE49-F238E27FC236}">
                <a16:creationId xmlns:a16="http://schemas.microsoft.com/office/drawing/2014/main" id="{2720B1BC-BCB3-4D64-A7E8-190BF4DA1090}"/>
              </a:ext>
            </a:extLst>
          </p:cNvPr>
          <p:cNvSpPr>
            <a:spLocks xmlns:a="http://schemas.openxmlformats.org/drawingml/2006/main" noGrp="1"/>
          </p:cNvSpPr>
          <p:nvPr/>
        </p:nvSpPr>
        <p:spPr>
          <a:xfrm xmlns:a="http://schemas.openxmlformats.org/drawingml/2006/main">
            <a:off x="6086475" y="4238625"/>
            <a:ext cx="95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050" b="1">
                <a:solidFill>
                  <a:srgbClr val="8F7BFF"/>
                </a:solidFill>
              </a:defRPr>
            </a:pPr>
            <a:r>
              <a:rPr sz="4050" b="1">
                <a:solidFill>
                  <a:srgbClr val="8F7BFF"/>
                </a:solidFill>
              </a:rPr>
              <a:t>1</a:t>
            </a:r>
          </a:p>
        </p:txBody>
      </p:sp>
      <p:sp>
        <p:nvSpPr>
          <p:cNvPr id="15" name="">
            <a:extLst xmlns:a="http://schemas.openxmlformats.org/drawingml/2006/main">
              <a:ext uri="{FF2B5EF4-FFF2-40B4-BE49-F238E27FC236}">
                <a16:creationId xmlns:a16="http://schemas.microsoft.com/office/drawing/2014/main" id="{2FCF9303-BF80-4128-94CD-FCEE46D9A9CE}"/>
              </a:ext>
            </a:extLst>
          </p:cNvPr>
          <p:cNvSpPr>
            <a:spLocks xmlns:a="http://schemas.openxmlformats.org/drawingml/2006/main" noGrp="1"/>
          </p:cNvSpPr>
          <p:nvPr/>
        </p:nvSpPr>
        <p:spPr>
          <a:xfrm xmlns:a="http://schemas.openxmlformats.org/drawingml/2006/main">
            <a:off x="7153275" y="427672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1">
                <a:solidFill>
                  <a:srgbClr val="152015"/>
                </a:solidFill>
              </a:defRPr>
            </a:pPr>
            <a:r>
              <a:rPr sz="1050" b="1">
                <a:solidFill>
                  <a:srgbClr val="152015"/>
                </a:solidFill>
              </a:rPr>
              <a:t>POLICY-ELIGIBLE BASELINE</a:t>
            </a:r>
          </a:p>
        </p:txBody>
      </p:sp>
      <p:sp>
        <p:nvSpPr>
          <p:cNvPr id="16" name="">
            <a:extLst xmlns:a="http://schemas.openxmlformats.org/drawingml/2006/main">
              <a:ext uri="{FF2B5EF4-FFF2-40B4-BE49-F238E27FC236}">
                <a16:creationId xmlns:a16="http://schemas.microsoft.com/office/drawing/2014/main" id="{91B8503A-AE8F-449B-8BE5-A654E5FC24D5}"/>
              </a:ext>
            </a:extLst>
          </p:cNvPr>
          <p:cNvSpPr>
            <a:spLocks xmlns:a="http://schemas.openxmlformats.org/drawingml/2006/main" noGrp="1"/>
          </p:cNvSpPr>
          <p:nvPr/>
        </p:nvSpPr>
        <p:spPr>
          <a:xfrm xmlns:a="http://schemas.openxmlformats.org/drawingml/2006/main">
            <a:off x="7153275" y="4629150"/>
            <a:ext cx="3714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687068"/>
                </a:solidFill>
              </a:defRPr>
            </a:pPr>
            <a:r>
              <a:rPr sz="1275" b="0">
                <a:solidFill>
                  <a:srgbClr val="687068"/>
                </a:solidFill>
              </a:rPr>
              <a:t>GOV-015 warns until behavior distributions are measured</a:t>
            </a:r>
          </a:p>
        </p:txBody>
      </p:sp>
      <p:sp>
        <p:nvSpPr>
          <p:cNvPr id="17" name="">
            <a:extLst xmlns:a="http://schemas.openxmlformats.org/drawingml/2006/main">
              <a:ext uri="{FF2B5EF4-FFF2-40B4-BE49-F238E27FC236}">
                <a16:creationId xmlns:a16="http://schemas.microsoft.com/office/drawing/2014/main" id="{138D78AB-16CC-4403-B9F2-A992A34228A2}"/>
              </a:ext>
            </a:extLst>
          </p:cNvPr>
          <p:cNvSpPr>
            <a:spLocks xmlns:a="http://schemas.openxmlformats.org/drawingml/2006/main" noGrp="1"/>
          </p:cNvSpPr>
          <p:nvPr/>
        </p:nvSpPr>
        <p:spPr>
          <a:xfrm xmlns:a="http://schemas.openxmlformats.org/drawingml/2006/main">
            <a:off x="685800" y="5657850"/>
            <a:ext cx="10820400" cy="19050"/>
          </a:xfrm>
          <a:prstGeom xmlns:a="http://schemas.openxmlformats.org/drawingml/2006/main" prst="rect">
            <a:avLst/>
          </a:prstGeom>
          <a:solidFill xmlns:a="http://schemas.openxmlformats.org/drawingml/2006/main">
            <a:srgbClr val="CDD0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D073E4-4E78-4C57-964D-07C5F68E62E3}"/>
              </a:ext>
            </a:extLst>
          </p:cNvPr>
          <p:cNvSpPr>
            <a:spLocks xmlns:a="http://schemas.openxmlformats.org/drawingml/2006/main" noGrp="1"/>
          </p:cNvSpPr>
          <p:nvPr/>
        </p:nvSpPr>
        <p:spPr>
          <a:xfrm xmlns:a="http://schemas.openxmlformats.org/drawingml/2006/main">
            <a:off x="685800" y="586740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FF8159"/>
                </a:solidFill>
              </a:defRPr>
            </a:pPr>
            <a:r>
              <a:rPr sz="1200" b="1">
                <a:solidFill>
                  <a:srgbClr val="FF8159"/>
                </a:solidFill>
              </a:rPr>
              <a:t>Not yet proved: measured output/retry distributions, shared provider quality, actual-charge reconciliation, or saved history.</a:t>
            </a:r>
          </a:p>
        </p:txBody>
      </p:sp>
      <p:sp>
        <p:nvSpPr>
          <p:cNvPr id="19" name="">
            <a:extLst xmlns:a="http://schemas.openxmlformats.org/drawingml/2006/main">
              <a:ext uri="{FF2B5EF4-FFF2-40B4-BE49-F238E27FC236}">
                <a16:creationId xmlns:a16="http://schemas.microsoft.com/office/drawing/2014/main" id="{6BEB2435-DD99-4D36-A74C-7BA05B65E0EE}"/>
              </a:ext>
            </a:extLst>
          </p:cNvPr>
          <p:cNvSpPr>
            <a:spLocks xmlns:a="http://schemas.openxmlformats.org/drawingml/2006/main" noGrp="1"/>
          </p:cNvSpPr>
          <p:nvPr/>
        </p:nvSpPr>
        <p:spPr>
          <a:xfrm xmlns:a="http://schemas.openxmlformats.org/drawingml/2006/main">
            <a:off x="685800" y="64960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25" b="1">
                <a:solidFill>
                  <a:srgbClr val="687068"/>
                </a:solidFill>
              </a:defRPr>
            </a:pPr>
            <a:r>
              <a:rPr sz="825" b="1">
                <a:solidFill>
                  <a:srgbClr val="687068"/>
                </a:solidFill>
              </a:rPr>
              <a:t>AI BUILD CREW · BADLABZ.COM</a:t>
            </a:r>
          </a:p>
        </p:txBody>
      </p:sp>
      <p:sp>
        <p:nvSpPr>
          <p:cNvPr id="20" name="">
            <a:extLst xmlns:a="http://schemas.openxmlformats.org/drawingml/2006/main">
              <a:ext uri="{FF2B5EF4-FFF2-40B4-BE49-F238E27FC236}">
                <a16:creationId xmlns:a16="http://schemas.microsoft.com/office/drawing/2014/main" id="{779176EB-F656-4A73-A2D1-14A8AE4A3DC7}"/>
              </a:ext>
            </a:extLst>
          </p:cNvPr>
          <p:cNvSpPr>
            <a:spLocks xmlns:a="http://schemas.openxmlformats.org/drawingml/2006/main" noGrp="1"/>
          </p:cNvSpPr>
          <p:nvPr/>
        </p:nvSpPr>
        <p:spPr>
          <a:xfrm xmlns:a="http://schemas.openxmlformats.org/drawingml/2006/main">
            <a:off x="10858500" y="6496050"/>
            <a:ext cx="647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825" b="1">
                <a:solidFill>
                  <a:srgbClr val="8F7BFF"/>
                </a:solidFill>
              </a:defRPr>
            </a:pPr>
            <a:r>
              <a:rPr sz="825" b="1">
                <a:solidFill>
                  <a:srgbClr val="8F7BFF"/>
                </a:solidFill>
              </a:rPr>
              <a:t>07</a:t>
            </a:r>
          </a:p>
        </p:txBody>
      </p:sp>
    </p:spTree>
    <p:extLst>
      <p:ext uri="{BB962C8B-B14F-4D97-AF65-F5344CB8AC3E}">
        <p14:creationId xmlns:p14="http://schemas.microsoft.com/office/powerpoint/2010/main" val="44297397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efa55a1d9b343c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505945-590A-4C2D-98F2-EED54361D376}"/>
              </a:ext>
            </a:extLst>
          </p:cNvPr>
          <p:cNvSpPr>
            <a:spLocks xmlns:a="http://schemas.openxmlformats.org/drawingml/2006/main" noGrp="1"/>
          </p:cNvSpPr>
          <p:nvPr/>
        </p:nvSpPr>
        <p:spPr>
          <a:xfrm xmlns:a="http://schemas.openxmlformats.org/drawingml/2006/main">
            <a:off x="0" y="0"/>
            <a:ext cx="7334250" cy="6858000"/>
          </a:xfrm>
          <a:prstGeom xmlns:a="http://schemas.openxmlformats.org/drawingml/2006/main" prst="rect">
            <a:avLst/>
          </a:prstGeom>
          <a:solidFill xmlns:a="http://schemas.openxmlformats.org/drawingml/2006/main">
            <a:srgbClr val="152015">
              <a:alpha val="94902"/>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9484EF-407F-4944-8879-B3FDBB7FFA64}"/>
              </a:ext>
            </a:extLst>
          </p:cNvPr>
          <p:cNvSpPr>
            <a:spLocks xmlns:a="http://schemas.openxmlformats.org/drawingml/2006/main" noGrp="1"/>
          </p:cNvSpPr>
          <p:nvPr/>
        </p:nvSpPr>
        <p:spPr>
          <a:xfrm xmlns:a="http://schemas.openxmlformats.org/drawingml/2006/main">
            <a:off x="685800" y="5524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NEXT RELEASE</a:t>
            </a:r>
          </a:p>
        </p:txBody>
      </p:sp>
      <p:sp>
        <p:nvSpPr>
          <p:cNvPr id="4" name="">
            <a:extLst xmlns:a="http://schemas.openxmlformats.org/drawingml/2006/main">
              <a:ext uri="{FF2B5EF4-FFF2-40B4-BE49-F238E27FC236}">
                <a16:creationId xmlns:a16="http://schemas.microsoft.com/office/drawing/2014/main" id="{71C7F68A-8294-4D64-AD07-7B2B4F0C7FAF}"/>
              </a:ext>
            </a:extLst>
          </p:cNvPr>
          <p:cNvSpPr>
            <a:spLocks xmlns:a="http://schemas.openxmlformats.org/drawingml/2006/main" noGrp="1"/>
          </p:cNvSpPr>
          <p:nvPr/>
        </p:nvSpPr>
        <p:spPr>
          <a:xfrm xmlns:a="http://schemas.openxmlformats.org/drawingml/2006/main">
            <a:off x="685800" y="1219200"/>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FFFFFF"/>
                </a:solidFill>
              </a:defRPr>
            </a:pPr>
            <a:r>
              <a:rPr sz="3600" b="1">
                <a:solidFill>
                  <a:srgbClr val="FFFFFF"/>
                </a:solidFill>
              </a:rPr>
              <a:t>Turn the estimator</a:t>
            </a:r>
          </a:p>
          <a:p xmlns:a="http://schemas.openxmlformats.org/drawingml/2006/main">
            <a:pPr algn="l">
              <a:buNone/>
              <a:defRPr sz="3600" b="1">
                <a:solidFill>
                  <a:srgbClr val="FFFFFF"/>
                </a:solidFill>
              </a:defRPr>
            </a:pPr>
            <a:r>
              <a:rPr sz="3600" b="1">
                <a:solidFill>
                  <a:srgbClr val="FFFFFF"/>
                </a:solidFill>
              </a:rPr>
              <a:t>into a decision platform.</a:t>
            </a:r>
          </a:p>
        </p:txBody>
      </p:sp>
      <p:sp>
        <p:nvSpPr>
          <p:cNvPr id="5" name="">
            <a:extLst xmlns:a="http://schemas.openxmlformats.org/drawingml/2006/main">
              <a:ext uri="{FF2B5EF4-FFF2-40B4-BE49-F238E27FC236}">
                <a16:creationId xmlns:a16="http://schemas.microsoft.com/office/drawing/2014/main" id="{6D1389EE-CE1F-4BD0-B381-9B1964471F2C}"/>
              </a:ext>
            </a:extLst>
          </p:cNvPr>
          <p:cNvSpPr>
            <a:spLocks xmlns:a="http://schemas.openxmlformats.org/drawingml/2006/main" noGrp="1"/>
          </p:cNvSpPr>
          <p:nvPr/>
        </p:nvSpPr>
        <p:spPr>
          <a:xfrm xmlns:a="http://schemas.openxmlformats.org/drawingml/2006/main">
            <a:off x="685800" y="28575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NOW</a:t>
            </a:r>
          </a:p>
        </p:txBody>
      </p:sp>
      <p:sp>
        <p:nvSpPr>
          <p:cNvPr id="6" name="">
            <a:extLst xmlns:a="http://schemas.openxmlformats.org/drawingml/2006/main">
              <a:ext uri="{FF2B5EF4-FFF2-40B4-BE49-F238E27FC236}">
                <a16:creationId xmlns:a16="http://schemas.microsoft.com/office/drawing/2014/main" id="{E2C85436-B20D-499F-BA93-76A745913F6B}"/>
              </a:ext>
            </a:extLst>
          </p:cNvPr>
          <p:cNvSpPr>
            <a:spLocks xmlns:a="http://schemas.openxmlformats.org/drawingml/2006/main" noGrp="1"/>
          </p:cNvSpPr>
          <p:nvPr/>
        </p:nvSpPr>
        <p:spPr>
          <a:xfrm xmlns:a="http://schemas.openxmlformats.org/drawingml/2006/main">
            <a:off x="1666875" y="28384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Corrected cost contract + independent ledger</a:t>
            </a:r>
          </a:p>
        </p:txBody>
      </p:sp>
      <p:sp>
        <p:nvSpPr>
          <p:cNvPr id="7" name="">
            <a:extLst xmlns:a="http://schemas.openxmlformats.org/drawingml/2006/main">
              <a:ext uri="{FF2B5EF4-FFF2-40B4-BE49-F238E27FC236}">
                <a16:creationId xmlns:a16="http://schemas.microsoft.com/office/drawing/2014/main" id="{7AE00594-A482-4BB2-873D-969FFE861134}"/>
              </a:ext>
            </a:extLst>
          </p:cNvPr>
          <p:cNvSpPr>
            <a:spLocks xmlns:a="http://schemas.openxmlformats.org/drawingml/2006/main" noGrp="1"/>
          </p:cNvSpPr>
          <p:nvPr/>
        </p:nvSpPr>
        <p:spPr>
          <a:xfrm xmlns:a="http://schemas.openxmlformats.org/drawingml/2006/main">
            <a:off x="685800" y="34004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8F43BC-3A50-451E-9EE6-AA670936DAE4}"/>
              </a:ext>
            </a:extLst>
          </p:cNvPr>
          <p:cNvSpPr>
            <a:spLocks xmlns:a="http://schemas.openxmlformats.org/drawingml/2006/main" noGrp="1"/>
          </p:cNvSpPr>
          <p:nvPr/>
        </p:nvSpPr>
        <p:spPr>
          <a:xfrm xmlns:a="http://schemas.openxmlformats.org/drawingml/2006/main">
            <a:off x="685800" y="35433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8F7BFF"/>
                </a:solidFill>
              </a:defRPr>
            </a:pPr>
            <a:r>
              <a:rPr sz="975" b="1">
                <a:solidFill>
                  <a:srgbClr val="8F7BFF"/>
                </a:solidFill>
              </a:rPr>
              <a:t>NEXT</a:t>
            </a:r>
          </a:p>
        </p:txBody>
      </p:sp>
      <p:sp>
        <p:nvSpPr>
          <p:cNvPr id="9" name="">
            <a:extLst xmlns:a="http://schemas.openxmlformats.org/drawingml/2006/main">
              <a:ext uri="{FF2B5EF4-FFF2-40B4-BE49-F238E27FC236}">
                <a16:creationId xmlns:a16="http://schemas.microsoft.com/office/drawing/2014/main" id="{2F690732-B07D-4033-A156-9ACCAB3AD1FC}"/>
              </a:ext>
            </a:extLst>
          </p:cNvPr>
          <p:cNvSpPr>
            <a:spLocks xmlns:a="http://schemas.openxmlformats.org/drawingml/2006/main" noGrp="1"/>
          </p:cNvSpPr>
          <p:nvPr/>
        </p:nvSpPr>
        <p:spPr>
          <a:xfrm xmlns:a="http://schemas.openxmlformats.org/drawingml/2006/main">
            <a:off x="1666875" y="35242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Deploy corrected workbench + rerun user test</a:t>
            </a:r>
          </a:p>
        </p:txBody>
      </p:sp>
      <p:sp>
        <p:nvSpPr>
          <p:cNvPr id="10" name="">
            <a:extLst xmlns:a="http://schemas.openxmlformats.org/drawingml/2006/main">
              <a:ext uri="{FF2B5EF4-FFF2-40B4-BE49-F238E27FC236}">
                <a16:creationId xmlns:a16="http://schemas.microsoft.com/office/drawing/2014/main" id="{A0D4318D-1F35-4D88-8253-6E0B591843E1}"/>
              </a:ext>
            </a:extLst>
          </p:cNvPr>
          <p:cNvSpPr>
            <a:spLocks xmlns:a="http://schemas.openxmlformats.org/drawingml/2006/main" noGrp="1"/>
          </p:cNvSpPr>
          <p:nvPr/>
        </p:nvSpPr>
        <p:spPr>
          <a:xfrm xmlns:a="http://schemas.openxmlformats.org/drawingml/2006/main">
            <a:off x="685800" y="40862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DCE0B84-783F-4F4D-991F-A34A23F70025}"/>
              </a:ext>
            </a:extLst>
          </p:cNvPr>
          <p:cNvSpPr>
            <a:spLocks xmlns:a="http://schemas.openxmlformats.org/drawingml/2006/main" noGrp="1"/>
          </p:cNvSpPr>
          <p:nvPr/>
        </p:nvSpPr>
        <p:spPr>
          <a:xfrm xmlns:a="http://schemas.openxmlformats.org/drawingml/2006/main">
            <a:off x="685800" y="42291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FF8159"/>
                </a:solidFill>
              </a:defRPr>
            </a:pPr>
            <a:r>
              <a:rPr sz="975" b="1">
                <a:solidFill>
                  <a:srgbClr val="FF8159"/>
                </a:solidFill>
              </a:rPr>
              <a:t>THEN</a:t>
            </a:r>
          </a:p>
        </p:txBody>
      </p:sp>
      <p:sp>
        <p:nvSpPr>
          <p:cNvPr id="12" name="">
            <a:extLst xmlns:a="http://schemas.openxmlformats.org/drawingml/2006/main">
              <a:ext uri="{FF2B5EF4-FFF2-40B4-BE49-F238E27FC236}">
                <a16:creationId xmlns:a16="http://schemas.microsoft.com/office/drawing/2014/main" id="{6C5B3A81-64FC-4228-BF01-81EF7F2934CC}"/>
              </a:ext>
            </a:extLst>
          </p:cNvPr>
          <p:cNvSpPr>
            <a:spLocks xmlns:a="http://schemas.openxmlformats.org/drawingml/2006/main" noGrp="1"/>
          </p:cNvSpPr>
          <p:nvPr/>
        </p:nvSpPr>
        <p:spPr>
          <a:xfrm xmlns:a="http://schemas.openxmlformats.org/drawingml/2006/main">
            <a:off x="1666875" y="42100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Measure task × model output and retry distributions</a:t>
            </a:r>
          </a:p>
        </p:txBody>
      </p:sp>
      <p:sp>
        <p:nvSpPr>
          <p:cNvPr id="13" name="">
            <a:extLst xmlns:a="http://schemas.openxmlformats.org/drawingml/2006/main">
              <a:ext uri="{FF2B5EF4-FFF2-40B4-BE49-F238E27FC236}">
                <a16:creationId xmlns:a16="http://schemas.microsoft.com/office/drawing/2014/main" id="{51F9489E-2112-46B6-A8DE-9F34AEBCA139}"/>
              </a:ext>
            </a:extLst>
          </p:cNvPr>
          <p:cNvSpPr>
            <a:spLocks xmlns:a="http://schemas.openxmlformats.org/drawingml/2006/main" noGrp="1"/>
          </p:cNvSpPr>
          <p:nvPr/>
        </p:nvSpPr>
        <p:spPr>
          <a:xfrm xmlns:a="http://schemas.openxmlformats.org/drawingml/2006/main">
            <a:off x="685800" y="47720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FC565A-7F52-47F4-98A2-B3E00095EB8E}"/>
              </a:ext>
            </a:extLst>
          </p:cNvPr>
          <p:cNvSpPr>
            <a:spLocks xmlns:a="http://schemas.openxmlformats.org/drawingml/2006/main" noGrp="1"/>
          </p:cNvSpPr>
          <p:nvPr/>
        </p:nvSpPr>
        <p:spPr>
          <a:xfrm xmlns:a="http://schemas.openxmlformats.org/drawingml/2006/main">
            <a:off x="685800" y="4914900"/>
            <a:ext cx="838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1">
                <a:solidFill>
                  <a:srgbClr val="D8FF55"/>
                </a:solidFill>
              </a:defRPr>
            </a:pPr>
            <a:r>
              <a:rPr sz="975" b="1">
                <a:solidFill>
                  <a:srgbClr val="D8FF55"/>
                </a:solidFill>
              </a:rPr>
              <a:t>PROVE</a:t>
            </a:r>
          </a:p>
        </p:txBody>
      </p:sp>
      <p:sp>
        <p:nvSpPr>
          <p:cNvPr id="15" name="">
            <a:extLst xmlns:a="http://schemas.openxmlformats.org/drawingml/2006/main">
              <a:ext uri="{FF2B5EF4-FFF2-40B4-BE49-F238E27FC236}">
                <a16:creationId xmlns:a16="http://schemas.microsoft.com/office/drawing/2014/main" id="{2EE692EA-1197-4BB5-AF5E-FDBB5D7D855E}"/>
              </a:ext>
            </a:extLst>
          </p:cNvPr>
          <p:cNvSpPr>
            <a:spLocks xmlns:a="http://schemas.openxmlformats.org/drawingml/2006/main" noGrp="1"/>
          </p:cNvSpPr>
          <p:nvPr/>
        </p:nvSpPr>
        <p:spPr>
          <a:xfrm xmlns:a="http://schemas.openxmlformats.org/drawingml/2006/main">
            <a:off x="1666875" y="48958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FFFFFF"/>
                </a:solidFill>
              </a:defRPr>
            </a:pPr>
            <a:r>
              <a:rPr sz="1425" b="0">
                <a:solidFill>
                  <a:srgbClr val="FFFFFF"/>
                </a:solidFill>
              </a:rPr>
              <a:t>Actual charges + shared provider evaluation</a:t>
            </a:r>
          </a:p>
        </p:txBody>
      </p:sp>
      <p:sp>
        <p:nvSpPr>
          <p:cNvPr id="16" name="">
            <a:extLst xmlns:a="http://schemas.openxmlformats.org/drawingml/2006/main">
              <a:ext uri="{FF2B5EF4-FFF2-40B4-BE49-F238E27FC236}">
                <a16:creationId xmlns:a16="http://schemas.microsoft.com/office/drawing/2014/main" id="{10B5F276-B2B3-4E9E-8405-2E0497288684}"/>
              </a:ext>
            </a:extLst>
          </p:cNvPr>
          <p:cNvSpPr>
            <a:spLocks xmlns:a="http://schemas.openxmlformats.org/drawingml/2006/main" noGrp="1"/>
          </p:cNvSpPr>
          <p:nvPr/>
        </p:nvSpPr>
        <p:spPr>
          <a:xfrm xmlns:a="http://schemas.openxmlformats.org/drawingml/2006/main">
            <a:off x="685800" y="5457825"/>
            <a:ext cx="5715000" cy="9525"/>
          </a:xfrm>
          <a:prstGeom xmlns:a="http://schemas.openxmlformats.org/drawingml/2006/main" prst="rect">
            <a:avLst/>
          </a:prstGeom>
          <a:solidFill xmlns:a="http://schemas.openxmlformats.org/drawingml/2006/main">
            <a:srgbClr val="4A5A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40BB595-FE5F-445E-9766-B4C6E7B74349}"/>
              </a:ext>
            </a:extLst>
          </p:cNvPr>
          <p:cNvSpPr>
            <a:spLocks xmlns:a="http://schemas.openxmlformats.org/drawingml/2006/main" noGrp="1"/>
          </p:cNvSpPr>
          <p:nvPr/>
        </p:nvSpPr>
        <p:spPr>
          <a:xfrm xmlns:a="http://schemas.openxmlformats.org/drawingml/2006/main">
            <a:off x="685800" y="60483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8FF55"/>
                </a:solidFill>
              </a:defRPr>
            </a:pPr>
            <a:r>
              <a:rPr sz="1350" b="1">
                <a:solidFill>
                  <a:srgbClr val="D8FF55"/>
                </a:solidFill>
              </a:rPr>
              <a:t>aibuildcrew.badlabz.com</a:t>
            </a:r>
          </a:p>
        </p:txBody>
      </p:sp>
      <p:sp>
        <p:nvSpPr>
          <p:cNvPr id="18" name="">
            <a:extLst xmlns:a="http://schemas.openxmlformats.org/drawingml/2006/main">
              <a:ext uri="{FF2B5EF4-FFF2-40B4-BE49-F238E27FC236}">
                <a16:creationId xmlns:a16="http://schemas.microsoft.com/office/drawing/2014/main" id="{5CBB6A72-5DD2-496B-8633-E9890D3CD892}"/>
              </a:ext>
            </a:extLst>
          </p:cNvPr>
          <p:cNvSpPr>
            <a:spLocks xmlns:a="http://schemas.openxmlformats.org/drawingml/2006/main" noGrp="1"/>
          </p:cNvSpPr>
          <p:nvPr/>
        </p:nvSpPr>
        <p:spPr>
          <a:xfrm xmlns:a="http://schemas.openxmlformats.org/drawingml/2006/main">
            <a:off x="685800" y="63627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a:solidFill>
                  <a:srgbClr val="C8D1C8"/>
                </a:solidFill>
              </a:defRPr>
            </a:pPr>
            <a:r>
              <a:rPr sz="975" b="0">
                <a:solidFill>
                  <a:srgbClr val="C8D1C8"/>
                </a:solidFill>
              </a:rPr>
              <a:t>github.com/CTATX/ai-build-crew</a:t>
            </a:r>
          </a:p>
        </p:txBody>
      </p:sp>
    </p:spTree>
    <p:extLst>
      <p:ext uri="{BB962C8B-B14F-4D97-AF65-F5344CB8AC3E}">
        <p14:creationId xmlns:p14="http://schemas.microsoft.com/office/powerpoint/2010/main" val="21393558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2026-08-09T12:10:52.5460000Z</dcterms:created>
  <dcterms:modified xsi:type="dcterms:W3CDTF">2026-08-09T12:10:52.5460000Z</dcterms:modified>
</coreProperties>
</file>