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66bd1928524a32" /><Relationship Type="http://schemas.openxmlformats.org/officeDocument/2006/relationships/extended-properties" Target="/docProps/app.xml" Id="R4aeb2aae0f5a4e6c" /><Relationship Type="http://schemas.openxmlformats.org/officeDocument/2006/relationships/officeDocument" Target="/ppt/presentation.xml" Id="R7e95d964047b49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185a3107cf40bc"/>
  </p:sldMasterIdLst>
  <p:notesMasterIdLst>
    <p:notesMasterId xmlns:r="http://schemas.openxmlformats.org/officeDocument/2006/relationships" r:id="Re63049ed179d4ab1"/>
  </p:notesMasterIdLst>
  <p:sldIdLst>
    <p:sldId xmlns:r="http://schemas.openxmlformats.org/officeDocument/2006/relationships" id="256" r:id="R9787133773714506"/>
    <p:sldId xmlns:r="http://schemas.openxmlformats.org/officeDocument/2006/relationships" id="257" r:id="Ra9c60f29475b475c"/>
    <p:sldId xmlns:r="http://schemas.openxmlformats.org/officeDocument/2006/relationships" id="258" r:id="Rad94850b0aac4af2"/>
    <p:sldId xmlns:r="http://schemas.openxmlformats.org/officeDocument/2006/relationships" id="259" r:id="Rd2cae6621ff944b3"/>
    <p:sldId xmlns:r="http://schemas.openxmlformats.org/officeDocument/2006/relationships" id="260" r:id="R4bae8fd54c124126"/>
    <p:sldId xmlns:r="http://schemas.openxmlformats.org/officeDocument/2006/relationships" id="261" r:id="Rc27c1ba6729b4aa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1339832630f40c6" /><Relationship Type="http://schemas.openxmlformats.org/officeDocument/2006/relationships/slideMaster" Target="/ppt/slideMasters/slideMaster1.xml" Id="Ra9185a3107cf40bc" /><Relationship Type="http://schemas.openxmlformats.org/officeDocument/2006/relationships/notesMaster" Target="/ppt/notesMasters/notesMaster1.xml" Id="Re63049ed179d4ab1" /><Relationship Type="http://schemas.openxmlformats.org/officeDocument/2006/relationships/presProps" Target="/ppt/presProps.xml" Id="R0d5db768d48746df" /><Relationship Type="http://schemas.openxmlformats.org/officeDocument/2006/relationships/tableStyles" Target="/ppt/tableStyles.xml" Id="R959222b621e64ddc" /><Relationship Type="http://schemas.openxmlformats.org/officeDocument/2006/relationships/slide" Target="/ppt/slides/slide1.xml" Id="R9787133773714506" /><Relationship Type="http://schemas.openxmlformats.org/officeDocument/2006/relationships/slide" Target="/ppt/slides/slide2.xml" Id="Ra9c60f29475b475c" /><Relationship Type="http://schemas.openxmlformats.org/officeDocument/2006/relationships/slide" Target="/ppt/slides/slide3.xml" Id="Rad94850b0aac4af2" /><Relationship Type="http://schemas.openxmlformats.org/officeDocument/2006/relationships/slide" Target="/ppt/slides/slide4.xml" Id="Rd2cae6621ff944b3" /><Relationship Type="http://schemas.openxmlformats.org/officeDocument/2006/relationships/slide" Target="/ppt/slides/slide5.xml" Id="R4bae8fd54c124126" /><Relationship Type="http://schemas.openxmlformats.org/officeDocument/2006/relationships/slide" Target="/ppt/slides/slide6.xml" Id="Rc27c1ba6729b4a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d78a52a7c841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d56320e342e44e1" /><Relationship Type="http://schemas.openxmlformats.org/officeDocument/2006/relationships/notesMaster" Target="/ppt/notesMasters/notesMaster1.xml" Id="R1494f4ff12b34b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d0c68731214fd0" /><Relationship Type="http://schemas.openxmlformats.org/officeDocument/2006/relationships/notesMaster" Target="/ppt/notesMasters/notesMaster1.xml" Id="R77f4af62325b4d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0fc41b0a0a4764" /><Relationship Type="http://schemas.openxmlformats.org/officeDocument/2006/relationships/notesMaster" Target="/ppt/notesMasters/notesMaster1.xml" Id="R22a27c91852845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887d595a704d6e" /><Relationship Type="http://schemas.openxmlformats.org/officeDocument/2006/relationships/notesMaster" Target="/ppt/notesMasters/notesMaster1.xml" Id="R2829f846c33f46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ed5e15721147f7" /><Relationship Type="http://schemas.openxmlformats.org/officeDocument/2006/relationships/notesMaster" Target="/ppt/notesMasters/notesMaster1.xml" Id="R08a25617d60b4a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2304c2b0874736" /><Relationship Type="http://schemas.openxmlformats.org/officeDocument/2006/relationships/notesMaster" Target="/ppt/notesMasters/notesMaster1.xml" Id="R49d5b34394dd48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on the tension: model choice looks simple until a builder must defend quality, risk, and operating cost. Introduce CT as first user and final decision owner.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Build Crew Original PRD, version 1.0, August 8, 2026</a:t>
            </a:r>
          </a:p>
          <a:p xmlns:a="http://schemas.openxmlformats.org/drawingml/2006/main">
            <a:r>
              <a:t>- AI Build Crew Evaluation, August 8, 2026</a:t>
            </a:r>
          </a:p>
          <a:p xmlns:a="http://schemas.openxmlformats.org/drawingml/2006/main">
            <a:r>
              <a:t>- AI Build Crew Governance and Evaluation Specification, version 1.0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two bad defaults: choose the strongest model and overspend, or choose the cheapest model and accept unmeasured risk. The product must help users who do not yet know enough.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Build Crew Original PRD, version 1.0, August 8, 2026</a:t>
            </a:r>
          </a:p>
          <a:p xmlns:a="http://schemas.openxmlformats.org/drawingml/2006/main">
            <a:r>
              <a:t>- AI Build Crew Evaluation, August 8, 2026</a:t>
            </a:r>
          </a:p>
          <a:p xmlns:a="http://schemas.openxmlformats.org/drawingml/2006/main">
            <a:r>
              <a:t>- AI Build Crew Governance and Evaluation Specification, version 1.0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prompt-first experience. Emphasize the completeness check after every answer and the always-available Estimate now escape hatch. The provenance ledger makes uncertainty inspectable.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Build Crew Original PRD, version 1.0, August 8, 2026</a:t>
            </a:r>
          </a:p>
          <a:p xmlns:a="http://schemas.openxmlformats.org/drawingml/2006/main">
            <a:r>
              <a:t>- AI Build Crew Evaluation, August 8, 2026</a:t>
            </a:r>
          </a:p>
          <a:p xmlns:a="http://schemas.openxmlformats.org/drawingml/2006/main">
            <a:r>
              <a:t>- AI Build Crew Governance and Evaluation Specification, version 1.0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hard borders. Intake cannot recommend. Estimation cannot approve. Evaluation cannot edit. Audit cannot waive. Governance cannot choose. High-risk, regulated, sensitive, or unknown-data cases require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Build Crew Original PRD, version 1.0, August 8, 2026</a:t>
            </a:r>
          </a:p>
          <a:p xmlns:a="http://schemas.openxmlformats.org/drawingml/2006/main">
            <a:r>
              <a:t>- AI Build Crew Evaluation, August 8, 2026</a:t>
            </a:r>
          </a:p>
          <a:p xmlns:a="http://schemas.openxmlformats.org/drawingml/2006/main">
            <a:r>
              <a:t>- AI Build Crew Governance and Evaluation Specification, version 1.0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Call out representative cases: deterministic replay, scenario ordering, high-risk review, unknown-data fail closed, unsupported modality, stale pricing, assumptions, unsafe loops, candidate ordering, and render smoke coverage.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Build Crew Original PRD, version 1.0, August 8, 2026</a:t>
            </a:r>
          </a:p>
          <a:p xmlns:a="http://schemas.openxmlformats.org/drawingml/2006/main">
            <a:r>
              <a:t>- AI Build Crew Evaluation, August 8, 2026</a:t>
            </a:r>
          </a:p>
          <a:p xmlns:a="http://schemas.openxmlformats.org/drawingml/2006/main">
            <a:r>
              <a:t>- AI Build Crew Governance and Evaluation Specification, version 1.0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product value: a decision a builder can explain, reproduce, and govern. The next move is CT-first learning, then provider-neutral comparison using measured task evidence—not another set of vendor claims.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Build Crew Original PRD, version 1.0, August 8, 2026</a:t>
            </a:r>
          </a:p>
          <a:p xmlns:a="http://schemas.openxmlformats.org/drawingml/2006/main">
            <a:r>
              <a:t>- AI Build Crew Evaluation, August 8, 2026</a:t>
            </a:r>
          </a:p>
          <a:p xmlns:a="http://schemas.openxmlformats.org/drawingml/2006/main">
            <a:r>
              <a:t>- AI Build Crew Governance and Evaluation Specification, version 1.0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b5dff29d75494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ab84f28f954815" /><Relationship Type="http://schemas.openxmlformats.org/officeDocument/2006/relationships/slideLayout" Target="/ppt/slideLayouts/slideLayout1.xml" Id="R558709fcb54b4f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8709fcb54b4f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497a7b1aa48b4" /><Relationship Type="http://schemas.openxmlformats.org/officeDocument/2006/relationships/notesSlide" Target="/ppt/notesSlides/notesSlide1.xml" Id="Re97ccbb46d954e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d32024cf5b4f8f" /><Relationship Type="http://schemas.openxmlformats.org/officeDocument/2006/relationships/notesSlide" Target="/ppt/notesSlides/notesSlide2.xml" Id="Rbc1dcecfd45a49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1a924c2fea46cd" /><Relationship Type="http://schemas.openxmlformats.org/officeDocument/2006/relationships/notesSlide" Target="/ppt/notesSlides/notesSlide3.xml" Id="Rc11181dfc64e49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e16d363a704e87" /><Relationship Type="http://schemas.openxmlformats.org/officeDocument/2006/relationships/notesSlide" Target="/ppt/notesSlides/notesSlide4.xml" Id="R3f06ed42e90d40a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ca6a5ebeb45ea" /><Relationship Type="http://schemas.openxmlformats.org/officeDocument/2006/relationships/notesSlide" Target="/ppt/notesSlides/notesSlide5.xml" Id="R017f321a97f747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0257229ce14f3b" /><Relationship Type="http://schemas.openxmlformats.org/officeDocument/2006/relationships/notesSlide" Target="/ppt/notesSlides/notesSlide6.xml" Id="Re58a7fba618f436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8398CEE5-3C9F-4D1D-9462-BC7DA2F7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AI Build Crew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5B3338A1-2A49-4B7D-ADD0-AC27FD62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Pick the right model. Know the cost. Keep the decision human.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76549BB3-FB64-4A37-92B1-48173576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PRODUCT FACULTY · GOVERNED ALPHA</a:t>
            </a:r>
          </a:p>
        </p:txBody>
      </p:sp>
    </p:spTree>
    <p:extLst>
      <p:ext uri="{BB962C8B-B14F-4D97-AF65-F5344CB8AC3E}">
        <p14:creationId xmlns:p14="http://schemas.microsoft.com/office/powerpoint/2010/main" val="129763762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8042767A-A159-4A55-91AB-56897DAC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12E27B63-8284-4CF8-9D0D-8CA7E6DB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Model choice breaks before the first calculation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56496EEE-D7F7-4FC8-B612-C20BAA6C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evidence is fragmented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Prices, capabilities, quality claims, and context limits live in different places. Broad benchmarks may not match the real workload.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75B81F96-C22E-4C50-A4F0-47752A40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user starts with unknowns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Early builders may not know token volume, calls, data class, or consequence of error. Hidden assumptions create false precision.</a:t>
            </a:r>
          </a:p>
        </p:txBody>
      </p:sp>
    </p:spTree>
    <p:extLst>
      <p:ext uri="{BB962C8B-B14F-4D97-AF65-F5344CB8AC3E}">
        <p14:creationId xmlns:p14="http://schemas.microsoft.com/office/powerpoint/2010/main" val="103734026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C1F57483-1D21-4DA1-A2D6-134D48882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9F3D89FC-7B7A-4FAF-AA3D-A88049AF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workflow guides only as far as CT needs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847B81FD-E9E4-41E7-9F2A-75D5EB30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Start with intent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“What are you considering building?”
Fast path · Guided path · Safe example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81E1CA3C-7D0C-4F6B-BDBF-4019A50F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Stop when sufficient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One Product Factory question at a time. “I don’t know” and “Estimate now” are valid.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A7AF3909-426A-47D3-880A-8E3CAD3E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Freeze the evidence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Known, Assumed, and Unknown fields remain visible before any recommendation runs.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217D19C8-7755-40B5-B3DC-82C5D323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Compare the decision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Low, expected, and high cost; eligible choices; exclusions; and alternative tradeoffs.</a:t>
            </a:r>
          </a:p>
        </p:txBody>
      </p:sp>
    </p:spTree>
    <p:extLst>
      <p:ext uri="{BB962C8B-B14F-4D97-AF65-F5344CB8AC3E}">
        <p14:creationId xmlns:p14="http://schemas.microsoft.com/office/powerpoint/2010/main" val="43620654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4B4399CD-1256-4B66-916B-84D4DF13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D597EB95-687B-4FC2-A4B6-CE552F60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 model grades its own homework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3BA24476-8E3C-4BE2-853E-7FA56DFF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FC982D8F-88F9-4E4A-BD2F-ED8B7F67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0AFBC0E8-6819-4E88-B2C1-0F630304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539B7EB2-C5C6-40B6-B7BA-9E48176D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01 · CALCULATE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7F5691B0-1BE4-4D5A-BF25-3A12F3E5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 · VERIFY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C2C19711-CD97-4020-95CF-898C48C0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 · DECIDE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742FD172-0C30-45B9-87D1-595EBD1D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Evaluation + audit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Independent checks test a frozen result and verify evidence without mutation.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D3A86040-5B28-4654-86F0-6621C499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Estimate + eligibility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Pure, versioned math filters hard constraints and ranks by expected cost.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C6F48E0B-EF95-497A-9CC5-99738597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Governance + CT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Rules return ready, review, or blocked. CT owns the final judgment.</a:t>
            </a:r>
          </a:p>
        </p:txBody>
      </p:sp>
    </p:spTree>
    <p:extLst>
      <p:ext uri="{BB962C8B-B14F-4D97-AF65-F5344CB8AC3E}">
        <p14:creationId xmlns:p14="http://schemas.microsoft.com/office/powerpoint/2010/main" val="63531750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B6B3E6D1-8712-47F2-B3AF-AA1743EF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37653E74-5C10-4F63-8CBF-AC519137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CB965529-AE49-480E-9CEE-27814B94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EB8B984B-72A6-401D-9049-09A621A8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44C2E5FE-B6AA-4271-BE3B-CD8F5BF2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governed alpha has evidence—not just a demo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E6B87230-8440-4CB7-81B3-0B85D54E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automated tests pass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FA078E2F-4C12-4E61-926F-9F3B0CB33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target first estimate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141F32FC-CB48-47ED-AF46-DACADAA6E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generative calls in the decision path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D81330D6-505B-4C28-8161-F5F3595D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 / 10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0C6DB908-E8DA-4C93-B33E-ABD934CA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B02580DB-1F1B-43F6-8835-5CDC6025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 min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8EB27344-9EB8-4B9B-8346-F05EA3CE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Current result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same normalized input and versions reproduce the same decision. Failure conditions are explicit, visible, and tested.</a:t>
            </a:r>
          </a:p>
        </p:txBody>
      </p:sp>
    </p:spTree>
    <p:extLst>
      <p:ext uri="{BB962C8B-B14F-4D97-AF65-F5344CB8AC3E}">
        <p14:creationId xmlns:p14="http://schemas.microsoft.com/office/powerpoint/2010/main" val="123880061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F7D86888-40D5-46BB-B3BF-CDC3AA8A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Expand evidence, not guesswork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91AA51D9-967C-4136-A378-176B3C2C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Pilot with CT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Connect shared live evals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Measure quality, latency + full cost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25F53C8E-ECA4-45A7-97AF-21974A57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4183956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2026-08-08T13:06:51.2960000Z</dcterms:created>
  <dcterms:modified xsi:type="dcterms:W3CDTF">2026-08-08T13:06:51.2960000Z</dcterms:modified>
</coreProperties>
</file>