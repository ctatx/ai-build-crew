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fd3ea576a34f6f" /><Relationship Type="http://schemas.openxmlformats.org/officeDocument/2006/relationships/extended-properties" Target="/docProps/app.xml" Id="Rbb13b34373924fb6" /><Relationship Type="http://schemas.openxmlformats.org/officeDocument/2006/relationships/officeDocument" Target="/ppt/presentation.xml" Id="R6d6a350002014966" /></Relationships>
</file>

<file path=ppt/presentation.xml><?xml version="1.0" encoding="utf-8"?>
<p:presentation xmlns:p="http://schemas.openxmlformats.org/presentationml/2006/main">
  <p:sldMasterIdLst>
    <p:sldMasterId xmlns:r="http://schemas.openxmlformats.org/officeDocument/2006/relationships" id="2147483648" r:id="Rc36feba1d19f41a4"/>
  </p:sldMasterIdLst>
  <p:notesMasterIdLst>
    <p:notesMasterId xmlns:r="http://schemas.openxmlformats.org/officeDocument/2006/relationships" r:id="Red588a38caaf4d68"/>
  </p:notesMasterIdLst>
  <p:sldIdLst>
    <p:sldId xmlns:r="http://schemas.openxmlformats.org/officeDocument/2006/relationships" id="256" r:id="Rf87ffb11c6924617"/>
    <p:sldId xmlns:r="http://schemas.openxmlformats.org/officeDocument/2006/relationships" id="257" r:id="R98a7d84e20bc4fed"/>
    <p:sldId xmlns:r="http://schemas.openxmlformats.org/officeDocument/2006/relationships" id="258" r:id="R6a8d490d90b84033"/>
    <p:sldId xmlns:r="http://schemas.openxmlformats.org/officeDocument/2006/relationships" id="259" r:id="Rf52bfa52b6aa4bb9"/>
    <p:sldId xmlns:r="http://schemas.openxmlformats.org/officeDocument/2006/relationships" id="260" r:id="Ra1e121d728b745fe"/>
    <p:sldId xmlns:r="http://schemas.openxmlformats.org/officeDocument/2006/relationships" id="261" r:id="Ra86d2c9b109644d0"/>
    <p:sldId xmlns:r="http://schemas.openxmlformats.org/officeDocument/2006/relationships" id="262" r:id="R6462af2f104342e4"/>
    <p:sldId xmlns:r="http://schemas.openxmlformats.org/officeDocument/2006/relationships" id="263" r:id="Ra15fd6af7f0649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d577ac78914004" /><Relationship Type="http://schemas.openxmlformats.org/officeDocument/2006/relationships/slideMaster" Target="/ppt/slideMasters/slideMaster1.xml" Id="Rc36feba1d19f41a4" /><Relationship Type="http://schemas.openxmlformats.org/officeDocument/2006/relationships/notesMaster" Target="/ppt/notesMasters/notesMaster1.xml" Id="Red588a38caaf4d68" /><Relationship Type="http://schemas.openxmlformats.org/officeDocument/2006/relationships/presProps" Target="/ppt/presProps.xml" Id="R4e98f16fb0304d7f" /><Relationship Type="http://schemas.openxmlformats.org/officeDocument/2006/relationships/tableStyles" Target="/ppt/tableStyles.xml" Id="Rf681b625209044de" /><Relationship Type="http://schemas.openxmlformats.org/officeDocument/2006/relationships/slide" Target="/ppt/slides/slide1.xml" Id="Rf87ffb11c6924617" /><Relationship Type="http://schemas.openxmlformats.org/officeDocument/2006/relationships/slide" Target="/ppt/slides/slide2.xml" Id="R98a7d84e20bc4fed" /><Relationship Type="http://schemas.openxmlformats.org/officeDocument/2006/relationships/slide" Target="/ppt/slides/slide3.xml" Id="R6a8d490d90b84033" /><Relationship Type="http://schemas.openxmlformats.org/officeDocument/2006/relationships/slide" Target="/ppt/slides/slide4.xml" Id="Rf52bfa52b6aa4bb9" /><Relationship Type="http://schemas.openxmlformats.org/officeDocument/2006/relationships/slide" Target="/ppt/slides/slide5.xml" Id="Ra1e121d728b745fe" /><Relationship Type="http://schemas.openxmlformats.org/officeDocument/2006/relationships/slide" Target="/ppt/slides/slide6.xml" Id="Ra86d2c9b109644d0" /><Relationship Type="http://schemas.openxmlformats.org/officeDocument/2006/relationships/slide" Target="/ppt/slides/slide7.xml" Id="R6462af2f104342e4" /><Relationship Type="http://schemas.openxmlformats.org/officeDocument/2006/relationships/slide" Target="/ppt/slides/slide8.xml" Id="Ra15fd6af7f0649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582420e2c341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582222bf694d80" /><Relationship Type="http://schemas.openxmlformats.org/officeDocument/2006/relationships/notesMaster" Target="/ppt/notesMasters/notesMaster1.xml" Id="Rb14ed227103448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531adb5e134855" /><Relationship Type="http://schemas.openxmlformats.org/officeDocument/2006/relationships/notesMaster" Target="/ppt/notesMasters/notesMaster1.xml" Id="R5a10fe0ee5d44f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87d5edab95446f" /><Relationship Type="http://schemas.openxmlformats.org/officeDocument/2006/relationships/notesMaster" Target="/ppt/notesMasters/notesMaster1.xml" Id="R2d2ed13cb66c49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bb56aa20ac4f3b" /><Relationship Type="http://schemas.openxmlformats.org/officeDocument/2006/relationships/notesMaster" Target="/ppt/notesMasters/notesMaster1.xml" Id="Rac3c8bb2a99444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7d19ec86e64bf1" /><Relationship Type="http://schemas.openxmlformats.org/officeDocument/2006/relationships/notesMaster" Target="/ppt/notesMasters/notesMaster1.xml" Id="R2d93cc830fbf41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be7280fd4f4fd3" /><Relationship Type="http://schemas.openxmlformats.org/officeDocument/2006/relationships/notesMaster" Target="/ppt/notesMasters/notesMaster1.xml" Id="Ra4d79a19b75842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76028e18a44ca8" /><Relationship Type="http://schemas.openxmlformats.org/officeDocument/2006/relationships/notesMaster" Target="/ppt/notesMasters/notesMaster1.xml" Id="R8e69632063de48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2f7b57a0b94de0" /><Relationship Type="http://schemas.openxmlformats.org/officeDocument/2006/relationships/notesMaster" Target="/ppt/notesMasters/notesMaster1.xml" Id="R0e92ca380ea44f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customer outcome. AI Build Crew helps a builder get to a defensible starting point before engineering effort or API spend is committed.</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two bad defaults: buy the strongest model without workload evidence, or buy the cheapest and discover the constraint later. The product first organizes uncertainty.</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productized persona: a first-time builder who understands the product need but may not understand AI economics. The system teaches only what is necessary for this decision.</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beginner flow. Free text is context, not an invisible source of facts. Every assumption is visible and editable before the result appears.</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concrete example to show why the output is a range and why provider-specific missing fees remain labeled. The choice is reproducible for the recorded catalog and rules versions.</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a:p xmlns:a="http://schemas.openxmlformats.org/drawingml/2006/main">
            <a:r>
              <a:t>- AI Build Crew model catalog v1, source date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the hard borders from TeamOS. Intake cannot recommend. Estimation cannot approve. Evaluation cannot edit. Audit cannot waive. Governance cannot select. The final accountable person cannot turn a block into a pass inside the Alpha.</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a:p xmlns:a="http://schemas.openxmlformats.org/drawingml/2006/main">
            <a:r>
              <a:t>- AI Build Crew TeamOS v1.0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about the evidence. Automated control checks are not user validation and the provider catalog is not a cross-provider quality evaluation. The missing evidence is the roadmap, not a footnote.</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a:p xmlns:a="http://schemas.openxmlformats.org/drawingml/2006/main">
            <a:r>
              <a:t>- AI Build Crew automated test suite, productized Alpha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controlled expansion path. First make the novice experience usable. Then make catalog refresh live but reviewed. Add durable forecast and decision history before billing actuals. Only measured providers enter ranking.</a:t>
            </a:r>
          </a:p>
          <a:p xmlns:a="http://schemas.openxmlformats.org/drawingml/2006/main">
            <a:r>
              <a:t/>
            </a:r>
          </a:p>
          <a:p xmlns:a="http://schemas.openxmlformats.org/drawingml/2006/main">
            <a:r>
              <a:t>[Sources]</a:t>
            </a:r>
          </a:p>
          <a:p xmlns:a="http://schemas.openxmlformats.org/drawingml/2006/main">
            <a:r>
              <a:t>- AI Build Crew Original PRD, productized Alpha branch, August 8, 2026</a:t>
            </a:r>
          </a:p>
          <a:p xmlns:a="http://schemas.openxmlformats.org/drawingml/2006/main">
            <a:r>
              <a:t>- AI Build Crew Productization Audit, August 8, 2026</a:t>
            </a:r>
          </a:p>
          <a:p xmlns:a="http://schemas.openxmlformats.org/drawingml/2006/main">
            <a:r>
              <a:t>- AI Build Crew Governance and Evaluation, version 1.1</a:t>
            </a:r>
          </a:p>
          <a:p xmlns:a="http://schemas.openxmlformats.org/drawingml/2006/main">
            <a:r>
              <a:t>- AI Build Crew Future State and Backlog, August 8, 2026</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8dc0e54d2f49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028e19a9724e85" /><Relationship Type="http://schemas.openxmlformats.org/officeDocument/2006/relationships/slideLayout" Target="/ppt/slideLayouts/slideLayout1.xml" Id="R0cf550b7961848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f550b7961848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7ad7309fa8493e" /><Relationship Type="http://schemas.openxmlformats.org/officeDocument/2006/relationships/image" Target="/ppt/media/image.png" Id="Rbe9dad6b8da14ea1" /><Relationship Type="http://schemas.openxmlformats.org/officeDocument/2006/relationships/notesSlide" Target="/ppt/notesSlides/notesSlide1.xml" Id="R298f94820d7b4e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8bb1f025014e75" /><Relationship Type="http://schemas.openxmlformats.org/officeDocument/2006/relationships/notesSlide" Target="/ppt/notesSlides/notesSlide2.xml" Id="R4c28fc11ec394a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a839c3c9f4047ed" /><Relationship Type="http://schemas.openxmlformats.org/officeDocument/2006/relationships/notesSlide" Target="/ppt/notesSlides/notesSlide3.xml" Id="Rde9222752ccc41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6ae6bdac1e64cbf" /><Relationship Type="http://schemas.openxmlformats.org/officeDocument/2006/relationships/notesSlide" Target="/ppt/notesSlides/notesSlide4.xml" Id="R12c857a375b742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5b0da9ee604afa" /><Relationship Type="http://schemas.openxmlformats.org/officeDocument/2006/relationships/chart" Target="/ppt/slides/charts/chart1.xml" Id="Racaa2d448fd04dd7" /><Relationship Type="http://schemas.openxmlformats.org/officeDocument/2006/relationships/notesSlide" Target="/ppt/notesSlides/notesSlide5.xml" Id="Rfc5b7a3502bf47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464355a5a6428d" /><Relationship Type="http://schemas.openxmlformats.org/officeDocument/2006/relationships/notesSlide" Target="/ppt/notesSlides/notesSlide6.xml" Id="R0b66b311eecb4f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209c6904c54540" /><Relationship Type="http://schemas.openxmlformats.org/officeDocument/2006/relationships/notesSlide" Target="/ppt/notesSlides/notesSlide7.xml" Id="Ra4670c87e24b43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688aec5d48148d9" /><Relationship Type="http://schemas.openxmlformats.org/officeDocument/2006/relationships/image" Target="/ppt/media/image2.png" Id="R7669e7eca6c04fd9" /><Relationship Type="http://schemas.openxmlformats.org/officeDocument/2006/relationships/notesSlide" Target="/ppt/notesSlides/notesSlide8.xml" Id="R2d7866b3e6f646bf" /></Relationships>
</file>

<file path=ppt/slides/charts/chart1.xml><?xml version="1.0" encoding="utf-8"?>
<c:chartSpace xmlns:c="http://schemas.openxmlformats.org/drawingml/2006/chart">
  <c:lang val="en-US"/>
  <c:chart>
    <c:plotArea>
      <c:barChart>
        <c:barDir val="col"/>
        <c:varyColors val="0"/>
        <c:ser>
          <c:idx val="0"/>
          <c:order val="0"/>
          <c:tx>
            <c:v>Monthly token cost</c:v>
          </c:tx>
          <c:spPr>
            <a:solidFill xmlns:a="http://schemas.openxmlformats.org/drawingml/2006/main">
              <a:srgbClr val="8F7BFF"/>
            </a:solidFill>
          </c:spPr>
          <c:cat>
            <c:strLit>
              <c:ptCount val="3"/>
              <c:pt idx="0">
                <c:v>Low</c:v>
              </c:pt>
              <c:pt idx="1">
                <c:v>Expected</c:v>
              </c:pt>
              <c:pt idx="2">
                <c:v>High</c:v>
              </c:pt>
            </c:strLit>
          </c:cat>
          <c:val>
            <c:numLit>
              <c:formatCode>General</c:formatCode>
              <c:ptCount val="3"/>
              <c:pt idx="0">
                <c:v>264.06</c:v>
              </c:pt>
              <c:pt idx="1">
                <c:v>352.08</c:v>
              </c:pt>
              <c:pt idx="2">
                <c:v>475.31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CDD0C8"/>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e9dad6b8da14ea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2CC496-2ACE-4D54-9FC4-610FA3979382}"/>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F3EFE5">
              <a:alpha val="9098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F963646-EFA4-4DE8-AB98-10A6092F9390}"/>
              </a:ext>
            </a:extLst>
          </p:cNvPr>
          <p:cNvSpPr>
            <a:spLocks xmlns:a="http://schemas.openxmlformats.org/drawingml/2006/main" noGrp="1"/>
          </p:cNvSpPr>
          <p:nvPr/>
        </p:nvSpPr>
        <p:spPr>
          <a:xfrm xmlns:a="http://schemas.openxmlformats.org/drawingml/2006/main">
            <a:off x="685800" y="5905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PRODUCT REVIEW · GOVERNED ALPHA</a:t>
            </a:r>
          </a:p>
        </p:txBody>
      </p:sp>
      <p:sp>
        <p:nvSpPr>
          <p:cNvPr id="4" name="">
            <a:extLst xmlns:a="http://schemas.openxmlformats.org/drawingml/2006/main">
              <a:ext uri="{FF2B5EF4-FFF2-40B4-BE49-F238E27FC236}">
                <a16:creationId xmlns:a16="http://schemas.microsoft.com/office/drawing/2014/main" id="{02EA604F-D592-4E75-964A-C3A66AD881CA}"/>
              </a:ext>
            </a:extLst>
          </p:cNvPr>
          <p:cNvSpPr>
            <a:spLocks xmlns:a="http://schemas.openxmlformats.org/drawingml/2006/main" noGrp="1"/>
          </p:cNvSpPr>
          <p:nvPr/>
        </p:nvSpPr>
        <p:spPr>
          <a:xfrm xmlns:a="http://schemas.openxmlformats.org/drawingml/2006/main">
            <a:off x="685800" y="1381125"/>
            <a:ext cx="44767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400" b="1">
                <a:solidFill>
                  <a:srgbClr val="152015"/>
                </a:solidFill>
              </a:defRPr>
            </a:pPr>
            <a:r>
              <a:rPr sz="5400" b="1">
                <a:solidFill>
                  <a:srgbClr val="152015"/>
                </a:solidFill>
              </a:rPr>
              <a:t>AI Build</a:t>
            </a:r>
          </a:p>
          <a:p xmlns:a="http://schemas.openxmlformats.org/drawingml/2006/main">
            <a:pPr algn="l">
              <a:defRPr sz="5400" b="1">
                <a:solidFill>
                  <a:srgbClr val="152015"/>
                </a:solidFill>
              </a:defRPr>
            </a:pPr>
            <a:r>
              <a:rPr sz="5400" b="1">
                <a:solidFill>
                  <a:srgbClr val="152015"/>
                </a:solidFill>
              </a:rPr>
              <a:t>Crew</a:t>
            </a:r>
          </a:p>
        </p:txBody>
      </p:sp>
      <p:sp>
        <p:nvSpPr>
          <p:cNvPr id="5" name="">
            <a:extLst xmlns:a="http://schemas.openxmlformats.org/drawingml/2006/main">
              <a:ext uri="{FF2B5EF4-FFF2-40B4-BE49-F238E27FC236}">
                <a16:creationId xmlns:a16="http://schemas.microsoft.com/office/drawing/2014/main" id="{9624EAE0-1D67-420C-8578-987F1E99F251}"/>
              </a:ext>
            </a:extLst>
          </p:cNvPr>
          <p:cNvSpPr>
            <a:spLocks xmlns:a="http://schemas.openxmlformats.org/drawingml/2006/main" noGrp="1"/>
          </p:cNvSpPr>
          <p:nvPr/>
        </p:nvSpPr>
        <p:spPr>
          <a:xfrm xmlns:a="http://schemas.openxmlformats.org/drawingml/2006/main">
            <a:off x="685800" y="3305175"/>
            <a:ext cx="895350" cy="66675"/>
          </a:xfrm>
          <a:prstGeom xmlns:a="http://schemas.openxmlformats.org/drawingml/2006/main" prst="rect">
            <a:avLst/>
          </a:prstGeom>
          <a:solidFill xmlns:a="http://schemas.openxmlformats.org/drawingml/2006/main">
            <a:srgbClr val="D8FF5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0186DE-8C53-4B02-AEFC-8C7F7ACDF595}"/>
              </a:ext>
            </a:extLst>
          </p:cNvPr>
          <p:cNvSpPr>
            <a:spLocks xmlns:a="http://schemas.openxmlformats.org/drawingml/2006/main" noGrp="1"/>
          </p:cNvSpPr>
          <p:nvPr/>
        </p:nvSpPr>
        <p:spPr>
          <a:xfrm xmlns:a="http://schemas.openxmlformats.org/drawingml/2006/main">
            <a:off x="685800" y="361950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0">
                <a:solidFill>
                  <a:srgbClr val="152015"/>
                </a:solidFill>
              </a:defRPr>
            </a:pPr>
            <a:r>
              <a:rPr sz="2100" b="0">
                <a:solidFill>
                  <a:srgbClr val="152015"/>
                </a:solidFill>
              </a:rPr>
              <a:t>Describe an idea.</a:t>
            </a:r>
          </a:p>
          <a:p xmlns:a="http://schemas.openxmlformats.org/drawingml/2006/main">
            <a:pPr algn="l">
              <a:defRPr sz="2100" b="0">
                <a:solidFill>
                  <a:srgbClr val="152015"/>
                </a:solidFill>
              </a:defRPr>
            </a:pPr>
            <a:r>
              <a:rPr sz="2100" b="0">
                <a:solidFill>
                  <a:srgbClr val="152015"/>
                </a:solidFill>
              </a:rPr>
              <a:t>Get a monthly cost range</a:t>
            </a:r>
          </a:p>
          <a:p xmlns:a="http://schemas.openxmlformats.org/drawingml/2006/main">
            <a:pPr algn="l">
              <a:defRPr sz="2100" b="0">
                <a:solidFill>
                  <a:srgbClr val="152015"/>
                </a:solidFill>
              </a:defRPr>
            </a:pPr>
            <a:r>
              <a:rPr sz="2100" b="0">
                <a:solidFill>
                  <a:srgbClr val="152015"/>
                </a:solidFill>
              </a:rPr>
              <a:t>and a model starting point.</a:t>
            </a:r>
          </a:p>
        </p:txBody>
      </p:sp>
      <p:sp>
        <p:nvSpPr>
          <p:cNvPr id="7" name="">
            <a:extLst xmlns:a="http://schemas.openxmlformats.org/drawingml/2006/main">
              <a:ext uri="{FF2B5EF4-FFF2-40B4-BE49-F238E27FC236}">
                <a16:creationId xmlns:a16="http://schemas.microsoft.com/office/drawing/2014/main" id="{27A2C4C4-8054-486E-A4DA-B459736F2917}"/>
              </a:ext>
            </a:extLst>
          </p:cNvPr>
          <p:cNvSpPr>
            <a:spLocks xmlns:a="http://schemas.openxmlformats.org/drawingml/2006/main" noGrp="1"/>
          </p:cNvSpPr>
          <p:nvPr/>
        </p:nvSpPr>
        <p:spPr>
          <a:xfrm xmlns:a="http://schemas.openxmlformats.org/drawingml/2006/main">
            <a:off x="685800" y="595312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687068"/>
                </a:solidFill>
              </a:defRPr>
            </a:pPr>
            <a:r>
              <a:rPr sz="1050" b="1">
                <a:solidFill>
                  <a:srgbClr val="687068"/>
                </a:solidFill>
              </a:rPr>
              <a:t>Human-owned decisions · Reproducible math · Provider-neutral path</a:t>
            </a:r>
          </a:p>
        </p:txBody>
      </p:sp>
    </p:spTree>
    <p:extLst>
      <p:ext uri="{BB962C8B-B14F-4D97-AF65-F5344CB8AC3E}">
        <p14:creationId xmlns:p14="http://schemas.microsoft.com/office/powerpoint/2010/main" val="826955634"/>
      </p:ext>
    </p:extLst>
  </p:cSld>
</p:sld>
</file>

<file path=ppt/slides/slide2.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734CB4F-60D9-4D2A-AD31-BD426BA2229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01</a:t>
            </a:r>
          </a:p>
        </p:txBody>
      </p:sp>
      <p:sp>
        <p:nvSpPr>
          <p:cNvPr id="2" name="">
            <a:extLst xmlns:a="http://schemas.openxmlformats.org/drawingml/2006/main">
              <a:ext uri="{FF2B5EF4-FFF2-40B4-BE49-F238E27FC236}">
                <a16:creationId xmlns:a16="http://schemas.microsoft.com/office/drawing/2014/main" id="{C08E2C08-1A14-4432-8B89-E86BBFECDD0B}"/>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FFFF"/>
                </a:solidFill>
              </a:defRPr>
            </a:pPr>
            <a:r>
              <a:rPr sz="975" b="1">
                <a:solidFill>
                  <a:srgbClr val="FFFFFF"/>
                </a:solidFill>
              </a:rPr>
              <a:t>THE PROBLEM</a:t>
            </a:r>
          </a:p>
        </p:txBody>
      </p:sp>
      <p:sp>
        <p:nvSpPr>
          <p:cNvPr id="3" name="">
            <a:extLst xmlns:a="http://schemas.openxmlformats.org/drawingml/2006/main">
              <a:ext uri="{FF2B5EF4-FFF2-40B4-BE49-F238E27FC236}">
                <a16:creationId xmlns:a16="http://schemas.microsoft.com/office/drawing/2014/main" id="{CB0598B4-E74D-4ABE-B35F-EF073184D6CF}"/>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ACCA7E-1B52-4F4E-89C6-94D13228C085}"/>
              </a:ext>
            </a:extLst>
          </p:cNvPr>
          <p:cNvSpPr>
            <a:spLocks xmlns:a="http://schemas.openxmlformats.org/drawingml/2006/main" noGrp="1"/>
          </p:cNvSpPr>
          <p:nvPr/>
        </p:nvSpPr>
        <p:spPr>
          <a:xfrm xmlns:a="http://schemas.openxmlformats.org/drawingml/2006/main">
            <a:off x="685800" y="1143000"/>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450" b="1">
                <a:solidFill>
                  <a:srgbClr val="FFFFFF"/>
                </a:solidFill>
              </a:defRPr>
            </a:pPr>
            <a:r>
              <a:rPr sz="3450" b="1">
                <a:solidFill>
                  <a:srgbClr val="FFFFFF"/>
                </a:solidFill>
              </a:rPr>
              <a:t>Model choice breaks</a:t>
            </a:r>
          </a:p>
          <a:p xmlns:a="http://schemas.openxmlformats.org/drawingml/2006/main">
            <a:pPr algn="l">
              <a:defRPr sz="3450" b="1">
                <a:solidFill>
                  <a:srgbClr val="FFFFFF"/>
                </a:solidFill>
              </a:defRPr>
            </a:pPr>
            <a:r>
              <a:rPr sz="3450" b="1">
                <a:solidFill>
                  <a:srgbClr val="FFFFFF"/>
                </a:solidFill>
              </a:rPr>
              <a:t>before the first calculation.</a:t>
            </a:r>
          </a:p>
        </p:txBody>
      </p:sp>
      <p:sp>
        <p:nvSpPr>
          <p:cNvPr id="5" name="">
            <a:extLst xmlns:a="http://schemas.openxmlformats.org/drawingml/2006/main">
              <a:ext uri="{FF2B5EF4-FFF2-40B4-BE49-F238E27FC236}">
                <a16:creationId xmlns:a16="http://schemas.microsoft.com/office/drawing/2014/main" id="{1824CE29-0195-4195-9685-A0AC9E066317}"/>
              </a:ext>
            </a:extLst>
          </p:cNvPr>
          <p:cNvSpPr>
            <a:spLocks xmlns:a="http://schemas.openxmlformats.org/drawingml/2006/main" noGrp="1"/>
          </p:cNvSpPr>
          <p:nvPr/>
        </p:nvSpPr>
        <p:spPr>
          <a:xfrm xmlns:a="http://schemas.openxmlformats.org/drawingml/2006/main">
            <a:off x="68580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D8FF55"/>
                </a:solidFill>
              </a:defRPr>
            </a:pPr>
            <a:r>
              <a:rPr sz="2100" b="1">
                <a:solidFill>
                  <a:srgbClr val="D8FF55"/>
                </a:solidFill>
              </a:rPr>
              <a:t>IDEA</a:t>
            </a:r>
          </a:p>
        </p:txBody>
      </p:sp>
      <p:sp>
        <p:nvSpPr>
          <p:cNvPr id="6" name="">
            <a:extLst xmlns:a="http://schemas.openxmlformats.org/drawingml/2006/main">
              <a:ext uri="{FF2B5EF4-FFF2-40B4-BE49-F238E27FC236}">
                <a16:creationId xmlns:a16="http://schemas.microsoft.com/office/drawing/2014/main" id="{013C0A84-F6D3-4958-8C93-9B4E1923C2DE}"/>
              </a:ext>
            </a:extLst>
          </p:cNvPr>
          <p:cNvSpPr>
            <a:spLocks xmlns:a="http://schemas.openxmlformats.org/drawingml/2006/main" noGrp="1"/>
          </p:cNvSpPr>
          <p:nvPr/>
        </p:nvSpPr>
        <p:spPr>
          <a:xfrm xmlns:a="http://schemas.openxmlformats.org/drawingml/2006/main">
            <a:off x="68580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7BB3A9-196C-432F-9899-DAADC3268B03}"/>
              </a:ext>
            </a:extLst>
          </p:cNvPr>
          <p:cNvSpPr>
            <a:spLocks xmlns:a="http://schemas.openxmlformats.org/drawingml/2006/main" noGrp="1"/>
          </p:cNvSpPr>
          <p:nvPr/>
        </p:nvSpPr>
        <p:spPr>
          <a:xfrm xmlns:a="http://schemas.openxmlformats.org/drawingml/2006/main">
            <a:off x="68580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Builders begin with a product question—not a token forecast.</a:t>
            </a:r>
          </a:p>
        </p:txBody>
      </p:sp>
      <p:sp>
        <p:nvSpPr>
          <p:cNvPr id="8" name="">
            <a:extLst xmlns:a="http://schemas.openxmlformats.org/drawingml/2006/main">
              <a:ext uri="{FF2B5EF4-FFF2-40B4-BE49-F238E27FC236}">
                <a16:creationId xmlns:a16="http://schemas.microsoft.com/office/drawing/2014/main" id="{B13045EF-AC5E-4574-AB61-F96B772B96E3}"/>
              </a:ext>
            </a:extLst>
          </p:cNvPr>
          <p:cNvSpPr>
            <a:spLocks xmlns:a="http://schemas.openxmlformats.org/drawingml/2006/main" noGrp="1"/>
          </p:cNvSpPr>
          <p:nvPr/>
        </p:nvSpPr>
        <p:spPr>
          <a:xfrm xmlns:a="http://schemas.openxmlformats.org/drawingml/2006/main">
            <a:off x="4276725"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8F7BFF"/>
                </a:solidFill>
              </a:defRPr>
            </a:pPr>
            <a:r>
              <a:rPr sz="2100" b="1">
                <a:solidFill>
                  <a:srgbClr val="8F7BFF"/>
                </a:solidFill>
              </a:rPr>
              <a:t>PRICE</a:t>
            </a:r>
          </a:p>
        </p:txBody>
      </p:sp>
      <p:sp>
        <p:nvSpPr>
          <p:cNvPr id="9" name="">
            <a:extLst xmlns:a="http://schemas.openxmlformats.org/drawingml/2006/main">
              <a:ext uri="{FF2B5EF4-FFF2-40B4-BE49-F238E27FC236}">
                <a16:creationId xmlns:a16="http://schemas.microsoft.com/office/drawing/2014/main" id="{C4F35A5B-254B-4CC8-865E-019CC9367913}"/>
              </a:ext>
            </a:extLst>
          </p:cNvPr>
          <p:cNvSpPr>
            <a:spLocks xmlns:a="http://schemas.openxmlformats.org/drawingml/2006/main" noGrp="1"/>
          </p:cNvSpPr>
          <p:nvPr/>
        </p:nvSpPr>
        <p:spPr>
          <a:xfrm xmlns:a="http://schemas.openxmlformats.org/drawingml/2006/main">
            <a:off x="4276725"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6FB1C2-BD3E-43CC-8970-2C98B2C4D69E}"/>
              </a:ext>
            </a:extLst>
          </p:cNvPr>
          <p:cNvSpPr>
            <a:spLocks xmlns:a="http://schemas.openxmlformats.org/drawingml/2006/main" noGrp="1"/>
          </p:cNvSpPr>
          <p:nvPr/>
        </p:nvSpPr>
        <p:spPr>
          <a:xfrm xmlns:a="http://schemas.openxmlformats.org/drawingml/2006/main">
            <a:off x="4276725"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Provider prices, units, and fees are fragmented and change.</a:t>
            </a:r>
          </a:p>
        </p:txBody>
      </p:sp>
      <p:sp>
        <p:nvSpPr>
          <p:cNvPr id="11" name="">
            <a:extLst xmlns:a="http://schemas.openxmlformats.org/drawingml/2006/main">
              <a:ext uri="{FF2B5EF4-FFF2-40B4-BE49-F238E27FC236}">
                <a16:creationId xmlns:a16="http://schemas.microsoft.com/office/drawing/2014/main" id="{A1082695-D7E4-4FC4-AB79-F37923AC6C5A}"/>
              </a:ext>
            </a:extLst>
          </p:cNvPr>
          <p:cNvSpPr>
            <a:spLocks xmlns:a="http://schemas.openxmlformats.org/drawingml/2006/main" noGrp="1"/>
          </p:cNvSpPr>
          <p:nvPr/>
        </p:nvSpPr>
        <p:spPr>
          <a:xfrm xmlns:a="http://schemas.openxmlformats.org/drawingml/2006/main">
            <a:off x="786765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FF8159"/>
                </a:solidFill>
              </a:defRPr>
            </a:pPr>
            <a:r>
              <a:rPr sz="2100" b="1">
                <a:solidFill>
                  <a:srgbClr val="FF8159"/>
                </a:solidFill>
              </a:rPr>
              <a:t>RISK</a:t>
            </a:r>
          </a:p>
        </p:txBody>
      </p:sp>
      <p:sp>
        <p:nvSpPr>
          <p:cNvPr id="12" name="">
            <a:extLst xmlns:a="http://schemas.openxmlformats.org/drawingml/2006/main">
              <a:ext uri="{FF2B5EF4-FFF2-40B4-BE49-F238E27FC236}">
                <a16:creationId xmlns:a16="http://schemas.microsoft.com/office/drawing/2014/main" id="{24935BAB-6608-4EAD-9DF9-CF9537FA7FF6}"/>
              </a:ext>
            </a:extLst>
          </p:cNvPr>
          <p:cNvSpPr>
            <a:spLocks xmlns:a="http://schemas.openxmlformats.org/drawingml/2006/main" noGrp="1"/>
          </p:cNvSpPr>
          <p:nvPr/>
        </p:nvSpPr>
        <p:spPr>
          <a:xfrm xmlns:a="http://schemas.openxmlformats.org/drawingml/2006/main">
            <a:off x="786765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7D7054D-6128-4308-A53F-3BCE14FB32F4}"/>
              </a:ext>
            </a:extLst>
          </p:cNvPr>
          <p:cNvSpPr>
            <a:spLocks xmlns:a="http://schemas.openxmlformats.org/drawingml/2006/main" noGrp="1"/>
          </p:cNvSpPr>
          <p:nvPr/>
        </p:nvSpPr>
        <p:spPr>
          <a:xfrm xmlns:a="http://schemas.openxmlformats.org/drawingml/2006/main">
            <a:off x="786765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The cheapest model may be unsafe; the premium default may waste budget.</a:t>
            </a:r>
          </a:p>
        </p:txBody>
      </p:sp>
      <p:sp>
        <p:nvSpPr>
          <p:cNvPr id="14" name="">
            <a:extLst xmlns:a="http://schemas.openxmlformats.org/drawingml/2006/main">
              <a:ext uri="{FF2B5EF4-FFF2-40B4-BE49-F238E27FC236}">
                <a16:creationId xmlns:a16="http://schemas.microsoft.com/office/drawing/2014/main" id="{A9E57890-DEA8-4741-AE7F-F23527FF4C2C}"/>
              </a:ext>
            </a:extLst>
          </p:cNvPr>
          <p:cNvSpPr>
            <a:spLocks xmlns:a="http://schemas.openxmlformats.org/drawingml/2006/main" noGrp="1"/>
          </p:cNvSpPr>
          <p:nvPr/>
        </p:nvSpPr>
        <p:spPr>
          <a:xfrm xmlns:a="http://schemas.openxmlformats.org/drawingml/2006/main">
            <a:off x="685800" y="5572125"/>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D8FF55"/>
                </a:solidFill>
              </a:defRPr>
            </a:pPr>
            <a:r>
              <a:rPr sz="2250" b="1">
                <a:solidFill>
                  <a:srgbClr val="D8FF55"/>
                </a:solidFill>
              </a:rPr>
              <a:t>False precision is the real first cost.</a:t>
            </a:r>
          </a:p>
        </p:txBody>
      </p:sp>
      <p:sp>
        <p:nvSpPr>
          <p:cNvPr id="15" name="">
            <a:extLst xmlns:a="http://schemas.openxmlformats.org/drawingml/2006/main">
              <a:ext uri="{FF2B5EF4-FFF2-40B4-BE49-F238E27FC236}">
                <a16:creationId xmlns:a16="http://schemas.microsoft.com/office/drawing/2014/main" id="{01DFE82F-B914-47D3-BE54-D27FC7629283}"/>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B7C0B7"/>
                </a:solidFill>
              </a:defRPr>
            </a:pPr>
            <a:r>
              <a:rPr sz="825" b="1">
                <a:solidFill>
                  <a:srgbClr val="B7C0B7"/>
                </a:solidFill>
              </a:rPr>
              <a:t>AI BUILD CREW · BADLABZ.COM</a:t>
            </a:r>
          </a:p>
        </p:txBody>
      </p:sp>
      <p:sp>
        <p:nvSpPr>
          <p:cNvPr id="16" name="">
            <a:extLst xmlns:a="http://schemas.openxmlformats.org/drawingml/2006/main">
              <a:ext uri="{FF2B5EF4-FFF2-40B4-BE49-F238E27FC236}">
                <a16:creationId xmlns:a16="http://schemas.microsoft.com/office/drawing/2014/main" id="{74E0951C-DAEC-4BBF-AE86-3E125F429382}"/>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D8FF55"/>
                </a:solidFill>
              </a:defRPr>
            </a:pPr>
            <a:r>
              <a:rPr sz="825" b="1">
                <a:solidFill>
                  <a:srgbClr val="D8FF55"/>
                </a:solidFill>
              </a:rPr>
              <a:t>02</a:t>
            </a:r>
          </a:p>
        </p:txBody>
      </p:sp>
    </p:spTree>
    <p:extLst>
      <p:ext uri="{BB962C8B-B14F-4D97-AF65-F5344CB8AC3E}">
        <p14:creationId xmlns:p14="http://schemas.microsoft.com/office/powerpoint/2010/main" val="2034995705"/>
      </p:ext>
    </p:extLst>
  </p:cSld>
</p:sld>
</file>

<file path=ppt/slides/slide3.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FB0C0E-97AD-45C1-802B-CD871616144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02</a:t>
            </a:r>
          </a:p>
        </p:txBody>
      </p:sp>
      <p:sp>
        <p:nvSpPr>
          <p:cNvPr id="2" name="">
            <a:extLst xmlns:a="http://schemas.openxmlformats.org/drawingml/2006/main">
              <a:ext uri="{FF2B5EF4-FFF2-40B4-BE49-F238E27FC236}">
                <a16:creationId xmlns:a16="http://schemas.microsoft.com/office/drawing/2014/main" id="{C8E24F56-CF1D-4412-AC24-C6F93A33F0C9}"/>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152015"/>
                </a:solidFill>
              </a:defRPr>
            </a:pPr>
            <a:r>
              <a:rPr sz="975" b="1">
                <a:solidFill>
                  <a:srgbClr val="152015"/>
                </a:solidFill>
              </a:rPr>
              <a:t>THE FIRST USER</a:t>
            </a:r>
          </a:p>
        </p:txBody>
      </p:sp>
      <p:sp>
        <p:nvSpPr>
          <p:cNvPr id="3" name="">
            <a:extLst xmlns:a="http://schemas.openxmlformats.org/drawingml/2006/main">
              <a:ext uri="{FF2B5EF4-FFF2-40B4-BE49-F238E27FC236}">
                <a16:creationId xmlns:a16="http://schemas.microsoft.com/office/drawing/2014/main" id="{471E9BA6-8E56-48C2-A0DD-8E1C2540A158}"/>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4880AD-35CE-41EE-8ACC-B2089BAECF72}"/>
              </a:ext>
            </a:extLst>
          </p:cNvPr>
          <p:cNvSpPr>
            <a:spLocks xmlns:a="http://schemas.openxmlformats.org/drawingml/2006/main" noGrp="1"/>
          </p:cNvSpPr>
          <p:nvPr/>
        </p:nvSpPr>
        <p:spPr>
          <a:xfrm xmlns:a="http://schemas.openxmlformats.org/drawingml/2006/main">
            <a:off x="685800" y="1162050"/>
            <a:ext cx="619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450" b="1">
                <a:solidFill>
                  <a:srgbClr val="152015"/>
                </a:solidFill>
              </a:defRPr>
            </a:pPr>
            <a:r>
              <a:rPr sz="3450" b="1">
                <a:solidFill>
                  <a:srgbClr val="152015"/>
                </a:solidFill>
              </a:rPr>
              <a:t>A builder wants a cost</a:t>
            </a:r>
          </a:p>
          <a:p xmlns:a="http://schemas.openxmlformats.org/drawingml/2006/main">
            <a:pPr algn="l">
              <a:defRPr sz="3450" b="1">
                <a:solidFill>
                  <a:srgbClr val="152015"/>
                </a:solidFill>
              </a:defRPr>
            </a:pPr>
            <a:r>
              <a:rPr sz="3450" b="1">
                <a:solidFill>
                  <a:srgbClr val="152015"/>
                </a:solidFill>
              </a:rPr>
              <a:t>before committing the build.</a:t>
            </a:r>
          </a:p>
        </p:txBody>
      </p:sp>
      <p:sp>
        <p:nvSpPr>
          <p:cNvPr id="5" name="">
            <a:extLst xmlns:a="http://schemas.openxmlformats.org/drawingml/2006/main">
              <a:ext uri="{FF2B5EF4-FFF2-40B4-BE49-F238E27FC236}">
                <a16:creationId xmlns:a16="http://schemas.microsoft.com/office/drawing/2014/main" id="{8604728B-1E4C-45B3-A884-D74DF2A0D784}"/>
              </a:ext>
            </a:extLst>
          </p:cNvPr>
          <p:cNvSpPr>
            <a:spLocks xmlns:a="http://schemas.openxmlformats.org/drawingml/2006/main" noGrp="1"/>
          </p:cNvSpPr>
          <p:nvPr/>
        </p:nvSpPr>
        <p:spPr>
          <a:xfrm xmlns:a="http://schemas.openxmlformats.org/drawingml/2006/main">
            <a:off x="685800" y="2571750"/>
            <a:ext cx="5619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687068"/>
                </a:solidFill>
              </a:defRPr>
            </a:pPr>
            <a:r>
              <a:rPr sz="1650" b="0">
                <a:solidFill>
                  <a:srgbClr val="687068"/>
                </a:solidFill>
              </a:rPr>
              <a:t>They should not need to know a model name, token count, context window, cache policy, or agent architecture to begin.</a:t>
            </a:r>
          </a:p>
        </p:txBody>
      </p:sp>
      <p:sp>
        <p:nvSpPr>
          <p:cNvPr id="6" name="">
            <a:extLst xmlns:a="http://schemas.openxmlformats.org/drawingml/2006/main">
              <a:ext uri="{FF2B5EF4-FFF2-40B4-BE49-F238E27FC236}">
                <a16:creationId xmlns:a16="http://schemas.microsoft.com/office/drawing/2014/main" id="{3FF655A0-B9C8-460A-85A8-D89B437FFE82}"/>
              </a:ext>
            </a:extLst>
          </p:cNvPr>
          <p:cNvSpPr>
            <a:spLocks xmlns:a="http://schemas.openxmlformats.org/drawingml/2006/main" noGrp="1"/>
          </p:cNvSpPr>
          <p:nvPr/>
        </p:nvSpPr>
        <p:spPr>
          <a:xfrm xmlns:a="http://schemas.openxmlformats.org/drawingml/2006/main">
            <a:off x="7000875" y="1219200"/>
            <a:ext cx="4505325" cy="4191000"/>
          </a:xfrm>
          <a:prstGeom xmlns:a="http://schemas.openxmlformats.org/drawingml/2006/main" prst="roundRect">
            <a:avLst>
              <a:gd name="adj" fmla="val 5455"/>
            </a:avLst>
          </a:prstGeom>
          <a:solidFill xmlns:a="http://schemas.openxmlformats.org/drawingml/2006/main">
            <a:srgbClr val="15201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4701E2-9FC2-4052-93EB-3EF7ED75CDB1}"/>
              </a:ext>
            </a:extLst>
          </p:cNvPr>
          <p:cNvSpPr>
            <a:spLocks xmlns:a="http://schemas.openxmlformats.org/drawingml/2006/main" noGrp="1"/>
          </p:cNvSpPr>
          <p:nvPr/>
        </p:nvSpPr>
        <p:spPr>
          <a:xfrm xmlns:a="http://schemas.openxmlformats.org/drawingml/2006/main">
            <a:off x="7419975" y="1676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JOB TO BE DONE</a:t>
            </a:r>
          </a:p>
        </p:txBody>
      </p:sp>
      <p:sp>
        <p:nvSpPr>
          <p:cNvPr id="8" name="">
            <a:extLst xmlns:a="http://schemas.openxmlformats.org/drawingml/2006/main">
              <a:ext uri="{FF2B5EF4-FFF2-40B4-BE49-F238E27FC236}">
                <a16:creationId xmlns:a16="http://schemas.microsoft.com/office/drawing/2014/main" id="{A4A23DFC-A15F-4429-9C12-4D92549FCDA1}"/>
              </a:ext>
            </a:extLst>
          </p:cNvPr>
          <p:cNvSpPr>
            <a:spLocks xmlns:a="http://schemas.openxmlformats.org/drawingml/2006/main" noGrp="1"/>
          </p:cNvSpPr>
          <p:nvPr/>
        </p:nvSpPr>
        <p:spPr>
          <a:xfrm xmlns:a="http://schemas.openxmlformats.org/drawingml/2006/main">
            <a:off x="7419975" y="2266950"/>
            <a:ext cx="33718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FFFFFF"/>
                </a:solidFill>
              </a:defRPr>
            </a:pPr>
            <a:r>
              <a:rPr sz="2325" b="1">
                <a:solidFill>
                  <a:srgbClr val="FFFFFF"/>
                </a:solidFill>
              </a:rPr>
              <a:t>“Help me forecast what this idea could cost, where the estimate is uncertain, and what I give up by choosing differently.”</a:t>
            </a:r>
          </a:p>
        </p:txBody>
      </p:sp>
      <p:sp>
        <p:nvSpPr>
          <p:cNvPr id="9" name="">
            <a:extLst xmlns:a="http://schemas.openxmlformats.org/drawingml/2006/main">
              <a:ext uri="{FF2B5EF4-FFF2-40B4-BE49-F238E27FC236}">
                <a16:creationId xmlns:a16="http://schemas.microsoft.com/office/drawing/2014/main" id="{4FD27E3E-A95B-4400-85FA-98E427659406}"/>
              </a:ext>
            </a:extLst>
          </p:cNvPr>
          <p:cNvSpPr>
            <a:spLocks xmlns:a="http://schemas.openxmlformats.org/drawingml/2006/main" noGrp="1"/>
          </p:cNvSpPr>
          <p:nvPr/>
        </p:nvSpPr>
        <p:spPr>
          <a:xfrm xmlns:a="http://schemas.openxmlformats.org/drawingml/2006/main">
            <a:off x="7419975" y="4591050"/>
            <a:ext cx="314325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8B465F-A2F0-4B95-B8DB-FFE078E92691}"/>
              </a:ext>
            </a:extLst>
          </p:cNvPr>
          <p:cNvSpPr>
            <a:spLocks xmlns:a="http://schemas.openxmlformats.org/drawingml/2006/main" noGrp="1"/>
          </p:cNvSpPr>
          <p:nvPr/>
        </p:nvSpPr>
        <p:spPr>
          <a:xfrm xmlns:a="http://schemas.openxmlformats.org/drawingml/2006/main">
            <a:off x="7419975" y="4762500"/>
            <a:ext cx="335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C8D1C8"/>
                </a:solidFill>
              </a:defRPr>
            </a:pPr>
            <a:r>
              <a:rPr sz="1200" b="0">
                <a:solidFill>
                  <a:srgbClr val="C8D1C8"/>
                </a:solidFill>
              </a:rPr>
              <a:t>Outcome: a decision a product team can explain, reproduce, and revisit.</a:t>
            </a:r>
          </a:p>
        </p:txBody>
      </p:sp>
      <p:sp>
        <p:nvSpPr>
          <p:cNvPr id="11" name="">
            <a:extLst xmlns:a="http://schemas.openxmlformats.org/drawingml/2006/main">
              <a:ext uri="{FF2B5EF4-FFF2-40B4-BE49-F238E27FC236}">
                <a16:creationId xmlns:a16="http://schemas.microsoft.com/office/drawing/2014/main" id="{4C4631E9-E617-419A-B1DA-716A46BC8929}"/>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687068"/>
                </a:solidFill>
              </a:defRPr>
            </a:pPr>
            <a:r>
              <a:rPr sz="825" b="1">
                <a:solidFill>
                  <a:srgbClr val="687068"/>
                </a:solidFill>
              </a:rPr>
              <a:t>AI BUILD CREW · BADLABZ.COM</a:t>
            </a:r>
          </a:p>
        </p:txBody>
      </p:sp>
      <p:sp>
        <p:nvSpPr>
          <p:cNvPr id="12" name="">
            <a:extLst xmlns:a="http://schemas.openxmlformats.org/drawingml/2006/main">
              <a:ext uri="{FF2B5EF4-FFF2-40B4-BE49-F238E27FC236}">
                <a16:creationId xmlns:a16="http://schemas.microsoft.com/office/drawing/2014/main" id="{C2241FC9-6D18-428D-8B22-982E583392BA}"/>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8F7BFF"/>
                </a:solidFill>
              </a:defRPr>
            </a:pPr>
            <a:r>
              <a:rPr sz="825" b="1">
                <a:solidFill>
                  <a:srgbClr val="8F7BFF"/>
                </a:solidFill>
              </a:rPr>
              <a:t>03</a:t>
            </a:r>
          </a:p>
        </p:txBody>
      </p:sp>
    </p:spTree>
    <p:extLst>
      <p:ext uri="{BB962C8B-B14F-4D97-AF65-F5344CB8AC3E}">
        <p14:creationId xmlns:p14="http://schemas.microsoft.com/office/powerpoint/2010/main" val="1314072076"/>
      </p:ext>
    </p:extLst>
  </p:cSld>
</p:sld>
</file>

<file path=ppt/slides/slide4.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03</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152015"/>
                </a:solidFill>
              </a:defRPr>
            </a:pPr>
            <a:r>
              <a:rPr sz="975" b="1">
                <a:solidFill>
                  <a:srgbClr val="152015"/>
                </a:solidFill>
              </a:rPr>
              <a:t>THE PRODUCT EXPERIENCE</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a:solidFill>
                  <a:srgbClr val="152015"/>
                </a:solidFill>
              </a:defRPr>
            </a:pPr>
            <a:r>
              <a:rPr sz="3300" b="1">
                <a:solidFill>
                  <a:srgbClr val="152015"/>
                </a:solidFill>
              </a:rPr>
              <a:t>The idea comes first.</a:t>
            </a:r>
          </a:p>
          <a:p xmlns:a="http://schemas.openxmlformats.org/drawingml/2006/main">
            <a:pPr algn="l">
              <a:defRPr sz="3300" b="1">
                <a:solidFill>
                  <a:srgbClr val="152015"/>
                </a:solidFill>
              </a:defRPr>
            </a:pPr>
            <a:r>
              <a:rPr sz="3300" b="1">
                <a:solidFill>
                  <a:srgbClr val="152015"/>
                </a:solidFill>
              </a:rPr>
              <a:t>Technical assumptions come second.</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8F7BFF"/>
                </a:solidFill>
              </a:defRPr>
            </a:pPr>
            <a:r>
              <a:rPr sz="1125" b="1">
                <a:solidFill>
                  <a:srgbClr val="8F7BFF"/>
                </a:solidFill>
              </a:rPr>
              <a:t>DESCRIBE</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52015"/>
                </a:solidFill>
              </a:defRPr>
            </a:pPr>
            <a:r>
              <a:rPr sz="1425" b="0">
                <a:solidFill>
                  <a:srgbClr val="152015"/>
                </a:solidFill>
              </a:rPr>
              <a:t>Write what you want to build in everyday language.</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8FF55"/>
                </a:solidFill>
              </a:defRPr>
            </a:pPr>
            <a:r>
              <a:rPr sz="1125" b="1">
                <a:solidFill>
                  <a:srgbClr val="D8FF55"/>
                </a:solidFill>
              </a:rPr>
              <a:t>SHAPE</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Choose a job, consequence of error, data type, and planning stage.</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8F7BFF"/>
                </a:solidFill>
              </a:defRPr>
            </a:pPr>
            <a:r>
              <a:rPr sz="1125" b="1">
                <a:solidFill>
                  <a:srgbClr val="8F7BFF"/>
                </a:solidFill>
              </a:rPr>
              <a:t>CONFIRM</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52015"/>
                </a:solidFill>
              </a:defRPr>
            </a:pPr>
            <a:r>
              <a:rPr sz="1425" b="0">
                <a:solidFill>
                  <a:srgbClr val="152015"/>
                </a:solidFill>
              </a:rPr>
              <a:t>Review every Known, Assumed, and Unknown field before calculation.</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8F7BFF"/>
                </a:solidFill>
              </a:defRPr>
            </a:pPr>
            <a:r>
              <a:rPr sz="1800" b="1">
                <a:solidFill>
                  <a:srgbClr val="8F7BFF"/>
                </a:solidFill>
              </a:rPr>
              <a:t>“I don’t know” remains valid. “Estimate now” remains available.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8F7BFF"/>
                </a:solidFill>
              </a:defRPr>
            </a:pPr>
            <a:r>
              <a:rPr sz="825" b="1">
                <a:solidFill>
                  <a:srgbClr val="8F7BFF"/>
                </a:solidFill>
              </a:rPr>
              <a:t>04</a:t>
            </a:r>
          </a:p>
        </p:txBody>
      </p:sp>
    </p:spTree>
    <p:extLst>
      <p:ext uri="{BB962C8B-B14F-4D97-AF65-F5344CB8AC3E}">
        <p14:creationId xmlns:p14="http://schemas.microsoft.com/office/powerpoint/2010/main" val="1488857310"/>
      </p:ext>
    </p:extLst>
  </p:cSld>
</p:sld>
</file>

<file path=ppt/slides/slide5.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E58A29B-6924-4101-B3F2-782EAD932FA2}"/>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04</a:t>
            </a:r>
          </a:p>
        </p:txBody>
      </p:sp>
      <p:sp>
        <p:nvSpPr>
          <p:cNvPr id="2" name="">
            <a:extLst xmlns:a="http://schemas.openxmlformats.org/drawingml/2006/main">
              <a:ext uri="{FF2B5EF4-FFF2-40B4-BE49-F238E27FC236}">
                <a16:creationId xmlns:a16="http://schemas.microsoft.com/office/drawing/2014/main" id="{29845B15-E571-4EDE-977F-D2A48B487926}"/>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152015"/>
                </a:solidFill>
              </a:defRPr>
            </a:pPr>
            <a:r>
              <a:rPr sz="975" b="1">
                <a:solidFill>
                  <a:srgbClr val="152015"/>
                </a:solidFill>
              </a:rPr>
              <a:t>A REPRODUCIBLE COST EXAMPLE</a:t>
            </a:r>
          </a:p>
        </p:txBody>
      </p:sp>
      <p:sp>
        <p:nvSpPr>
          <p:cNvPr id="3" name="">
            <a:extLst xmlns:a="http://schemas.openxmlformats.org/drawingml/2006/main">
              <a:ext uri="{FF2B5EF4-FFF2-40B4-BE49-F238E27FC236}">
                <a16:creationId xmlns:a16="http://schemas.microsoft.com/office/drawing/2014/main" id="{0AB7DD0D-C229-471E-9A78-EA76DF27C89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412D4-0AF7-44B6-8A54-872A07902E8F}"/>
              </a:ext>
            </a:extLst>
          </p:cNvPr>
          <p:cNvSpPr>
            <a:spLocks xmlns:a="http://schemas.openxmlformats.org/drawingml/2006/main" noGrp="1"/>
          </p:cNvSpPr>
          <p:nvPr/>
        </p:nvSpPr>
        <p:spPr>
          <a:xfrm xmlns:a="http://schemas.openxmlformats.org/drawingml/2006/main">
            <a:off x="685800" y="1066800"/>
            <a:ext cx="6762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52015"/>
                </a:solidFill>
              </a:defRPr>
            </a:pPr>
            <a:r>
              <a:rPr sz="2850" b="1">
                <a:solidFill>
                  <a:srgbClr val="152015"/>
                </a:solidFill>
              </a:rPr>
              <a:t>One frozen workload creates</a:t>
            </a:r>
          </a:p>
          <a:p xmlns:a="http://schemas.openxmlformats.org/drawingml/2006/main">
            <a:pPr algn="l">
              <a:defRPr sz="2850" b="1">
                <a:solidFill>
                  <a:srgbClr val="152015"/>
                </a:solidFill>
              </a:defRPr>
            </a:pPr>
            <a:r>
              <a:rPr sz="2850" b="1">
                <a:solidFill>
                  <a:srgbClr val="152015"/>
                </a:solidFill>
              </a:rPr>
              <a:t>a cost range—not a magic number.</a:t>
            </a:r>
          </a:p>
        </p:txBody>
      </p:sp>
      <p:sp>
        <p:nvSpPr>
          <p:cNvPr id="5" name="">
            <a:extLst xmlns:a="http://schemas.openxmlformats.org/drawingml/2006/main">
              <a:ext uri="{FF2B5EF4-FFF2-40B4-BE49-F238E27FC236}">
                <a16:creationId xmlns:a16="http://schemas.microsoft.com/office/drawing/2014/main" id="{49C60688-E5CB-4387-8FE7-4E288D202030}"/>
              </a:ext>
            </a:extLst>
          </p:cNvPr>
          <p:cNvSpPr>
            <a:spLocks xmlns:a="http://schemas.openxmlformats.org/drawingml/2006/main" noGrp="1"/>
          </p:cNvSpPr>
          <p:nvPr/>
        </p:nvSpPr>
        <p:spPr>
          <a:xfrm xmlns:a="http://schemas.openxmlformats.org/drawingml/2006/main">
            <a:off x="685800" y="2571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687068"/>
                </a:solidFill>
              </a:defRPr>
            </a:pPr>
            <a:r>
              <a:rPr sz="1125" b="0">
                <a:solidFill>
                  <a:srgbClr val="687068"/>
                </a:solidFill>
              </a:rPr>
              <a:t>Illustrative product-analysis profile · 1,000 uses/day · 2,400 tokens in · 650 out · one AI step</a:t>
            </a:r>
          </a:p>
        </p:txBody>
      </p:sp>
      <p:graphicFrame>
        <p:nvGraphicFramePr>
          <p:cNvPr id="20" name="Chart"/>
          <p:cNvGraphicFramePr/>
          <p:nvPr/>
        </p:nvGraphicFramePr>
        <p:xfrm>
          <a:off xmlns:a="http://schemas.openxmlformats.org/drawingml/2006/main" x="685800" y="3143250"/>
          <a:ext xmlns:a="http://schemas.openxmlformats.org/drawingml/2006/main" cx="6191250" cy="2238375"/>
        </p:xfrm>
        <a:graphic xmlns:a="http://schemas.openxmlformats.org/drawingml/2006/main">
          <a:graphicData uri="http://schemas.openxmlformats.org/drawingml/2006/chart">
            <c:chart xmlns:r="http://schemas.openxmlformats.org/officeDocument/2006/relationships" xmlns:c="http://schemas.openxmlformats.org/drawingml/2006/chart" r:id="Racaa2d448fd04dd7"/>
          </a:graphicData>
        </a:graphic>
      </p:graphicFrame>
      <p:sp>
        <p:nvSpPr>
          <p:cNvPr id="7" name="">
            <a:extLst xmlns:a="http://schemas.openxmlformats.org/drawingml/2006/main">
              <a:ext uri="{FF2B5EF4-FFF2-40B4-BE49-F238E27FC236}">
                <a16:creationId xmlns:a16="http://schemas.microsoft.com/office/drawing/2014/main" id="{7E0023A4-85B8-4BF1-8462-53833DB27FBC}"/>
              </a:ext>
            </a:extLst>
          </p:cNvPr>
          <p:cNvSpPr>
            <a:spLocks xmlns:a="http://schemas.openxmlformats.org/drawingml/2006/main" noGrp="1"/>
          </p:cNvSpPr>
          <p:nvPr/>
        </p:nvSpPr>
        <p:spPr>
          <a:xfrm xmlns:a="http://schemas.openxmlformats.org/drawingml/2006/main">
            <a:off x="7477125" y="3000375"/>
            <a:ext cx="4029075" cy="2628900"/>
          </a:xfrm>
          <a:prstGeom xmlns:a="http://schemas.openxmlformats.org/drawingml/2006/main" prst="roundRect">
            <a:avLst>
              <a:gd name="adj" fmla="val 7971"/>
            </a:avLst>
          </a:prstGeom>
          <a:solidFill xmlns:a="http://schemas.openxmlformats.org/drawingml/2006/main">
            <a:srgbClr val="1520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64F6CC-030C-48D8-9119-4045EEA432BD}"/>
              </a:ext>
            </a:extLst>
          </p:cNvPr>
          <p:cNvSpPr>
            <a:spLocks xmlns:a="http://schemas.openxmlformats.org/drawingml/2006/main" noGrp="1"/>
          </p:cNvSpPr>
          <p:nvPr/>
        </p:nvSpPr>
        <p:spPr>
          <a:xfrm xmlns:a="http://schemas.openxmlformats.org/drawingml/2006/main">
            <a:off x="7839075" y="3314700"/>
            <a:ext cx="3143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BEST STARTING POINT</a:t>
            </a:r>
          </a:p>
        </p:txBody>
      </p:sp>
      <p:sp>
        <p:nvSpPr>
          <p:cNvPr id="9" name="">
            <a:extLst xmlns:a="http://schemas.openxmlformats.org/drawingml/2006/main">
              <a:ext uri="{FF2B5EF4-FFF2-40B4-BE49-F238E27FC236}">
                <a16:creationId xmlns:a16="http://schemas.microsoft.com/office/drawing/2014/main" id="{0CBD3733-D717-48D3-B001-0860B0F145B1}"/>
              </a:ext>
            </a:extLst>
          </p:cNvPr>
          <p:cNvSpPr>
            <a:spLocks xmlns:a="http://schemas.openxmlformats.org/drawingml/2006/main" noGrp="1"/>
          </p:cNvSpPr>
          <p:nvPr/>
        </p:nvSpPr>
        <p:spPr>
          <a:xfrm xmlns:a="http://schemas.openxmlformats.org/drawingml/2006/main">
            <a:off x="7839075" y="378142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a:solidFill>
                  <a:srgbClr val="FFFFFF"/>
                </a:solidFill>
              </a:defRPr>
            </a:pPr>
            <a:r>
              <a:rPr sz="2400" b="1">
                <a:solidFill>
                  <a:srgbClr val="FFFFFF"/>
                </a:solidFill>
              </a:rPr>
              <a:t>GPT-5.6 Terra</a:t>
            </a:r>
          </a:p>
        </p:txBody>
      </p:sp>
      <p:sp>
        <p:nvSpPr>
          <p:cNvPr id="10" name="">
            <a:extLst xmlns:a="http://schemas.openxmlformats.org/drawingml/2006/main">
              <a:ext uri="{FF2B5EF4-FFF2-40B4-BE49-F238E27FC236}">
                <a16:creationId xmlns:a16="http://schemas.microsoft.com/office/drawing/2014/main" id="{49A2FD65-76F8-45A1-83E5-3E0674360DAA}"/>
              </a:ext>
            </a:extLst>
          </p:cNvPr>
          <p:cNvSpPr>
            <a:spLocks xmlns:a="http://schemas.openxmlformats.org/drawingml/2006/main" noGrp="1"/>
          </p:cNvSpPr>
          <p:nvPr/>
        </p:nvSpPr>
        <p:spPr>
          <a:xfrm xmlns:a="http://schemas.openxmlformats.org/drawingml/2006/main">
            <a:off x="7839075" y="4410075"/>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8F7BFF"/>
                </a:solidFill>
              </a:defRPr>
            </a:pPr>
            <a:r>
              <a:rPr sz="2700" b="1">
                <a:solidFill>
                  <a:srgbClr val="8F7BFF"/>
                </a:solidFill>
              </a:rPr>
              <a:t>$352 / month</a:t>
            </a:r>
          </a:p>
        </p:txBody>
      </p:sp>
      <p:sp>
        <p:nvSpPr>
          <p:cNvPr id="11" name="">
            <a:extLst xmlns:a="http://schemas.openxmlformats.org/drawingml/2006/main">
              <a:ext uri="{FF2B5EF4-FFF2-40B4-BE49-F238E27FC236}">
                <a16:creationId xmlns:a16="http://schemas.microsoft.com/office/drawing/2014/main" id="{0E3BB36C-7C6F-4E11-B3F9-1441D95BF8C7}"/>
              </a:ext>
            </a:extLst>
          </p:cNvPr>
          <p:cNvSpPr>
            <a:spLocks xmlns:a="http://schemas.openxmlformats.org/drawingml/2006/main" noGrp="1"/>
          </p:cNvSpPr>
          <p:nvPr/>
        </p:nvSpPr>
        <p:spPr>
          <a:xfrm xmlns:a="http://schemas.openxmlformats.org/drawingml/2006/main">
            <a:off x="7839075" y="50196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C8D1C8"/>
                </a:solidFill>
              </a:defRPr>
            </a:pPr>
            <a:r>
              <a:rPr sz="1200" b="0">
                <a:solidFill>
                  <a:srgbClr val="C8D1C8"/>
                </a:solidFill>
              </a:rPr>
              <a:t>Next eligible baseline: GPT-5.6 Sol</a:t>
            </a:r>
          </a:p>
          <a:p xmlns:a="http://schemas.openxmlformats.org/drawingml/2006/main">
            <a:pPr algn="l">
              <a:defRPr sz="1200" b="0">
                <a:solidFill>
                  <a:srgbClr val="C8D1C8"/>
                </a:solidFill>
              </a:defRPr>
            </a:pPr>
            <a:r>
              <a:rPr sz="1200" b="0">
                <a:solidFill>
                  <a:srgbClr val="C8D1C8"/>
                </a:solidFill>
              </a:rPr>
              <a:t>+$528 / month</a:t>
            </a:r>
          </a:p>
        </p:txBody>
      </p:sp>
      <p:sp>
        <p:nvSpPr>
          <p:cNvPr id="12" name="">
            <a:extLst xmlns:a="http://schemas.openxmlformats.org/drawingml/2006/main">
              <a:ext uri="{FF2B5EF4-FFF2-40B4-BE49-F238E27FC236}">
                <a16:creationId xmlns:a16="http://schemas.microsoft.com/office/drawing/2014/main" id="{7B66A534-5804-4D8F-88C9-1D5CC77C835D}"/>
              </a:ext>
            </a:extLst>
          </p:cNvPr>
          <p:cNvSpPr>
            <a:spLocks xmlns:a="http://schemas.openxmlformats.org/drawingml/2006/main" noGrp="1"/>
          </p:cNvSpPr>
          <p:nvPr/>
        </p:nvSpPr>
        <p:spPr>
          <a:xfrm xmlns:a="http://schemas.openxmlformats.org/drawingml/2006/main">
            <a:off x="685800" y="581025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687068"/>
                </a:solidFill>
              </a:defRPr>
            </a:pPr>
            <a:r>
              <a:rPr sz="900" b="0">
                <a:solidFill>
                  <a:srgbClr val="687068"/>
                </a:solidFill>
              </a:rPr>
              <a:t>Published token prices only. Tools, search, grounding, storage, regions, and infrastructure remain explicit coverage gaps.</a:t>
            </a:r>
          </a:p>
        </p:txBody>
      </p:sp>
      <p:sp>
        <p:nvSpPr>
          <p:cNvPr id="13" name="">
            <a:extLst xmlns:a="http://schemas.openxmlformats.org/drawingml/2006/main">
              <a:ext uri="{FF2B5EF4-FFF2-40B4-BE49-F238E27FC236}">
                <a16:creationId xmlns:a16="http://schemas.microsoft.com/office/drawing/2014/main" id="{96258D09-935E-467E-AAC5-A0CBCFC83D85}"/>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687068"/>
                </a:solidFill>
              </a:defRPr>
            </a:pPr>
            <a:r>
              <a:rPr sz="825" b="1">
                <a:solidFill>
                  <a:srgbClr val="687068"/>
                </a:solidFill>
              </a:rPr>
              <a:t>AI BUILD CREW · BADLABZ.COM</a:t>
            </a:r>
          </a:p>
        </p:txBody>
      </p:sp>
      <p:sp>
        <p:nvSpPr>
          <p:cNvPr id="14" name="">
            <a:extLst xmlns:a="http://schemas.openxmlformats.org/drawingml/2006/main">
              <a:ext uri="{FF2B5EF4-FFF2-40B4-BE49-F238E27FC236}">
                <a16:creationId xmlns:a16="http://schemas.microsoft.com/office/drawing/2014/main" id="{AB2C5B3F-B75C-4DDB-970E-DA5670E9C665}"/>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8F7BFF"/>
                </a:solidFill>
              </a:defRPr>
            </a:pPr>
            <a:r>
              <a:rPr sz="825" b="1">
                <a:solidFill>
                  <a:srgbClr val="8F7BFF"/>
                </a:solidFill>
              </a:rPr>
              <a:t>05</a:t>
            </a:r>
          </a:p>
        </p:txBody>
      </p:sp>
    </p:spTree>
    <p:extLst>
      <p:ext uri="{BB962C8B-B14F-4D97-AF65-F5344CB8AC3E}">
        <p14:creationId xmlns:p14="http://schemas.microsoft.com/office/powerpoint/2010/main" val="1013574740"/>
      </p:ext>
    </p:extLst>
  </p:cSld>
</p:sld>
</file>

<file path=ppt/slides/slide6.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05</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FFFF"/>
                </a:solidFill>
              </a:defRPr>
            </a:pPr>
            <a:r>
              <a:rPr sz="975" b="1">
                <a:solidFill>
                  <a:srgbClr val="FFFFFF"/>
                </a:solidFill>
              </a:rPr>
              <a:t>TEAMOS MULTI-AGENT CONTROL</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450" b="1">
                <a:solidFill>
                  <a:srgbClr val="FFFFFF"/>
                </a:solidFill>
              </a:defRPr>
            </a:pPr>
            <a:r>
              <a:rPr sz="3450" b="1">
                <a:solidFill>
                  <a:srgbClr val="FFFFFF"/>
                </a:solidFill>
              </a:rPr>
              <a:t>No specialist grades</a:t>
            </a:r>
          </a:p>
          <a:p xmlns:a="http://schemas.openxmlformats.org/drawingml/2006/main">
            <a:pPr algn="l">
              <a:defRPr sz="3450" b="1">
                <a:solidFill>
                  <a:srgbClr val="FFFFFF"/>
                </a:solidFill>
              </a:defRPr>
            </a:pPr>
            <a:r>
              <a:rPr sz="3450" b="1">
                <a:solidFill>
                  <a:srgbClr val="FFFFFF"/>
                </a:solidFill>
              </a:rPr>
              <a:t>its own homework.</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FFFF"/>
                </a:solidFill>
              </a:defRPr>
            </a:pPr>
            <a:r>
              <a:rPr sz="1050" b="1">
                <a:solidFill>
                  <a:srgbClr val="FFFFFF"/>
                </a:solidFill>
              </a:rPr>
              <a:t>INTAKE</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C8D1C8"/>
                </a:solidFill>
              </a:defRPr>
            </a:pPr>
            <a:r>
              <a:rPr sz="1050" b="0">
                <a:solidFill>
                  <a:srgbClr val="C8D1C8"/>
                </a:solidFill>
              </a:rPr>
              <a:t>Freezes facts + assumptions</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FFFF"/>
                </a:solidFill>
              </a:defRPr>
            </a:pPr>
            <a:r>
              <a:rPr sz="1050" b="1">
                <a:solidFill>
                  <a:srgbClr val="FFFFFF"/>
                </a:solidFill>
              </a:rPr>
              <a:t>ESTIMATE</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C8D1C8"/>
                </a:solidFill>
              </a:defRPr>
            </a:pPr>
            <a:r>
              <a:rPr sz="1050" b="0">
                <a:solidFill>
                  <a:srgbClr val="C8D1C8"/>
                </a:solidFill>
              </a:rPr>
              <a:t>Calculates + filters</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FFFF"/>
                </a:solidFill>
              </a:defRPr>
            </a:pPr>
            <a:r>
              <a:rPr sz="1050" b="1">
                <a:solidFill>
                  <a:srgbClr val="FFFFFF"/>
                </a:solidFill>
              </a:rPr>
              <a:t>EVALUATE</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C8D1C8"/>
                </a:solidFill>
              </a:defRPr>
            </a:pPr>
            <a:r>
              <a:rPr sz="1050" b="0">
                <a:solidFill>
                  <a:srgbClr val="C8D1C8"/>
                </a:solidFill>
              </a:rPr>
              <a:t>Tests frozen result</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FFFF"/>
                </a:solidFill>
              </a:defRPr>
            </a:pPr>
            <a:r>
              <a:rPr sz="1050" b="1">
                <a:solidFill>
                  <a:srgbClr val="FFFFFF"/>
                </a:solidFill>
              </a:rPr>
              <a:t>AUDIT</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C8D1C8"/>
                </a:solidFill>
              </a:defRPr>
            </a:pPr>
            <a:r>
              <a:rPr sz="1050" b="0">
                <a:solidFill>
                  <a:srgbClr val="C8D1C8"/>
                </a:solidFill>
              </a:rPr>
              <a:t>Recomputes + detects drift</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C8D1C8"/>
                </a:solidFill>
              </a:defRPr>
            </a:pPr>
            <a:r>
              <a:rPr sz="1050" b="0">
                <a:solidFill>
                  <a:srgbClr val="C8D1C8"/>
                </a:solidFill>
              </a:rPr>
              <a:t>Applies absolute rules</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52015"/>
                </a:solidFill>
              </a:defRPr>
            </a:pPr>
            <a:r>
              <a:rPr sz="1050" b="1">
                <a:solidFill>
                  <a:srgbClr val="152015"/>
                </a:solidFill>
              </a:rPr>
              <a:t>DECIDE</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152015"/>
                </a:solidFill>
              </a:defRPr>
            </a:pPr>
            <a:r>
              <a:rPr sz="1050" b="0">
                <a:solidFill>
                  <a:srgbClr val="152015"/>
                </a:solidFill>
              </a:rPr>
              <a:t>Human owns judgment</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D8FF55"/>
                </a:solidFill>
              </a:defRPr>
            </a:pPr>
            <a:r>
              <a:rPr sz="1725" b="1">
                <a:solidFill>
                  <a:srgbClr val="D8FF55"/>
                </a:solidFill>
              </a:rPr>
              <a:t>A failed check returns to the earliest failed evidence stage. A block cannot be rewritten into approval.</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D8FF55"/>
                </a:solidFill>
              </a:defRPr>
            </a:pPr>
            <a:r>
              <a:rPr sz="825" b="1">
                <a:solidFill>
                  <a:srgbClr val="D8FF55"/>
                </a:solidFill>
              </a:rPr>
              <a:t>06</a:t>
            </a:r>
          </a:p>
        </p:txBody>
      </p:sp>
    </p:spTree>
    <p:extLst>
      <p:ext uri="{BB962C8B-B14F-4D97-AF65-F5344CB8AC3E}">
        <p14:creationId xmlns:p14="http://schemas.microsoft.com/office/powerpoint/2010/main" val="707526045"/>
      </p:ext>
    </p:extLst>
  </p:cSld>
</p:sld>
</file>

<file path=ppt/slides/slide7.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66254D-BA81-43B0-A173-40DA05518F60}"/>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06</a:t>
            </a:r>
          </a:p>
        </p:txBody>
      </p:sp>
      <p:sp>
        <p:nvSpPr>
          <p:cNvPr id="2" name="">
            <a:extLst xmlns:a="http://schemas.openxmlformats.org/drawingml/2006/main">
              <a:ext uri="{FF2B5EF4-FFF2-40B4-BE49-F238E27FC236}">
                <a16:creationId xmlns:a16="http://schemas.microsoft.com/office/drawing/2014/main" id="{AEECD96B-D96E-4E52-9E61-B75EEDC2F693}"/>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152015"/>
                </a:solidFill>
              </a:defRPr>
            </a:pPr>
            <a:r>
              <a:rPr sz="975" b="1">
                <a:solidFill>
                  <a:srgbClr val="152015"/>
                </a:solidFill>
              </a:rPr>
              <a:t>WHAT THE ALPHA PROVES</a:t>
            </a:r>
          </a:p>
        </p:txBody>
      </p:sp>
      <p:sp>
        <p:nvSpPr>
          <p:cNvPr id="3" name="">
            <a:extLst xmlns:a="http://schemas.openxmlformats.org/drawingml/2006/main">
              <a:ext uri="{FF2B5EF4-FFF2-40B4-BE49-F238E27FC236}">
                <a16:creationId xmlns:a16="http://schemas.microsoft.com/office/drawing/2014/main" id="{C57488F2-36F9-43D6-8D83-5FFAFE4AD0B5}"/>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C84C1-6575-4D95-AE41-C4CA0B56BC8E}"/>
              </a:ext>
            </a:extLst>
          </p:cNvPr>
          <p:cNvSpPr>
            <a:spLocks xmlns:a="http://schemas.openxmlformats.org/drawingml/2006/main" noGrp="1"/>
          </p:cNvSpPr>
          <p:nvPr/>
        </p:nvSpPr>
        <p:spPr>
          <a:xfrm xmlns:a="http://schemas.openxmlformats.org/drawingml/2006/main">
            <a:off x="685800" y="11239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152015"/>
                </a:solidFill>
              </a:defRPr>
            </a:pPr>
            <a:r>
              <a:rPr sz="3375" b="1">
                <a:solidFill>
                  <a:srgbClr val="152015"/>
                </a:solidFill>
              </a:rPr>
              <a:t>Evidence is useful only when</a:t>
            </a:r>
          </a:p>
          <a:p xmlns:a="http://schemas.openxmlformats.org/drawingml/2006/main">
            <a:pPr algn="l">
              <a:defRPr sz="3375" b="1">
                <a:solidFill>
                  <a:srgbClr val="152015"/>
                </a:solidFill>
              </a:defRPr>
            </a:pPr>
            <a:r>
              <a:rPr sz="3375" b="1">
                <a:solidFill>
                  <a:srgbClr val="152015"/>
                </a:solidFill>
              </a:rPr>
              <a:t>its limits are visible.</a:t>
            </a:r>
          </a:p>
        </p:txBody>
      </p:sp>
      <p:sp>
        <p:nvSpPr>
          <p:cNvPr id="5" name="">
            <a:extLst xmlns:a="http://schemas.openxmlformats.org/drawingml/2006/main">
              <a:ext uri="{FF2B5EF4-FFF2-40B4-BE49-F238E27FC236}">
                <a16:creationId xmlns:a16="http://schemas.microsoft.com/office/drawing/2014/main" id="{A37D05A4-2AE9-437B-BE13-A2E570B8CF4F}"/>
              </a:ext>
            </a:extLst>
          </p:cNvPr>
          <p:cNvSpPr>
            <a:spLocks xmlns:a="http://schemas.openxmlformats.org/drawingml/2006/main" noGrp="1"/>
          </p:cNvSpPr>
          <p:nvPr/>
        </p:nvSpPr>
        <p:spPr>
          <a:xfrm xmlns:a="http://schemas.openxmlformats.org/drawingml/2006/main">
            <a:off x="685800"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8F7BFF"/>
                </a:solidFill>
              </a:defRPr>
            </a:pPr>
            <a:r>
              <a:rPr sz="4050" b="1">
                <a:solidFill>
                  <a:srgbClr val="8F7BFF"/>
                </a:solidFill>
              </a:rPr>
              <a:t>11</a:t>
            </a:r>
          </a:p>
        </p:txBody>
      </p:sp>
      <p:sp>
        <p:nvSpPr>
          <p:cNvPr id="6" name="">
            <a:extLst xmlns:a="http://schemas.openxmlformats.org/drawingml/2006/main">
              <a:ext uri="{FF2B5EF4-FFF2-40B4-BE49-F238E27FC236}">
                <a16:creationId xmlns:a16="http://schemas.microsoft.com/office/drawing/2014/main" id="{541005F1-2A85-41B5-B1DB-D4897D093507}"/>
              </a:ext>
            </a:extLst>
          </p:cNvPr>
          <p:cNvSpPr>
            <a:spLocks xmlns:a="http://schemas.openxmlformats.org/drawingml/2006/main" noGrp="1"/>
          </p:cNvSpPr>
          <p:nvPr/>
        </p:nvSpPr>
        <p:spPr>
          <a:xfrm xmlns:a="http://schemas.openxmlformats.org/drawingml/2006/main">
            <a:off x="1752600"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52015"/>
                </a:solidFill>
              </a:defRPr>
            </a:pPr>
            <a:r>
              <a:rPr sz="1050" b="1">
                <a:solidFill>
                  <a:srgbClr val="152015"/>
                </a:solidFill>
              </a:rPr>
              <a:t>AUTOMATED CHECKS</a:t>
            </a:r>
          </a:p>
        </p:txBody>
      </p:sp>
      <p:sp>
        <p:nvSpPr>
          <p:cNvPr id="7" name="">
            <a:extLst xmlns:a="http://schemas.openxmlformats.org/drawingml/2006/main">
              <a:ext uri="{FF2B5EF4-FFF2-40B4-BE49-F238E27FC236}">
                <a16:creationId xmlns:a16="http://schemas.microsoft.com/office/drawing/2014/main" id="{704709D0-AC65-4AC9-A873-77C670025FD0}"/>
              </a:ext>
            </a:extLst>
          </p:cNvPr>
          <p:cNvSpPr>
            <a:spLocks xmlns:a="http://schemas.openxmlformats.org/drawingml/2006/main" noGrp="1"/>
          </p:cNvSpPr>
          <p:nvPr/>
        </p:nvSpPr>
        <p:spPr>
          <a:xfrm xmlns:a="http://schemas.openxmlformats.org/drawingml/2006/main">
            <a:off x="1752600"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687068"/>
                </a:solidFill>
              </a:defRPr>
            </a:pPr>
            <a:r>
              <a:rPr sz="1275" b="0">
                <a:solidFill>
                  <a:srgbClr val="687068"/>
                </a:solidFill>
              </a:rPr>
              <a:t>Determinism, boundaries, freshness, and fail-closed cases</a:t>
            </a:r>
          </a:p>
        </p:txBody>
      </p:sp>
      <p:sp>
        <p:nvSpPr>
          <p:cNvPr id="8" name="">
            <a:extLst xmlns:a="http://schemas.openxmlformats.org/drawingml/2006/main">
              <a:ext uri="{FF2B5EF4-FFF2-40B4-BE49-F238E27FC236}">
                <a16:creationId xmlns:a16="http://schemas.microsoft.com/office/drawing/2014/main" id="{AEDDD9DA-9707-4C80-8E98-231B17BA952E}"/>
              </a:ext>
            </a:extLst>
          </p:cNvPr>
          <p:cNvSpPr>
            <a:spLocks xmlns:a="http://schemas.openxmlformats.org/drawingml/2006/main" noGrp="1"/>
          </p:cNvSpPr>
          <p:nvPr/>
        </p:nvSpPr>
        <p:spPr>
          <a:xfrm xmlns:a="http://schemas.openxmlformats.org/drawingml/2006/main">
            <a:off x="6086475"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FF8159"/>
                </a:solidFill>
              </a:defRPr>
            </a:pPr>
            <a:r>
              <a:rPr sz="4050" b="1">
                <a:solidFill>
                  <a:srgbClr val="FF8159"/>
                </a:solidFill>
              </a:rPr>
              <a:t>0</a:t>
            </a:r>
          </a:p>
        </p:txBody>
      </p:sp>
      <p:sp>
        <p:nvSpPr>
          <p:cNvPr id="9" name="">
            <a:extLst xmlns:a="http://schemas.openxmlformats.org/drawingml/2006/main">
              <a:ext uri="{FF2B5EF4-FFF2-40B4-BE49-F238E27FC236}">
                <a16:creationId xmlns:a16="http://schemas.microsoft.com/office/drawing/2014/main" id="{3432D8BD-2E4D-405F-AEA0-57D9526EA7EB}"/>
              </a:ext>
            </a:extLst>
          </p:cNvPr>
          <p:cNvSpPr>
            <a:spLocks xmlns:a="http://schemas.openxmlformats.org/drawingml/2006/main" noGrp="1"/>
          </p:cNvSpPr>
          <p:nvPr/>
        </p:nvSpPr>
        <p:spPr>
          <a:xfrm xmlns:a="http://schemas.openxmlformats.org/drawingml/2006/main">
            <a:off x="7153275"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52015"/>
                </a:solidFill>
              </a:defRPr>
            </a:pPr>
            <a:r>
              <a:rPr sz="1050" b="1">
                <a:solidFill>
                  <a:srgbClr val="152015"/>
                </a:solidFill>
              </a:rPr>
              <a:t>GENERATIVE DECISION CALLS</a:t>
            </a:r>
          </a:p>
        </p:txBody>
      </p:sp>
      <p:sp>
        <p:nvSpPr>
          <p:cNvPr id="10" name="">
            <a:extLst xmlns:a="http://schemas.openxmlformats.org/drawingml/2006/main">
              <a:ext uri="{FF2B5EF4-FFF2-40B4-BE49-F238E27FC236}">
                <a16:creationId xmlns:a16="http://schemas.microsoft.com/office/drawing/2014/main" id="{F80BDF72-33AC-4F2C-8ABD-0AD1027648BB}"/>
              </a:ext>
            </a:extLst>
          </p:cNvPr>
          <p:cNvSpPr>
            <a:spLocks xmlns:a="http://schemas.openxmlformats.org/drawingml/2006/main" noGrp="1"/>
          </p:cNvSpPr>
          <p:nvPr/>
        </p:nvSpPr>
        <p:spPr>
          <a:xfrm xmlns:a="http://schemas.openxmlformats.org/drawingml/2006/main">
            <a:off x="7153275"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687068"/>
                </a:solidFill>
              </a:defRPr>
            </a:pPr>
            <a:r>
              <a:rPr sz="1275" b="0">
                <a:solidFill>
                  <a:srgbClr val="687068"/>
                </a:solidFill>
              </a:rPr>
              <a:t>No LLM can change math, status, or approval</a:t>
            </a:r>
          </a:p>
        </p:txBody>
      </p:sp>
      <p:sp>
        <p:nvSpPr>
          <p:cNvPr id="11" name="">
            <a:extLst xmlns:a="http://schemas.openxmlformats.org/drawingml/2006/main">
              <a:ext uri="{FF2B5EF4-FFF2-40B4-BE49-F238E27FC236}">
                <a16:creationId xmlns:a16="http://schemas.microsoft.com/office/drawing/2014/main" id="{FBB67E60-06E8-48C1-AB4C-7A273AC4402B}"/>
              </a:ext>
            </a:extLst>
          </p:cNvPr>
          <p:cNvSpPr>
            <a:spLocks xmlns:a="http://schemas.openxmlformats.org/drawingml/2006/main" noGrp="1"/>
          </p:cNvSpPr>
          <p:nvPr/>
        </p:nvSpPr>
        <p:spPr>
          <a:xfrm xmlns:a="http://schemas.openxmlformats.org/drawingml/2006/main">
            <a:off x="685800"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152015"/>
                </a:solidFill>
              </a:defRPr>
            </a:pPr>
            <a:r>
              <a:rPr sz="4050" b="1">
                <a:solidFill>
                  <a:srgbClr val="152015"/>
                </a:solidFill>
              </a:rPr>
              <a:t>3</a:t>
            </a:r>
          </a:p>
        </p:txBody>
      </p:sp>
      <p:sp>
        <p:nvSpPr>
          <p:cNvPr id="12" name="">
            <a:extLst xmlns:a="http://schemas.openxmlformats.org/drawingml/2006/main">
              <a:ext uri="{FF2B5EF4-FFF2-40B4-BE49-F238E27FC236}">
                <a16:creationId xmlns:a16="http://schemas.microsoft.com/office/drawing/2014/main" id="{DFFB32FB-2ABE-4779-9A9A-5C789595A4DD}"/>
              </a:ext>
            </a:extLst>
          </p:cNvPr>
          <p:cNvSpPr>
            <a:spLocks xmlns:a="http://schemas.openxmlformats.org/drawingml/2006/main" noGrp="1"/>
          </p:cNvSpPr>
          <p:nvPr/>
        </p:nvSpPr>
        <p:spPr>
          <a:xfrm xmlns:a="http://schemas.openxmlformats.org/drawingml/2006/main">
            <a:off x="1752600"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52015"/>
                </a:solidFill>
              </a:defRPr>
            </a:pPr>
            <a:r>
              <a:rPr sz="1050" b="1">
                <a:solidFill>
                  <a:srgbClr val="152015"/>
                </a:solidFill>
              </a:rPr>
              <a:t>PROVIDERS COST-VISIBLE</a:t>
            </a:r>
          </a:p>
        </p:txBody>
      </p:sp>
      <p:sp>
        <p:nvSpPr>
          <p:cNvPr id="13" name="">
            <a:extLst xmlns:a="http://schemas.openxmlformats.org/drawingml/2006/main">
              <a:ext uri="{FF2B5EF4-FFF2-40B4-BE49-F238E27FC236}">
                <a16:creationId xmlns:a16="http://schemas.microsoft.com/office/drawing/2014/main" id="{58916FFD-6C42-4314-90C7-F754CD6D0710}"/>
              </a:ext>
            </a:extLst>
          </p:cNvPr>
          <p:cNvSpPr>
            <a:spLocks xmlns:a="http://schemas.openxmlformats.org/drawingml/2006/main" noGrp="1"/>
          </p:cNvSpPr>
          <p:nvPr/>
        </p:nvSpPr>
        <p:spPr>
          <a:xfrm xmlns:a="http://schemas.openxmlformats.org/drawingml/2006/main">
            <a:off x="1752600"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687068"/>
                </a:solidFill>
              </a:defRPr>
            </a:pPr>
            <a:r>
              <a:rPr sz="1275" b="0">
                <a:solidFill>
                  <a:srgbClr val="687068"/>
                </a:solidFill>
              </a:rPr>
              <a:t>OpenAI, Google, and Anthropic in one catalog</a:t>
            </a:r>
          </a:p>
        </p:txBody>
      </p:sp>
      <p:sp>
        <p:nvSpPr>
          <p:cNvPr id="14" name="">
            <a:extLst xmlns:a="http://schemas.openxmlformats.org/drawingml/2006/main">
              <a:ext uri="{FF2B5EF4-FFF2-40B4-BE49-F238E27FC236}">
                <a16:creationId xmlns:a16="http://schemas.microsoft.com/office/drawing/2014/main" id="{2720B1BC-BCB3-4D64-A7E8-190BF4DA1090}"/>
              </a:ext>
            </a:extLst>
          </p:cNvPr>
          <p:cNvSpPr>
            <a:spLocks xmlns:a="http://schemas.openxmlformats.org/drawingml/2006/main" noGrp="1"/>
          </p:cNvSpPr>
          <p:nvPr/>
        </p:nvSpPr>
        <p:spPr>
          <a:xfrm xmlns:a="http://schemas.openxmlformats.org/drawingml/2006/main">
            <a:off x="6086475"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8F7BFF"/>
                </a:solidFill>
              </a:defRPr>
            </a:pPr>
            <a:r>
              <a:rPr sz="4050" b="1">
                <a:solidFill>
                  <a:srgbClr val="8F7BFF"/>
                </a:solidFill>
              </a:rPr>
              <a:t>1</a:t>
            </a:r>
          </a:p>
        </p:txBody>
      </p:sp>
      <p:sp>
        <p:nvSpPr>
          <p:cNvPr id="15" name="">
            <a:extLst xmlns:a="http://schemas.openxmlformats.org/drawingml/2006/main">
              <a:ext uri="{FF2B5EF4-FFF2-40B4-BE49-F238E27FC236}">
                <a16:creationId xmlns:a16="http://schemas.microsoft.com/office/drawing/2014/main" id="{2FCF9303-BF80-4128-94CD-FCEE46D9A9CE}"/>
              </a:ext>
            </a:extLst>
          </p:cNvPr>
          <p:cNvSpPr>
            <a:spLocks xmlns:a="http://schemas.openxmlformats.org/drawingml/2006/main" noGrp="1"/>
          </p:cNvSpPr>
          <p:nvPr/>
        </p:nvSpPr>
        <p:spPr>
          <a:xfrm xmlns:a="http://schemas.openxmlformats.org/drawingml/2006/main">
            <a:off x="7153275"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52015"/>
                </a:solidFill>
              </a:defRPr>
            </a:pPr>
            <a:r>
              <a:rPr sz="1050" b="1">
                <a:solidFill>
                  <a:srgbClr val="152015"/>
                </a:solidFill>
              </a:rPr>
              <a:t>EVALUATED BASELINE</a:t>
            </a:r>
          </a:p>
        </p:txBody>
      </p:sp>
      <p:sp>
        <p:nvSpPr>
          <p:cNvPr id="16" name="">
            <a:extLst xmlns:a="http://schemas.openxmlformats.org/drawingml/2006/main">
              <a:ext uri="{FF2B5EF4-FFF2-40B4-BE49-F238E27FC236}">
                <a16:creationId xmlns:a16="http://schemas.microsoft.com/office/drawing/2014/main" id="{91B8503A-AE8F-449B-8BE5-A654E5FC24D5}"/>
              </a:ext>
            </a:extLst>
          </p:cNvPr>
          <p:cNvSpPr>
            <a:spLocks xmlns:a="http://schemas.openxmlformats.org/drawingml/2006/main" noGrp="1"/>
          </p:cNvSpPr>
          <p:nvPr/>
        </p:nvSpPr>
        <p:spPr>
          <a:xfrm xmlns:a="http://schemas.openxmlformats.org/drawingml/2006/main">
            <a:off x="7153275"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687068"/>
                </a:solidFill>
              </a:defRPr>
            </a:pPr>
            <a:r>
              <a:rPr sz="1275" b="0">
                <a:solidFill>
                  <a:srgbClr val="687068"/>
                </a:solidFill>
              </a:rPr>
              <a:t>Cross-provider ranking waits for shared evidence</a:t>
            </a:r>
          </a:p>
        </p:txBody>
      </p:sp>
      <p:sp>
        <p:nvSpPr>
          <p:cNvPr id="17" name="">
            <a:extLst xmlns:a="http://schemas.openxmlformats.org/drawingml/2006/main">
              <a:ext uri="{FF2B5EF4-FFF2-40B4-BE49-F238E27FC236}">
                <a16:creationId xmlns:a16="http://schemas.microsoft.com/office/drawing/2014/main" id="{138D78AB-16CC-4403-B9F2-A992A34228A2}"/>
              </a:ext>
            </a:extLst>
          </p:cNvPr>
          <p:cNvSpPr>
            <a:spLocks xmlns:a="http://schemas.openxmlformats.org/drawingml/2006/main" noGrp="1"/>
          </p:cNvSpPr>
          <p:nvPr/>
        </p:nvSpPr>
        <p:spPr>
          <a:xfrm xmlns:a="http://schemas.openxmlformats.org/drawingml/2006/main">
            <a:off x="685800" y="56578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D073E4-4E78-4C57-964D-07C5F68E62E3}"/>
              </a:ext>
            </a:extLst>
          </p:cNvPr>
          <p:cNvSpPr>
            <a:spLocks xmlns:a="http://schemas.openxmlformats.org/drawingml/2006/main" noGrp="1"/>
          </p:cNvSpPr>
          <p:nvPr/>
        </p:nvSpPr>
        <p:spPr>
          <a:xfrm xmlns:a="http://schemas.openxmlformats.org/drawingml/2006/main">
            <a:off x="685800" y="58674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FF8159"/>
                </a:solidFill>
              </a:defRPr>
            </a:pPr>
            <a:r>
              <a:rPr sz="1200" b="1">
                <a:solidFill>
                  <a:srgbClr val="FF8159"/>
                </a:solidFill>
              </a:rPr>
              <a:t>Not yet proved: novice usability, live catalog refresh, saved history, actual-cost reconciliation, or shared provider quality.</a:t>
            </a:r>
          </a:p>
        </p:txBody>
      </p:sp>
      <p:sp>
        <p:nvSpPr>
          <p:cNvPr id="19" name="">
            <a:extLst xmlns:a="http://schemas.openxmlformats.org/drawingml/2006/main">
              <a:ext uri="{FF2B5EF4-FFF2-40B4-BE49-F238E27FC236}">
                <a16:creationId xmlns:a16="http://schemas.microsoft.com/office/drawing/2014/main" id="{6BEB2435-DD99-4D36-A74C-7BA05B65E0EE}"/>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a:solidFill>
                  <a:srgbClr val="687068"/>
                </a:solidFill>
              </a:defRPr>
            </a:pPr>
            <a:r>
              <a:rPr sz="825" b="1">
                <a:solidFill>
                  <a:srgbClr val="687068"/>
                </a:solidFill>
              </a:rPr>
              <a:t>AI BUILD CREW · BADLABZ.COM</a:t>
            </a:r>
          </a:p>
        </p:txBody>
      </p:sp>
      <p:sp>
        <p:nvSpPr>
          <p:cNvPr id="20" name="">
            <a:extLst xmlns:a="http://schemas.openxmlformats.org/drawingml/2006/main">
              <a:ext uri="{FF2B5EF4-FFF2-40B4-BE49-F238E27FC236}">
                <a16:creationId xmlns:a16="http://schemas.microsoft.com/office/drawing/2014/main" id="{779176EB-F656-4A73-A2D1-14A8AE4A3DC7}"/>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8F7BFF"/>
                </a:solidFill>
              </a:defRPr>
            </a:pPr>
            <a:r>
              <a:rPr sz="825" b="1">
                <a:solidFill>
                  <a:srgbClr val="8F7BFF"/>
                </a:solidFill>
              </a:rPr>
              <a:t>07</a:t>
            </a:r>
          </a:p>
        </p:txBody>
      </p:sp>
    </p:spTree>
    <p:extLst>
      <p:ext uri="{BB962C8B-B14F-4D97-AF65-F5344CB8AC3E}">
        <p14:creationId xmlns:p14="http://schemas.microsoft.com/office/powerpoint/2010/main" val="4429739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669e7eca6c04fd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NEXT RELEASE</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FFFFF"/>
                </a:solidFill>
              </a:defRPr>
            </a:pPr>
            <a:r>
              <a:rPr sz="3600" b="1">
                <a:solidFill>
                  <a:srgbClr val="FFFFFF"/>
                </a:solidFill>
              </a:rPr>
              <a:t>Turn the estimator</a:t>
            </a:r>
          </a:p>
          <a:p xmlns:a="http://schemas.openxmlformats.org/drawingml/2006/main">
            <a:pPr algn="l">
              <a:defRPr sz="3600" b="1">
                <a:solidFill>
                  <a:srgbClr val="FFFFFF"/>
                </a:solidFill>
              </a:defRPr>
            </a:pPr>
            <a:r>
              <a:rPr sz="3600" b="1">
                <a:solidFill>
                  <a:srgbClr val="FFFFFF"/>
                </a:solidFill>
              </a:rPr>
              <a:t>into a decision platform.</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NOW</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Beginner-first intake + person-neutral governance</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F7BFF"/>
                </a:solidFill>
              </a:defRPr>
            </a:pPr>
            <a:r>
              <a:rPr sz="975" b="1">
                <a:solidFill>
                  <a:srgbClr val="8F7BFF"/>
                </a:solidFill>
              </a:rPr>
              <a:t>NEXT</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Governed live catalog + reviewed price changes</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8159"/>
                </a:solidFill>
              </a:defRPr>
            </a:pPr>
            <a:r>
              <a:rPr sz="975" b="1">
                <a:solidFill>
                  <a:srgbClr val="FF8159"/>
                </a:solidFill>
              </a:rPr>
              <a:t>THEN</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Saved forecasts, price history, and cost tracking</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8FF55"/>
                </a:solidFill>
              </a:defRPr>
            </a:pPr>
            <a:r>
              <a:rPr sz="975" b="1">
                <a:solidFill>
                  <a:srgbClr val="D8FF55"/>
                </a:solidFill>
              </a:rPr>
              <a:t>PROVE</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Budget-capped Google + Anthropic shared evaluations</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2026-08-08T20:53:05.0390000Z</dcterms:created>
  <dcterms:modified xsi:type="dcterms:W3CDTF">2026-08-08T20:53:05.0390000Z</dcterms:modified>
</coreProperties>
</file>