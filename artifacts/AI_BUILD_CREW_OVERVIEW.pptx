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fa1f885272463c" /><Relationship Type="http://schemas.openxmlformats.org/officeDocument/2006/relationships/extended-properties" Target="/docProps/app.xml" Id="Rfbe81005dcf94bb9" /><Relationship Type="http://schemas.openxmlformats.org/officeDocument/2006/relationships/officeDocument" Target="/ppt/presentation.xml" Id="R5ade3500540b49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3d310616c243d1"/>
  </p:sldMasterIdLst>
  <p:notesMasterIdLst>
    <p:notesMasterId xmlns:r="http://schemas.openxmlformats.org/officeDocument/2006/relationships" r:id="Rb0256a4e684f486d"/>
  </p:notesMasterIdLst>
  <p:sldIdLst>
    <p:sldId xmlns:r="http://schemas.openxmlformats.org/officeDocument/2006/relationships" id="256" r:id="Rc6b5dbce9c80448d"/>
    <p:sldId xmlns:r="http://schemas.openxmlformats.org/officeDocument/2006/relationships" id="257" r:id="Red550c49abe34818"/>
    <p:sldId xmlns:r="http://schemas.openxmlformats.org/officeDocument/2006/relationships" id="258" r:id="R042e8a60040c40f7"/>
    <p:sldId xmlns:r="http://schemas.openxmlformats.org/officeDocument/2006/relationships" id="259" r:id="Rc414d665018641d3"/>
    <p:sldId xmlns:r="http://schemas.openxmlformats.org/officeDocument/2006/relationships" id="260" r:id="R9c3d7e5ef3e84c4b"/>
    <p:sldId xmlns:r="http://schemas.openxmlformats.org/officeDocument/2006/relationships" id="261" r:id="Rcad20eef428f4c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c96d4d05d4ff9" /><Relationship Type="http://schemas.openxmlformats.org/officeDocument/2006/relationships/slideMaster" Target="/ppt/slideMasters/slideMaster1.xml" Id="R153d310616c243d1" /><Relationship Type="http://schemas.openxmlformats.org/officeDocument/2006/relationships/notesMaster" Target="/ppt/notesMasters/notesMaster1.xml" Id="Rb0256a4e684f486d" /><Relationship Type="http://schemas.openxmlformats.org/officeDocument/2006/relationships/presProps" Target="/ppt/presProps.xml" Id="R4eac1306be954053" /><Relationship Type="http://schemas.openxmlformats.org/officeDocument/2006/relationships/tableStyles" Target="/ppt/tableStyles.xml" Id="Rd7f20f3398754728" /><Relationship Type="http://schemas.openxmlformats.org/officeDocument/2006/relationships/slide" Target="/ppt/slides/slide1.xml" Id="Rc6b5dbce9c80448d" /><Relationship Type="http://schemas.openxmlformats.org/officeDocument/2006/relationships/slide" Target="/ppt/slides/slide2.xml" Id="Red550c49abe34818" /><Relationship Type="http://schemas.openxmlformats.org/officeDocument/2006/relationships/slide" Target="/ppt/slides/slide3.xml" Id="R042e8a60040c40f7" /><Relationship Type="http://schemas.openxmlformats.org/officeDocument/2006/relationships/slide" Target="/ppt/slides/slide4.xml" Id="Rc414d665018641d3" /><Relationship Type="http://schemas.openxmlformats.org/officeDocument/2006/relationships/slide" Target="/ppt/slides/slide5.xml" Id="R9c3d7e5ef3e84c4b" /><Relationship Type="http://schemas.openxmlformats.org/officeDocument/2006/relationships/slide" Target="/ppt/slides/slide6.xml" Id="Rcad20eef428f4c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d0ebbf7acd48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168efc7b4d4063" /><Relationship Type="http://schemas.openxmlformats.org/officeDocument/2006/relationships/notesMaster" Target="/ppt/notesMasters/notesMaster1.xml" Id="R7a15e8ad43d042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efb85a0d44ca3" /><Relationship Type="http://schemas.openxmlformats.org/officeDocument/2006/relationships/notesMaster" Target="/ppt/notesMasters/notesMaster1.xml" Id="Re45d1a82d0b945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5c0dd7a3944fee" /><Relationship Type="http://schemas.openxmlformats.org/officeDocument/2006/relationships/notesMaster" Target="/ppt/notesMasters/notesMaster1.xml" Id="R623e79ee41cf4b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c29e15c16a4eb0" /><Relationship Type="http://schemas.openxmlformats.org/officeDocument/2006/relationships/notesMaster" Target="/ppt/notesMasters/notesMaster1.xml" Id="Rbdf0c6b0e2134b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dc9ad3ace54e12" /><Relationship Type="http://schemas.openxmlformats.org/officeDocument/2006/relationships/notesMaster" Target="/ppt/notesMasters/notesMaster1.xml" Id="R5cf91a73073044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e46de927dd443f" /><Relationship Type="http://schemas.openxmlformats.org/officeDocument/2006/relationships/notesMaster" Target="/ppt/notesMasters/notesMaster1.xml" Id="Rc1e77ea5657645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tension: model choice looks simple until a builder must defend quality, risk, and operating cost. Introduce CT as first user and final decision owner.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Build Crew Original PRD, version 1.0, August 8, 2026</a:t>
            </a:r>
          </a:p>
          <a:p xmlns:a="http://schemas.openxmlformats.org/drawingml/2006/main">
            <a:r>
              <a:t>- AI Build Crew Evaluation, August 8, 2026</a:t>
            </a:r>
          </a:p>
          <a:p xmlns:a="http://schemas.openxmlformats.org/drawingml/2006/main">
            <a:r>
              <a:t>- AI Build Crew Governance and Evaluation Specification, version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 bad defaults: choose the strongest model and overspend, or choose the cheapest model and accept unmeasured risk. The product must help users who do not yet know enough.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Build Crew Original PRD, version 1.0, August 8, 2026</a:t>
            </a:r>
          </a:p>
          <a:p xmlns:a="http://schemas.openxmlformats.org/drawingml/2006/main">
            <a:r>
              <a:t>- AI Build Crew Evaluation, August 8, 2026</a:t>
            </a:r>
          </a:p>
          <a:p xmlns:a="http://schemas.openxmlformats.org/drawingml/2006/main">
            <a:r>
              <a:t>- AI Build Crew Governance and Evaluation Specification, version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prompt-first experience. Emphasize the completeness check after every answer and the always-available Estimate now escape hatch. The provenance ledger makes uncertainty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Build Crew Original PRD, version 1.0, August 8, 2026</a:t>
            </a:r>
          </a:p>
          <a:p xmlns:a="http://schemas.openxmlformats.org/drawingml/2006/main">
            <a:r>
              <a:t>- AI Build Crew Evaluation, August 8, 2026</a:t>
            </a:r>
          </a:p>
          <a:p xmlns:a="http://schemas.openxmlformats.org/drawingml/2006/main">
            <a:r>
              <a:t>- AI Build Crew Governance and Evaluation Specification, version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hard borders. Intake cannot recommend. Estimation cannot approve. Evaluation cannot edit. Audit cannot waive. Governance cannot choose. High-risk, regulated, sensitive, or unknown-data cases require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Build Crew Original PRD, version 1.0, August 8, 2026</a:t>
            </a:r>
          </a:p>
          <a:p xmlns:a="http://schemas.openxmlformats.org/drawingml/2006/main">
            <a:r>
              <a:t>- AI Build Crew Evaluation, August 8, 2026</a:t>
            </a:r>
          </a:p>
          <a:p xmlns:a="http://schemas.openxmlformats.org/drawingml/2006/main">
            <a:r>
              <a:t>- AI Build Crew Governance and Evaluation Specification, version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representative cases: deterministic replay, scenario ordering, high-risk review, unknown-data fail closed, unsupported modality, stale pricing, assumptions, unsafe loops, candidate ordering, and render smoke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Build Crew Original PRD, version 1.0, August 8, 2026</a:t>
            </a:r>
          </a:p>
          <a:p xmlns:a="http://schemas.openxmlformats.org/drawingml/2006/main">
            <a:r>
              <a:t>- AI Build Crew Evaluation, August 8, 2026</a:t>
            </a:r>
          </a:p>
          <a:p xmlns:a="http://schemas.openxmlformats.org/drawingml/2006/main">
            <a:r>
              <a:t>- AI Build Crew Governance and Evaluation Specification, version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value: a decision a builder can explain, reproduce, and govern. The next move is CT-first learning, then provider-neutral comparison using measured task evidence—not another set of vendor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Build Crew Original PRD, version 1.0, August 8, 2026</a:t>
            </a:r>
          </a:p>
          <a:p xmlns:a="http://schemas.openxmlformats.org/drawingml/2006/main">
            <a:r>
              <a:t>- AI Build Crew Evaluation, August 8, 2026</a:t>
            </a:r>
          </a:p>
          <a:p xmlns:a="http://schemas.openxmlformats.org/drawingml/2006/main">
            <a:r>
              <a:t>- AI Build Crew Governance and Evaluation Specification, version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c9a3c16a646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164437ecad462e" /><Relationship Type="http://schemas.openxmlformats.org/officeDocument/2006/relationships/slideLayout" Target="/ppt/slideLayouts/slideLayout1.xml" Id="R186d168bdab74e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6d168bdab74e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f5121e4f44f6f" /><Relationship Type="http://schemas.openxmlformats.org/officeDocument/2006/relationships/notesSlide" Target="/ppt/notesSlides/notesSlide1.xml" Id="R979d1e0e6b1a4d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08459855545d9" /><Relationship Type="http://schemas.openxmlformats.org/officeDocument/2006/relationships/notesSlide" Target="/ppt/notesSlides/notesSlide2.xml" Id="Red36196d9d15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4dfd18dca4b2a" /><Relationship Type="http://schemas.openxmlformats.org/officeDocument/2006/relationships/notesSlide" Target="/ppt/notesSlides/notesSlide3.xml" Id="R863121252b3e49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3b38a9a354e74" /><Relationship Type="http://schemas.openxmlformats.org/officeDocument/2006/relationships/notesSlide" Target="/ppt/notesSlides/notesSlide4.xml" Id="R71a766c3ae9f4d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07d51ca514155" /><Relationship Type="http://schemas.openxmlformats.org/officeDocument/2006/relationships/notesSlide" Target="/ppt/notesSlides/notesSlide5.xml" Id="R69c06f7fc1de48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07b97b88c4cea" /><Relationship Type="http://schemas.openxmlformats.org/officeDocument/2006/relationships/notesSlide" Target="/ppt/notesSlides/notesSlide6.xml" Id="Racefc4b1afa445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74B12FD-64AA-47BD-8725-BC86901F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Build Crew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E14E30B-4EAD-472F-9A94-D15F6DF0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Pick the right model. Know the cost. Keep the decision human.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0B5305F-49C1-4983-92BD-979777C4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FACULTY · GOVERNED ALPHA</a:t>
            </a:r>
          </a:p>
        </p:txBody>
      </p:sp>
    </p:spTree>
    <p:extLst>
      <p:ext uri="{BB962C8B-B14F-4D97-AF65-F5344CB8AC3E}">
        <p14:creationId xmlns:p14="http://schemas.microsoft.com/office/powerpoint/2010/main" val="21272588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34E291F-2704-41F3-A557-8D5357D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2F61219-339A-4F91-A478-8F714FC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 choice breaks before the first calculation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7018B86-A222-470A-9906-5F19762F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evidence is fragmented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Prices, capabilities, quality claims, and context limits live in different places. Broad benchmarks may not match the real workload.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55150B5-FC03-4B53-ABF9-01C8DEE5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user starts with unknowns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Early builders may not know token volume, calls, data class, or consequence of error. Hidden assumptions create false precision.</a:t>
            </a:r>
          </a:p>
        </p:txBody>
      </p:sp>
    </p:spTree>
    <p:extLst>
      <p:ext uri="{BB962C8B-B14F-4D97-AF65-F5344CB8AC3E}">
        <p14:creationId xmlns:p14="http://schemas.microsoft.com/office/powerpoint/2010/main" val="176325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CCA946E-B8F4-4D69-B539-E2E5D560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2A44FD8-FD7B-4E13-9429-861D36C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workflow guides only as far as CT needs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9FDB528-C676-4AE9-BCA5-7E83B53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intent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“What are you considering building?”
Fast path · Guided path · Safe example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ABDC99A-B1AF-4217-A165-E6920152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when sufficient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Product Factory question at a time. “I don’t know” and “Estimate now” are valid.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7A11690-4B1B-43A4-8649-1895AC9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Freeze the 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Known, Assumed, and Unknown fields remain visible before any recommendation runs.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6B5BC75-746A-40F0-87D9-6638849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the decision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Low, expected, and high cost; eligible choices; exclusions; and alternative tradeoffs.</a:t>
            </a:r>
          </a:p>
        </p:txBody>
      </p:sp>
    </p:spTree>
    <p:extLst>
      <p:ext uri="{BB962C8B-B14F-4D97-AF65-F5344CB8AC3E}">
        <p14:creationId xmlns:p14="http://schemas.microsoft.com/office/powerpoint/2010/main" val="17981220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F832430-5257-458F-BB30-469710E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4F56DB2-6B74-42FB-9804-F42CC1A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model grades its own homework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5CECEB0-3322-4F64-9CB5-C1F0773A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390B0EC-C831-438B-AE5D-265AAC77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6E96CA2-E870-403F-9FA5-64C6EE53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1E72AE3-8451-468A-8FFE-A3570A7B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CALCULATE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A7AEF96-E4E7-497E-8152-86F3CC00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VERIFY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6896984-CA7E-4801-845A-65182ADA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DECIDE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3EDB53C-EDF3-4BAE-9BB9-D0026BAC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 + audit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checks test a frozen result and verify evidence without mutation.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E0008A9-8202-4C1F-9B18-55F39803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Estimate + eligibility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Pure, versioned math filters hard constraints and ranks by expected cost.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D99A0E5-CF4A-448C-BCA1-7E004A0C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Governance + 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Rules return ready, review, or blocked. CT owns the final judgment.</a:t>
            </a:r>
          </a:p>
        </p:txBody>
      </p:sp>
    </p:spTree>
    <p:extLst>
      <p:ext uri="{BB962C8B-B14F-4D97-AF65-F5344CB8AC3E}">
        <p14:creationId xmlns:p14="http://schemas.microsoft.com/office/powerpoint/2010/main" val="481304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D30A484-FB52-4DC7-BD78-01B2AE6B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EDC13DFF-6748-4958-9705-2C26A414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42553C0-4AD6-47BD-A70E-79054BB9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48DC71B-A63D-414C-93A9-F3AFB303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8913CE2-406C-42DD-AA23-BF04888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governed alpha has evidence—not just a demo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BFB07F0-AEB4-4C3A-89BD-066189E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automated tests pass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3D0BAAC-D69D-45F9-9DB4-51F0BBCF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target first estimate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0AB4135A-1202-4FF0-8A67-0C44F5AD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generative calls in the decision path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581EB2B-7BF7-4831-B70D-57769D12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 / 10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A6DC765-FB2A-4E9C-9ECB-40C5E321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C472481-BD4D-4ABF-B555-6D123C2A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min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82BF337-992C-420D-8406-033FF41D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result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normalized input and versions reproduce the same decision. Failure conditions are explicit, visible, and tested.</a:t>
            </a:r>
          </a:p>
        </p:txBody>
      </p:sp>
    </p:spTree>
    <p:extLst>
      <p:ext uri="{BB962C8B-B14F-4D97-AF65-F5344CB8AC3E}">
        <p14:creationId xmlns:p14="http://schemas.microsoft.com/office/powerpoint/2010/main" val="16396449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EEAF2B0-7386-45E9-AF68-6B538CA9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 evidence, not guesswork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B21DF72-3CEC-4B2D-90E3-0970742B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 with 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Google + Anthropic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quality, latency + full cost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D8E6EBF-62AC-463D-8F18-4EB67C32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186350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2026-08-08T12:14:06.3720000Z</dcterms:created>
  <dcterms:modified xsi:type="dcterms:W3CDTF">2026-08-08T12:14:06.3720000Z</dcterms:modified>
</coreProperties>
</file>